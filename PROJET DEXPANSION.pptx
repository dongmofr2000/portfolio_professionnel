
<file path=[Content_Types].xml><?xml version="1.0" encoding="utf-8"?>
<Types xmlns="http://schemas.openxmlformats.org/package/2006/content-types">
  <Default Extension="tmp"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63"/>
  </p:notesMasterIdLst>
  <p:sldIdLst>
    <p:sldId id="256" r:id="rId2"/>
    <p:sldId id="258" r:id="rId3"/>
    <p:sldId id="259" r:id="rId4"/>
    <p:sldId id="260" r:id="rId5"/>
    <p:sldId id="296" r:id="rId6"/>
    <p:sldId id="297" r:id="rId7"/>
    <p:sldId id="298" r:id="rId8"/>
    <p:sldId id="299" r:id="rId9"/>
    <p:sldId id="261" r:id="rId10"/>
    <p:sldId id="285" r:id="rId11"/>
    <p:sldId id="257" r:id="rId12"/>
    <p:sldId id="262" r:id="rId13"/>
    <p:sldId id="300" r:id="rId14"/>
    <p:sldId id="307" r:id="rId15"/>
    <p:sldId id="305" r:id="rId16"/>
    <p:sldId id="325" r:id="rId17"/>
    <p:sldId id="263" r:id="rId18"/>
    <p:sldId id="264" r:id="rId19"/>
    <p:sldId id="265" r:id="rId20"/>
    <p:sldId id="266" r:id="rId21"/>
    <p:sldId id="268" r:id="rId22"/>
    <p:sldId id="308" r:id="rId23"/>
    <p:sldId id="309" r:id="rId24"/>
    <p:sldId id="269" r:id="rId25"/>
    <p:sldId id="304" r:id="rId26"/>
    <p:sldId id="270" r:id="rId27"/>
    <p:sldId id="271" r:id="rId28"/>
    <p:sldId id="310" r:id="rId29"/>
    <p:sldId id="272" r:id="rId30"/>
    <p:sldId id="273" r:id="rId31"/>
    <p:sldId id="311" r:id="rId32"/>
    <p:sldId id="312" r:id="rId33"/>
    <p:sldId id="326" r:id="rId34"/>
    <p:sldId id="275" r:id="rId35"/>
    <p:sldId id="288" r:id="rId36"/>
    <p:sldId id="289" r:id="rId37"/>
    <p:sldId id="276" r:id="rId38"/>
    <p:sldId id="287" r:id="rId39"/>
    <p:sldId id="322" r:id="rId40"/>
    <p:sldId id="277" r:id="rId41"/>
    <p:sldId id="274" r:id="rId42"/>
    <p:sldId id="286" r:id="rId43"/>
    <p:sldId id="323" r:id="rId44"/>
    <p:sldId id="267" r:id="rId45"/>
    <p:sldId id="278" r:id="rId46"/>
    <p:sldId id="279" r:id="rId47"/>
    <p:sldId id="324" r:id="rId48"/>
    <p:sldId id="313" r:id="rId49"/>
    <p:sldId id="321" r:id="rId50"/>
    <p:sldId id="281" r:id="rId51"/>
    <p:sldId id="282" r:id="rId52"/>
    <p:sldId id="283" r:id="rId53"/>
    <p:sldId id="302" r:id="rId54"/>
    <p:sldId id="303" r:id="rId55"/>
    <p:sldId id="314" r:id="rId56"/>
    <p:sldId id="315" r:id="rId57"/>
    <p:sldId id="316" r:id="rId58"/>
    <p:sldId id="317" r:id="rId59"/>
    <p:sldId id="318" r:id="rId60"/>
    <p:sldId id="319" r:id="rId61"/>
    <p:sldId id="320" r:id="rId6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00" autoAdjust="0"/>
    <p:restoredTop sz="87091" autoAdjust="0"/>
  </p:normalViewPr>
  <p:slideViewPr>
    <p:cSldViewPr snapToGrid="0">
      <p:cViewPr varScale="1">
        <p:scale>
          <a:sx n="64" d="100"/>
          <a:sy n="64" d="100"/>
        </p:scale>
        <p:origin x="978" y="6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theme" Target="theme/theme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E69C902-C5AA-4D08-B952-F188947585D7}" type="datetimeFigureOut">
              <a:rPr lang="fr-FR" smtClean="0"/>
              <a:t>05/11/2025</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D52A223-DA2C-48DE-8AF9-39706528F67C}" type="slidenum">
              <a:rPr lang="fr-FR" smtClean="0"/>
              <a:t>‹N°›</a:t>
            </a:fld>
            <a:endParaRPr lang="fr-FR"/>
          </a:p>
        </p:txBody>
      </p:sp>
    </p:spTree>
    <p:extLst>
      <p:ext uri="{BB962C8B-B14F-4D97-AF65-F5344CB8AC3E}">
        <p14:creationId xmlns:p14="http://schemas.microsoft.com/office/powerpoint/2010/main" val="328165073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fld id="{ED52A223-DA2C-48DE-8AF9-39706528F67C}" type="slidenum">
              <a:rPr lang="fr-FR" smtClean="0"/>
              <a:t>18</a:t>
            </a:fld>
            <a:endParaRPr lang="fr-FR"/>
          </a:p>
        </p:txBody>
      </p:sp>
    </p:spTree>
    <p:extLst>
      <p:ext uri="{BB962C8B-B14F-4D97-AF65-F5344CB8AC3E}">
        <p14:creationId xmlns:p14="http://schemas.microsoft.com/office/powerpoint/2010/main" val="268899463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e de titr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fr-FR" smtClean="0"/>
              <a:t>Modifiez le style du titre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fr-FR" smtClean="0"/>
              <a:t>Modifier le style des sous-titres du masque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11/5/2025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‹N°›</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fr-FR" smtClean="0"/>
              <a:t>Modifiez le style du titre</a:t>
            </a:r>
            <a:endParaRPr lang="en-US" dirty="0"/>
          </a:p>
        </p:txBody>
      </p:sp>
      <p:sp>
        <p:nvSpPr>
          <p:cNvPr id="3" name="Content Placeholder 2"/>
          <p:cNvSpPr>
            <a:spLocks noGrp="1"/>
          </p:cNvSpPr>
          <p:nvPr>
            <p:ph idx="1"/>
          </p:nvPr>
        </p:nvSpPr>
        <p:spPr/>
        <p:txBody>
          <a:bodyPr/>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11/5/2025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‹N°›</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fr-FR" smtClean="0"/>
              <a:t>Modifiez le style du titre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smtClean="0"/>
              <a:t>Modifier les styles du texte du masque</a:t>
            </a:r>
          </a:p>
        </p:txBody>
      </p:sp>
      <p:sp>
        <p:nvSpPr>
          <p:cNvPr id="4" name="Date Placeholder 3"/>
          <p:cNvSpPr>
            <a:spLocks noGrp="1"/>
          </p:cNvSpPr>
          <p:nvPr>
            <p:ph type="dt" sz="half" idx="10"/>
          </p:nvPr>
        </p:nvSpPr>
        <p:spPr/>
        <p:txBody>
          <a:bodyPr/>
          <a:lstStyle/>
          <a:p>
            <a:fld id="{B61BEF0D-F0BB-DE4B-95CE-6DB70DBA9567}" type="datetimeFigureOut">
              <a:rPr lang="en-US" dirty="0"/>
              <a:pPr/>
              <a:t>11/5/2025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‹N°›</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smtClean="0"/>
              <a:t>Modifiez le style du titre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dirty="0"/>
              <a:t>11/5/2025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dirty="0"/>
              <a:t>‹N°›</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fr-FR" smtClean="0"/>
              <a:t>Modifiez le style du titre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smtClean="0"/>
              <a:t>Modifier les styles du texte du masque</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smtClean="0"/>
              <a:t>Modifier les styles du texte du masque</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dirty="0"/>
              <a:pPr/>
              <a:t>11/5/2025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‹N°›</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fr-FR" smtClean="0"/>
              <a:t>Modifiez le style du titre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dirty="0"/>
              <a:pPr/>
              <a:t>11/5/2025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‹N°›</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dirty="0"/>
              <a:pPr/>
              <a:t>11/5/2025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‹N°›</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fr-FR" smtClean="0"/>
              <a:t>Modifiez le style du titre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fr-FR" smtClean="0"/>
              <a:t>Modifier les styles du texte du masque</a:t>
            </a:r>
          </a:p>
        </p:txBody>
      </p:sp>
      <p:sp>
        <p:nvSpPr>
          <p:cNvPr id="5" name="Date Placeholder 4"/>
          <p:cNvSpPr>
            <a:spLocks noGrp="1"/>
          </p:cNvSpPr>
          <p:nvPr>
            <p:ph type="dt" sz="half" idx="10"/>
          </p:nvPr>
        </p:nvSpPr>
        <p:spPr/>
        <p:txBody>
          <a:bodyPr/>
          <a:lstStyle/>
          <a:p>
            <a:fld id="{42A54C80-263E-416B-A8E0-580EDEADCBDC}" type="datetimeFigureOut">
              <a:rPr lang="en-US" dirty="0"/>
              <a:t>11/5/2025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dirty="0"/>
              <a:t>‹N°›</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fr-FR" smtClean="0"/>
              <a:t>Modifiez le style du titre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fr-FR" smtClean="0"/>
              <a:t>Cliquez sur l'icône pour ajouter une image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smtClean="0"/>
              <a:t>Modifier les styles du texte du masque</a:t>
            </a:r>
          </a:p>
        </p:txBody>
      </p:sp>
      <p:sp>
        <p:nvSpPr>
          <p:cNvPr id="5" name="Date Placeholder 4"/>
          <p:cNvSpPr>
            <a:spLocks noGrp="1"/>
          </p:cNvSpPr>
          <p:nvPr>
            <p:ph type="dt" sz="half" idx="10"/>
          </p:nvPr>
        </p:nvSpPr>
        <p:spPr/>
        <p:txBody>
          <a:bodyPr/>
          <a:lstStyle/>
          <a:p>
            <a:fld id="{B61BEF0D-F0BB-DE4B-95CE-6DB70DBA9567}" type="datetimeFigureOut">
              <a:rPr lang="en-US" dirty="0"/>
              <a:pPr/>
              <a:t>11/5/2025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‹N°›</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re et légende">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fr-FR" smtClean="0"/>
              <a:t>Modifiez le style du titre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smtClean="0"/>
              <a:t>Modifier les styles du texte du masque</a:t>
            </a:r>
          </a:p>
        </p:txBody>
      </p:sp>
      <p:sp>
        <p:nvSpPr>
          <p:cNvPr id="4" name="Date Placeholder 3"/>
          <p:cNvSpPr>
            <a:spLocks noGrp="1"/>
          </p:cNvSpPr>
          <p:nvPr>
            <p:ph type="dt" sz="half" idx="10"/>
          </p:nvPr>
        </p:nvSpPr>
        <p:spPr/>
        <p:txBody>
          <a:bodyPr/>
          <a:lstStyle/>
          <a:p>
            <a:fld id="{B61BEF0D-F0BB-DE4B-95CE-6DB70DBA9567}" type="datetimeFigureOut">
              <a:rPr lang="en-US" dirty="0"/>
              <a:pPr/>
              <a:t>11/5/2025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‹N°›</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itation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fr-FR" smtClean="0"/>
              <a:t>Modifiez le style du titre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fr-FR" smtClean="0"/>
              <a:t>Modifier les styles du texte du masque</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smtClean="0"/>
              <a:t>Modifier les styles du texte du masque</a:t>
            </a:r>
          </a:p>
        </p:txBody>
      </p:sp>
      <p:sp>
        <p:nvSpPr>
          <p:cNvPr id="4" name="Date Placeholder 3"/>
          <p:cNvSpPr>
            <a:spLocks noGrp="1"/>
          </p:cNvSpPr>
          <p:nvPr>
            <p:ph type="dt" sz="half" idx="10"/>
          </p:nvPr>
        </p:nvSpPr>
        <p:spPr/>
        <p:txBody>
          <a:bodyPr/>
          <a:lstStyle/>
          <a:p>
            <a:fld id="{B61BEF0D-F0BB-DE4B-95CE-6DB70DBA9567}" type="datetimeFigureOut">
              <a:rPr lang="en-US" dirty="0"/>
              <a:pPr/>
              <a:t>11/5/2025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‹N°›</a:t>
            </a:fld>
            <a:endParaRPr lang="en-US" dirty="0"/>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arte nom">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fr-FR" smtClean="0"/>
              <a:t>Modifiez le style du titre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smtClean="0"/>
              <a:t>Modifier les styles du texte du masque</a:t>
            </a:r>
          </a:p>
        </p:txBody>
      </p:sp>
      <p:sp>
        <p:nvSpPr>
          <p:cNvPr id="4" name="Date Placeholder 3"/>
          <p:cNvSpPr>
            <a:spLocks noGrp="1"/>
          </p:cNvSpPr>
          <p:nvPr>
            <p:ph type="dt" sz="half" idx="10"/>
          </p:nvPr>
        </p:nvSpPr>
        <p:spPr/>
        <p:txBody>
          <a:bodyPr/>
          <a:lstStyle/>
          <a:p>
            <a:fld id="{B61BEF0D-F0BB-DE4B-95CE-6DB70DBA9567}" type="datetimeFigureOut">
              <a:rPr lang="en-US" dirty="0"/>
              <a:pPr/>
              <a:t>11/5/2025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‹N°›</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arte nom cita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fr-FR" smtClean="0"/>
              <a:t>Modifiez le style du titre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fr-FR" smtClean="0"/>
              <a:t>Modifier les styles du texte du masque</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smtClean="0"/>
              <a:t>Modifier les styles du texte du masque</a:t>
            </a:r>
          </a:p>
        </p:txBody>
      </p:sp>
      <p:sp>
        <p:nvSpPr>
          <p:cNvPr id="4" name="Date Placeholder 3"/>
          <p:cNvSpPr>
            <a:spLocks noGrp="1"/>
          </p:cNvSpPr>
          <p:nvPr>
            <p:ph type="dt" sz="half" idx="10"/>
          </p:nvPr>
        </p:nvSpPr>
        <p:spPr/>
        <p:txBody>
          <a:bodyPr/>
          <a:lstStyle/>
          <a:p>
            <a:fld id="{B61BEF0D-F0BB-DE4B-95CE-6DB70DBA9567}" type="datetimeFigureOut">
              <a:rPr lang="en-US" dirty="0"/>
              <a:pPr/>
              <a:t>11/5/2025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‹N°›</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Vrai ou faux">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fr-FR" smtClean="0"/>
              <a:t>Modifiez le style du titre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fr-FR" smtClean="0"/>
              <a:t>Modifier les styles du texte du masque</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smtClean="0"/>
              <a:t>Modifier les styles du texte du masque</a:t>
            </a:r>
          </a:p>
        </p:txBody>
      </p:sp>
      <p:sp>
        <p:nvSpPr>
          <p:cNvPr id="4" name="Date Placeholder 3"/>
          <p:cNvSpPr>
            <a:spLocks noGrp="1"/>
          </p:cNvSpPr>
          <p:nvPr>
            <p:ph type="dt" sz="half" idx="10"/>
          </p:nvPr>
        </p:nvSpPr>
        <p:spPr/>
        <p:txBody>
          <a:bodyPr/>
          <a:lstStyle/>
          <a:p>
            <a:fld id="{B61BEF0D-F0BB-DE4B-95CE-6DB70DBA9567}" type="datetimeFigureOut">
              <a:rPr lang="en-US" dirty="0"/>
              <a:pPr/>
              <a:t>11/5/2025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‹N°›</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smtClean="0"/>
              <a:t>Modifiez le style du titre</a:t>
            </a:r>
            <a:endParaRPr lang="en-US" dirty="0"/>
          </a:p>
        </p:txBody>
      </p:sp>
      <p:sp>
        <p:nvSpPr>
          <p:cNvPr id="3" name="Vertical Text Placeholder 2"/>
          <p:cNvSpPr>
            <a:spLocks noGrp="1"/>
          </p:cNvSpPr>
          <p:nvPr>
            <p:ph type="body" orient="vert" idx="1"/>
          </p:nvPr>
        </p:nvSpPr>
        <p:spPr/>
        <p:txBody>
          <a:bodyPr vert="eaVert"/>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dirty="0"/>
              <a:t>11/5/2025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dirty="0"/>
              <a:t>‹N°›</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fr-FR" smtClean="0"/>
              <a:t>Modifiez le style du titre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11/5/2025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‹N°›</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fr-FR" smtClean="0"/>
              <a:t>Modifiez le style du titre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dirty="0"/>
              <a:pPr/>
              <a:t>11/5/2025</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dirty="0"/>
              <a:pPr/>
              <a:t>‹N°›</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65" r:id="rId4"/>
    <p:sldLayoutId id="2147483653" r:id="rId5"/>
    <p:sldLayoutId id="2147483654" r:id="rId6"/>
    <p:sldLayoutId id="2147483655" r:id="rId7"/>
    <p:sldLayoutId id="2147483666" r:id="rId8"/>
    <p:sldLayoutId id="2147483657" r:id="rId9"/>
    <p:sldLayoutId id="2147483660" r:id="rId10"/>
    <p:sldLayoutId id="2147483661" r:id="rId11"/>
    <p:sldLayoutId id="2147483662" r:id="rId12"/>
    <p:sldLayoutId id="2147483663" r:id="rId13"/>
    <p:sldLayoutId id="2147483664" r:id="rId14"/>
    <p:sldLayoutId id="2147483667" r:id="rId15"/>
    <p:sldLayoutId id="2147483659"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1.tmp"/><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2.tmp"/><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3.tmp"/><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4.tmp"/><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5.tmp"/><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6.tmp"/><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7.tmp"/><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8.tmp"/><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9.tmp"/><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10.tmp"/><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11.tmp"/><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12.tmp"/></Relationships>
</file>

<file path=ppt/slides/_rels/slide19.xml.rels><?xml version="1.0" encoding="UTF-8" standalone="yes"?>
<Relationships xmlns="http://schemas.openxmlformats.org/package/2006/relationships"><Relationship Id="rId2" Type="http://schemas.openxmlformats.org/officeDocument/2006/relationships/image" Target="../media/image13.tmp"/><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14.tmp"/><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15.tmp"/><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16.tmp"/><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17.tmp"/><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18.tmp"/><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19.tmp"/><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image" Target="../media/image20.tmp"/><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image" Target="../media/image21.tmp"/><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image" Target="../media/image22.tmp"/><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image" Target="../media/image23.tmp"/><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image" Target="../media/image24.tmp"/><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image" Target="../media/image25.tmp"/><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image" Target="../media/image26.tmp"/><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image" Target="../media/image27.tmp"/><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image" Target="../media/image28.tmp"/><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image" Target="../media/image29.tmp"/><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image" Target="../media/image30.tmp"/><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2" Type="http://schemas.openxmlformats.org/officeDocument/2006/relationships/image" Target="../media/image31.tmp"/><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2" Type="http://schemas.openxmlformats.org/officeDocument/2006/relationships/image" Target="../media/image32.tmp"/><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2" Type="http://schemas.openxmlformats.org/officeDocument/2006/relationships/image" Target="../media/image33.tmp"/><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2" Type="http://schemas.openxmlformats.org/officeDocument/2006/relationships/image" Target="../media/image34.tmp"/><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2" Type="http://schemas.openxmlformats.org/officeDocument/2006/relationships/image" Target="../media/image35.tmp"/><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2" Type="http://schemas.openxmlformats.org/officeDocument/2006/relationships/image" Target="../media/image36.tmp"/><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2" Type="http://schemas.openxmlformats.org/officeDocument/2006/relationships/image" Target="../media/image37.tmp"/><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2" Type="http://schemas.openxmlformats.org/officeDocument/2006/relationships/image" Target="../media/image38.tmp"/><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2" Type="http://schemas.openxmlformats.org/officeDocument/2006/relationships/image" Target="../media/image39.tmp"/><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2" Type="http://schemas.openxmlformats.org/officeDocument/2006/relationships/image" Target="../media/image40.tmp"/><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3" Type="http://schemas.openxmlformats.org/officeDocument/2006/relationships/image" Target="../media/image42.tmp"/><Relationship Id="rId2" Type="http://schemas.openxmlformats.org/officeDocument/2006/relationships/image" Target="../media/image41.tmp"/><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2" Type="http://schemas.openxmlformats.org/officeDocument/2006/relationships/image" Target="../media/image43.tmp"/><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2" Type="http://schemas.openxmlformats.org/officeDocument/2006/relationships/image" Target="../media/image44.tmp"/><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2" Type="http://schemas.openxmlformats.org/officeDocument/2006/relationships/image" Target="../media/image45.tmp"/><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2" Type="http://schemas.openxmlformats.org/officeDocument/2006/relationships/image" Target="../media/image46.tmp"/><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ctrTitle"/>
          </p:nvPr>
        </p:nvSpPr>
        <p:spPr/>
        <p:txBody>
          <a:bodyPr/>
          <a:lstStyle/>
          <a:p>
            <a:r>
              <a:rPr lang="fr-FR" dirty="0" smtClean="0"/>
              <a:t>PROJET D’EXPANSION</a:t>
            </a:r>
            <a:endParaRPr lang="fr-FR" dirty="0"/>
          </a:p>
        </p:txBody>
      </p:sp>
      <p:sp>
        <p:nvSpPr>
          <p:cNvPr id="3" name="Sous-titre 2"/>
          <p:cNvSpPr>
            <a:spLocks noGrp="1"/>
          </p:cNvSpPr>
          <p:nvPr>
            <p:ph type="subTitle" idx="1"/>
          </p:nvPr>
        </p:nvSpPr>
        <p:spPr/>
        <p:txBody>
          <a:bodyPr/>
          <a:lstStyle/>
          <a:p>
            <a:r>
              <a:rPr lang="fr-FR" dirty="0" smtClean="0"/>
              <a:t>SOCIETE LAPLACE IMMO</a:t>
            </a:r>
          </a:p>
          <a:p>
            <a:endParaRPr lang="fr-FR" dirty="0"/>
          </a:p>
        </p:txBody>
      </p:sp>
    </p:spTree>
    <p:extLst>
      <p:ext uri="{BB962C8B-B14F-4D97-AF65-F5344CB8AC3E}">
        <p14:creationId xmlns:p14="http://schemas.microsoft.com/office/powerpoint/2010/main" val="213343687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048000" y="45542"/>
            <a:ext cx="6096000" cy="6766917"/>
          </a:xfrm>
          <a:prstGeom prst="rect">
            <a:avLst/>
          </a:prstGeom>
        </p:spPr>
        <p:txBody>
          <a:bodyPr>
            <a:spAutoFit/>
          </a:bodyPr>
          <a:lstStyle/>
          <a:p>
            <a:pPr>
              <a:lnSpc>
                <a:spcPct val="107000"/>
              </a:lnSpc>
              <a:spcAft>
                <a:spcPts val="800"/>
              </a:spcAft>
            </a:pPr>
            <a:r>
              <a:rPr lang="fr-FR" sz="4400" b="1" dirty="0">
                <a:latin typeface="Calibri" panose="020F0502020204030204" pitchFamily="34" charset="0"/>
                <a:ea typeface="Calibri" panose="020F0502020204030204" pitchFamily="34" charset="0"/>
                <a:cs typeface="Times New Roman" panose="02020603050405020304" pitchFamily="18" charset="0"/>
              </a:rPr>
              <a:t>CONTEXTE DU PROJET</a:t>
            </a:r>
            <a:endParaRPr lang="fr-FR"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fr-FR" dirty="0">
                <a:latin typeface="Calibri" panose="020F0502020204030204" pitchFamily="34" charset="0"/>
                <a:ea typeface="Calibri" panose="020F0502020204030204" pitchFamily="34" charset="0"/>
                <a:cs typeface="Times New Roman" panose="02020603050405020304" pitchFamily="18" charset="0"/>
              </a:rPr>
              <a:t> </a:t>
            </a:r>
          </a:p>
          <a:p>
            <a:pPr>
              <a:lnSpc>
                <a:spcPct val="107000"/>
              </a:lnSpc>
              <a:spcAft>
                <a:spcPts val="800"/>
              </a:spcAft>
            </a:pPr>
            <a:r>
              <a:rPr lang="fr-FR" dirty="0">
                <a:latin typeface="Calibri" panose="020F0502020204030204" pitchFamily="34" charset="0"/>
                <a:ea typeface="Calibri" panose="020F0502020204030204" pitchFamily="34" charset="0"/>
                <a:cs typeface="Times New Roman" panose="02020603050405020304" pitchFamily="18" charset="0"/>
              </a:rPr>
              <a:t>L’entreprise </a:t>
            </a:r>
            <a:r>
              <a:rPr lang="fr-FR" b="1" dirty="0">
                <a:latin typeface="Calibri" panose="020F0502020204030204" pitchFamily="34" charset="0"/>
                <a:ea typeface="Calibri" panose="020F0502020204030204" pitchFamily="34" charset="0"/>
                <a:cs typeface="Times New Roman" panose="02020603050405020304" pitchFamily="18" charset="0"/>
              </a:rPr>
              <a:t>Laplace </a:t>
            </a:r>
            <a:r>
              <a:rPr lang="fr-FR" b="1" dirty="0" err="1">
                <a:latin typeface="Calibri" panose="020F0502020204030204" pitchFamily="34" charset="0"/>
                <a:ea typeface="Calibri" panose="020F0502020204030204" pitchFamily="34" charset="0"/>
                <a:cs typeface="Times New Roman" panose="02020603050405020304" pitchFamily="18" charset="0"/>
              </a:rPr>
              <a:t>Immo</a:t>
            </a:r>
            <a:r>
              <a:rPr lang="fr-FR" dirty="0">
                <a:latin typeface="Calibri" panose="020F0502020204030204" pitchFamily="34" charset="0"/>
                <a:ea typeface="Calibri" panose="020F0502020204030204" pitchFamily="34" charset="0"/>
                <a:cs typeface="Times New Roman" panose="02020603050405020304" pitchFamily="18" charset="0"/>
              </a:rPr>
              <a:t>, un réseau national d’agences immobilières, souhaitant se démarquer de la concurrence a décidé de mettre au cœur de sa stratégie de développement et d’expansion, les données</a:t>
            </a:r>
          </a:p>
          <a:p>
            <a:pPr>
              <a:lnSpc>
                <a:spcPct val="107000"/>
              </a:lnSpc>
              <a:spcAft>
                <a:spcPts val="800"/>
              </a:spcAft>
            </a:pPr>
            <a:r>
              <a:rPr lang="fr-FR" dirty="0">
                <a:latin typeface="Calibri" panose="020F0502020204030204" pitchFamily="34" charset="0"/>
                <a:ea typeface="Calibri" panose="020F0502020204030204" pitchFamily="34" charset="0"/>
                <a:cs typeface="Times New Roman" panose="02020603050405020304" pitchFamily="18" charset="0"/>
              </a:rPr>
              <a:t>Etant data </a:t>
            </a:r>
            <a:r>
              <a:rPr lang="fr-FR" dirty="0" err="1" smtClean="0">
                <a:latin typeface="Calibri" panose="020F0502020204030204" pitchFamily="34" charset="0"/>
                <a:ea typeface="Calibri" panose="020F0502020204030204" pitchFamily="34" charset="0"/>
                <a:cs typeface="Times New Roman" panose="02020603050405020304" pitchFamily="18" charset="0"/>
              </a:rPr>
              <a:t>Engeneer</a:t>
            </a:r>
            <a:r>
              <a:rPr lang="fr-FR" dirty="0" smtClean="0">
                <a:latin typeface="Calibri" panose="020F0502020204030204" pitchFamily="34" charset="0"/>
                <a:ea typeface="Calibri" panose="020F0502020204030204" pitchFamily="34" charset="0"/>
                <a:cs typeface="Times New Roman" panose="02020603050405020304" pitchFamily="18" charset="0"/>
              </a:rPr>
              <a:t> </a:t>
            </a:r>
            <a:r>
              <a:rPr lang="fr-FR" dirty="0">
                <a:latin typeface="Calibri" panose="020F0502020204030204" pitchFamily="34" charset="0"/>
                <a:ea typeface="Calibri" panose="020F0502020204030204" pitchFamily="34" charset="0"/>
                <a:cs typeface="Times New Roman" panose="02020603050405020304" pitchFamily="18" charset="0"/>
              </a:rPr>
              <a:t>je suis en charge d'un nouveau projet dans lequel je dois </a:t>
            </a:r>
            <a:r>
              <a:rPr lang="fr-FR" b="1" dirty="0">
                <a:latin typeface="Calibri" panose="020F0502020204030204" pitchFamily="34" charset="0"/>
                <a:ea typeface="Calibri" panose="020F0502020204030204" pitchFamily="34" charset="0"/>
                <a:cs typeface="Times New Roman" panose="02020603050405020304" pitchFamily="18" charset="0"/>
              </a:rPr>
              <a:t>collecter</a:t>
            </a:r>
            <a:r>
              <a:rPr lang="fr-FR" dirty="0">
                <a:latin typeface="Calibri" panose="020F0502020204030204" pitchFamily="34" charset="0"/>
                <a:ea typeface="Calibri" panose="020F0502020204030204" pitchFamily="34" charset="0"/>
                <a:cs typeface="Times New Roman" panose="02020603050405020304" pitchFamily="18" charset="0"/>
              </a:rPr>
              <a:t> l'ensemble des transactions immobilières en France. Cela permettra de suivre l'évolution du prix au mètre carré et d'identifier les régions où le marché est le plus porteur. Et afin de mener à bien ma mission, j’ai à ma disposition trois fichiers Excel (</a:t>
            </a:r>
            <a:r>
              <a:rPr lang="fr-FR" dirty="0" smtClean="0">
                <a:latin typeface="Calibri" panose="020F0502020204030204" pitchFamily="34" charset="0"/>
                <a:ea typeface="Calibri" panose="020F0502020204030204" pitchFamily="34" charset="0"/>
                <a:cs typeface="Times New Roman" panose="02020603050405020304" pitchFamily="18" charset="0"/>
              </a:rPr>
              <a:t>données commune</a:t>
            </a:r>
            <a:r>
              <a:rPr lang="fr-FR" dirty="0">
                <a:latin typeface="Calibri" panose="020F0502020204030204" pitchFamily="34" charset="0"/>
                <a:ea typeface="Calibri" panose="020F0502020204030204" pitchFamily="34" charset="0"/>
                <a:cs typeface="Times New Roman" panose="02020603050405020304" pitchFamily="18" charset="0"/>
              </a:rPr>
              <a:t>, valeurs- foncières et </a:t>
            </a:r>
            <a:r>
              <a:rPr lang="fr-FR" dirty="0" err="1" smtClean="0">
                <a:latin typeface="Calibri" panose="020F0502020204030204" pitchFamily="34" charset="0"/>
                <a:ea typeface="Calibri" panose="020F0502020204030204" pitchFamily="34" charset="0"/>
                <a:cs typeface="Times New Roman" panose="02020603050405020304" pitchFamily="18" charset="0"/>
              </a:rPr>
              <a:t>fr-esr-referentiel</a:t>
            </a:r>
            <a:r>
              <a:rPr lang="fr-FR" dirty="0" smtClean="0">
                <a:latin typeface="Calibri" panose="020F0502020204030204" pitchFamily="34" charset="0"/>
                <a:ea typeface="Calibri" panose="020F0502020204030204" pitchFamily="34" charset="0"/>
                <a:cs typeface="Times New Roman" panose="02020603050405020304" pitchFamily="18" charset="0"/>
              </a:rPr>
              <a:t> géographique) </a:t>
            </a:r>
            <a:r>
              <a:rPr lang="fr-FR" dirty="0">
                <a:latin typeface="Calibri" panose="020F0502020204030204" pitchFamily="34" charset="0"/>
                <a:ea typeface="Calibri" panose="020F0502020204030204" pitchFamily="34" charset="0"/>
                <a:cs typeface="Times New Roman" panose="02020603050405020304" pitchFamily="18" charset="0"/>
              </a:rPr>
              <a:t>pour </a:t>
            </a:r>
            <a:r>
              <a:rPr lang="fr-FR" b="1" dirty="0">
                <a:latin typeface="Calibri" panose="020F0502020204030204" pitchFamily="34" charset="0"/>
                <a:ea typeface="Calibri" panose="020F0502020204030204" pitchFamily="34" charset="0"/>
                <a:cs typeface="Times New Roman" panose="02020603050405020304" pitchFamily="18" charset="0"/>
              </a:rPr>
              <a:t>analyser</a:t>
            </a:r>
            <a:r>
              <a:rPr lang="fr-FR" dirty="0">
                <a:latin typeface="Calibri" panose="020F0502020204030204" pitchFamily="34" charset="0"/>
                <a:ea typeface="Calibri" panose="020F0502020204030204" pitchFamily="34" charset="0"/>
                <a:cs typeface="Times New Roman" panose="02020603050405020304" pitchFamily="18" charset="0"/>
              </a:rPr>
              <a:t> le marché et </a:t>
            </a:r>
            <a:r>
              <a:rPr lang="fr-FR" b="1" dirty="0">
                <a:latin typeface="Calibri" panose="020F0502020204030204" pitchFamily="34" charset="0"/>
                <a:ea typeface="Calibri" panose="020F0502020204030204" pitchFamily="34" charset="0"/>
                <a:cs typeface="Times New Roman" panose="02020603050405020304" pitchFamily="18" charset="0"/>
              </a:rPr>
              <a:t>répondre aux besoins</a:t>
            </a:r>
            <a:r>
              <a:rPr lang="fr-FR" dirty="0">
                <a:latin typeface="Calibri" panose="020F0502020204030204" pitchFamily="34" charset="0"/>
                <a:ea typeface="Calibri" panose="020F0502020204030204" pitchFamily="34" charset="0"/>
                <a:cs typeface="Times New Roman" panose="02020603050405020304" pitchFamily="18" charset="0"/>
              </a:rPr>
              <a:t> de votre entreprise.</a:t>
            </a:r>
          </a:p>
          <a:p>
            <a:pPr>
              <a:lnSpc>
                <a:spcPct val="107000"/>
              </a:lnSpc>
              <a:spcAft>
                <a:spcPts val="800"/>
              </a:spcAft>
            </a:pPr>
            <a:r>
              <a:rPr lang="fr-FR" dirty="0">
                <a:latin typeface="Calibri" panose="020F0502020204030204" pitchFamily="34" charset="0"/>
                <a:ea typeface="Calibri" panose="020F0502020204030204" pitchFamily="34" charset="0"/>
                <a:cs typeface="Times New Roman" panose="02020603050405020304" pitchFamily="18" charset="0"/>
              </a:rPr>
              <a:t>Pour cela, j’ai créé une base de données avec les tables </a:t>
            </a:r>
            <a:r>
              <a:rPr lang="fr-FR" dirty="0" smtClean="0">
                <a:latin typeface="Calibri" panose="020F0502020204030204" pitchFamily="34" charset="0"/>
                <a:ea typeface="Calibri" panose="020F0502020204030204" pitchFamily="34" charset="0"/>
                <a:cs typeface="Times New Roman" panose="02020603050405020304" pitchFamily="18" charset="0"/>
              </a:rPr>
              <a:t>commune géographie, communes démographie </a:t>
            </a:r>
            <a:r>
              <a:rPr lang="fr-FR" dirty="0">
                <a:latin typeface="Calibri" panose="020F0502020204030204" pitchFamily="34" charset="0"/>
                <a:ea typeface="Calibri" panose="020F0502020204030204" pitchFamily="34" charset="0"/>
                <a:cs typeface="Times New Roman" panose="02020603050405020304" pitchFamily="18" charset="0"/>
              </a:rPr>
              <a:t>et </a:t>
            </a:r>
            <a:r>
              <a:rPr lang="fr-FR" dirty="0" smtClean="0">
                <a:latin typeface="Calibri" panose="020F0502020204030204" pitchFamily="34" charset="0"/>
                <a:ea typeface="Calibri" panose="020F0502020204030204" pitchFamily="34" charset="0"/>
                <a:cs typeface="Times New Roman" panose="02020603050405020304" pitchFamily="18" charset="0"/>
              </a:rPr>
              <a:t>transactions foncières</a:t>
            </a:r>
            <a:endParaRPr lang="fr-FR"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fr-FR" dirty="0">
                <a:latin typeface="Calibri" panose="020F0502020204030204" pitchFamily="34" charset="0"/>
                <a:ea typeface="Calibri" panose="020F0502020204030204" pitchFamily="34" charset="0"/>
                <a:cs typeface="Times New Roman" panose="02020603050405020304" pitchFamily="18" charset="0"/>
              </a:rPr>
              <a:t> </a:t>
            </a:r>
          </a:p>
          <a:p>
            <a:pPr>
              <a:lnSpc>
                <a:spcPct val="107000"/>
              </a:lnSpc>
              <a:spcAft>
                <a:spcPts val="800"/>
              </a:spcAft>
            </a:pPr>
            <a:r>
              <a:rPr lang="fr-FR" dirty="0">
                <a:latin typeface="Calibri" panose="020F0502020204030204" pitchFamily="34" charset="0"/>
                <a:ea typeface="Calibri" panose="020F0502020204030204" pitchFamily="34" charset="0"/>
                <a:cs typeface="Times New Roman" panose="02020603050405020304" pitchFamily="18" charset="0"/>
              </a:rPr>
              <a:t> </a:t>
            </a:r>
          </a:p>
        </p:txBody>
      </p:sp>
    </p:spTree>
    <p:extLst>
      <p:ext uri="{BB962C8B-B14F-4D97-AF65-F5344CB8AC3E}">
        <p14:creationId xmlns:p14="http://schemas.microsoft.com/office/powerpoint/2010/main" val="331789383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3048000" y="2691298"/>
            <a:ext cx="6096000" cy="1475404"/>
          </a:xfrm>
          <a:prstGeom prst="rect">
            <a:avLst/>
          </a:prstGeom>
        </p:spPr>
        <p:txBody>
          <a:bodyPr>
            <a:spAutoFit/>
          </a:bodyPr>
          <a:lstStyle/>
          <a:p>
            <a:pPr>
              <a:lnSpc>
                <a:spcPct val="107000"/>
              </a:lnSpc>
              <a:spcAft>
                <a:spcPts val="800"/>
              </a:spcAft>
            </a:pPr>
            <a:r>
              <a:rPr lang="fr-FR" sz="2800" b="1" dirty="0">
                <a:latin typeface="Calibri" panose="020F0502020204030204" pitchFamily="34" charset="0"/>
                <a:ea typeface="Calibri" panose="020F0502020204030204" pitchFamily="34" charset="0"/>
                <a:cs typeface="Times New Roman" panose="02020603050405020304" pitchFamily="18" charset="0"/>
              </a:rPr>
              <a:t>AVANT TOUT CHOSE, NOUS ALLONS VOUS PRESENTER LE SCHEMA RELATIONNEL NORMALISE</a:t>
            </a:r>
            <a:endParaRPr lang="fr-FR" sz="11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45123944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descr="Capture d’écran"/>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4931" y="314794"/>
            <a:ext cx="11163866" cy="6100996"/>
          </a:xfrm>
          <a:prstGeom prst="rect">
            <a:avLst/>
          </a:prstGeom>
        </p:spPr>
      </p:pic>
    </p:spTree>
    <p:extLst>
      <p:ext uri="{BB962C8B-B14F-4D97-AF65-F5344CB8AC3E}">
        <p14:creationId xmlns:p14="http://schemas.microsoft.com/office/powerpoint/2010/main" val="313368937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048000" y="2691298"/>
            <a:ext cx="6096000" cy="1475404"/>
          </a:xfrm>
          <a:prstGeom prst="rect">
            <a:avLst/>
          </a:prstGeom>
        </p:spPr>
        <p:txBody>
          <a:bodyPr>
            <a:spAutoFit/>
          </a:bodyPr>
          <a:lstStyle/>
          <a:p>
            <a:pPr>
              <a:lnSpc>
                <a:spcPct val="107000"/>
              </a:lnSpc>
              <a:spcAft>
                <a:spcPts val="800"/>
              </a:spcAft>
            </a:pPr>
            <a:r>
              <a:rPr lang="fr-FR" sz="2800" b="1" dirty="0">
                <a:latin typeface="Calibri" panose="020F0502020204030204" pitchFamily="34" charset="0"/>
                <a:ea typeface="Calibri" panose="020F0502020204030204" pitchFamily="34" charset="0"/>
                <a:cs typeface="Times New Roman" panose="02020603050405020304" pitchFamily="18" charset="0"/>
              </a:rPr>
              <a:t>NOUS ALLONS A PRESENT VOUS PRESENTER LE DICTIONNAIRE DES DONNEES</a:t>
            </a:r>
            <a:endParaRPr lang="fr-FR" sz="11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15948364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descr="Capture d’écran"/>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4931" y="179882"/>
            <a:ext cx="11611603" cy="6445770"/>
          </a:xfrm>
          <a:prstGeom prst="rect">
            <a:avLst/>
          </a:prstGeom>
        </p:spPr>
      </p:pic>
    </p:spTree>
    <p:extLst>
      <p:ext uri="{BB962C8B-B14F-4D97-AF65-F5344CB8AC3E}">
        <p14:creationId xmlns:p14="http://schemas.microsoft.com/office/powerpoint/2010/main" val="299733835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descr="Capture d’écran"/>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9902" y="149902"/>
            <a:ext cx="11585685" cy="6415790"/>
          </a:xfrm>
          <a:prstGeom prst="rect">
            <a:avLst/>
          </a:prstGeom>
        </p:spPr>
      </p:pic>
    </p:spTree>
    <p:extLst>
      <p:ext uri="{BB962C8B-B14F-4D97-AF65-F5344CB8AC3E}">
        <p14:creationId xmlns:p14="http://schemas.microsoft.com/office/powerpoint/2010/main" val="318904066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descr="Capture d’écran"/>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4833" y="209862"/>
            <a:ext cx="11480754" cy="6235908"/>
          </a:xfrm>
          <a:prstGeom prst="rect">
            <a:avLst/>
          </a:prstGeom>
        </p:spPr>
      </p:pic>
    </p:spTree>
    <p:extLst>
      <p:ext uri="{BB962C8B-B14F-4D97-AF65-F5344CB8AC3E}">
        <p14:creationId xmlns:p14="http://schemas.microsoft.com/office/powerpoint/2010/main" val="193755623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2353456" y="2460786"/>
            <a:ext cx="6790544" cy="1936428"/>
          </a:xfrm>
          <a:prstGeom prst="rect">
            <a:avLst/>
          </a:prstGeom>
        </p:spPr>
        <p:txBody>
          <a:bodyPr wrap="square">
            <a:spAutoFit/>
          </a:bodyPr>
          <a:lstStyle/>
          <a:p>
            <a:pPr>
              <a:lnSpc>
                <a:spcPct val="107000"/>
              </a:lnSpc>
              <a:spcAft>
                <a:spcPts val="800"/>
              </a:spcAft>
            </a:pPr>
            <a:r>
              <a:rPr lang="fr-FR" sz="2800" b="1" dirty="0">
                <a:latin typeface="Calibri" panose="020F0502020204030204" pitchFamily="34" charset="0"/>
                <a:ea typeface="Calibri" panose="020F0502020204030204" pitchFamily="34" charset="0"/>
                <a:cs typeface="Times New Roman" panose="02020603050405020304" pitchFamily="18" charset="0"/>
              </a:rPr>
              <a:t>PAR LA SUITE, NOUS ALLONS PROCEDER AUX REQUETES SQL EN REPONDANT AUX OBJECTIFS FIXES SUR LE COMPTE-RENDU DE REUNION</a:t>
            </a:r>
            <a:endParaRPr lang="fr-FR" sz="11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419083071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048000" y="3105835"/>
            <a:ext cx="6096000" cy="646331"/>
          </a:xfrm>
          <a:prstGeom prst="rect">
            <a:avLst/>
          </a:prstGeom>
        </p:spPr>
        <p:txBody>
          <a:bodyPr>
            <a:spAutoFit/>
          </a:bodyPr>
          <a:lstStyle/>
          <a:p>
            <a:r>
              <a:rPr lang="fr-FR" dirty="0"/>
              <a:t>1. Nombre total d’appartements vendus au 1er semestre 2020</a:t>
            </a:r>
          </a:p>
        </p:txBody>
      </p:sp>
    </p:spTree>
    <p:extLst>
      <p:ext uri="{BB962C8B-B14F-4D97-AF65-F5344CB8AC3E}">
        <p14:creationId xmlns:p14="http://schemas.microsoft.com/office/powerpoint/2010/main" val="215343159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descr="Capture d’écran"/>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04177" y="884420"/>
            <a:ext cx="10183646" cy="4406977"/>
          </a:xfrm>
          <a:prstGeom prst="rect">
            <a:avLst/>
          </a:prstGeom>
        </p:spPr>
      </p:pic>
    </p:spTree>
    <p:extLst>
      <p:ext uri="{BB962C8B-B14F-4D97-AF65-F5344CB8AC3E}">
        <p14:creationId xmlns:p14="http://schemas.microsoft.com/office/powerpoint/2010/main" val="33372909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descr="Capture d’écran"/>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94086" y="884420"/>
            <a:ext cx="7602682" cy="5186595"/>
          </a:xfrm>
          <a:prstGeom prst="rect">
            <a:avLst/>
          </a:prstGeom>
        </p:spPr>
      </p:pic>
    </p:spTree>
    <p:extLst>
      <p:ext uri="{BB962C8B-B14F-4D97-AF65-F5344CB8AC3E}">
        <p14:creationId xmlns:p14="http://schemas.microsoft.com/office/powerpoint/2010/main" val="157327111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048000" y="2967335"/>
            <a:ext cx="6096000" cy="1200329"/>
          </a:xfrm>
          <a:prstGeom prst="rect">
            <a:avLst/>
          </a:prstGeom>
        </p:spPr>
        <p:txBody>
          <a:bodyPr>
            <a:spAutoFit/>
          </a:bodyPr>
          <a:lstStyle/>
          <a:p>
            <a:r>
              <a:rPr lang="fr-FR" dirty="0"/>
              <a:t>Le nombre de ventes d’appartement par région pour le 1er semestre</a:t>
            </a:r>
          </a:p>
          <a:p>
            <a:r>
              <a:rPr lang="fr-FR" dirty="0"/>
              <a:t>2020</a:t>
            </a:r>
            <a:r>
              <a:rPr lang="fr-FR" dirty="0" smtClean="0"/>
              <a:t>.</a:t>
            </a:r>
          </a:p>
          <a:p>
            <a:endParaRPr lang="fr-FR" dirty="0"/>
          </a:p>
        </p:txBody>
      </p:sp>
    </p:spTree>
    <p:extLst>
      <p:ext uri="{BB962C8B-B14F-4D97-AF65-F5344CB8AC3E}">
        <p14:creationId xmlns:p14="http://schemas.microsoft.com/office/powerpoint/2010/main" val="11308276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2" descr="Capture d’écran"/>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24460" y="164891"/>
            <a:ext cx="9367862" cy="6160957"/>
          </a:xfrm>
          <a:prstGeom prst="rect">
            <a:avLst/>
          </a:prstGeom>
        </p:spPr>
      </p:pic>
    </p:spTree>
    <p:extLst>
      <p:ext uri="{BB962C8B-B14F-4D97-AF65-F5344CB8AC3E}">
        <p14:creationId xmlns:p14="http://schemas.microsoft.com/office/powerpoint/2010/main" val="255277189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 3" descr="Capture d’écran"/>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64105" y="194872"/>
            <a:ext cx="7856531" cy="5653815"/>
          </a:xfrm>
          <a:prstGeom prst="rect">
            <a:avLst/>
          </a:prstGeom>
        </p:spPr>
      </p:pic>
    </p:spTree>
    <p:extLst>
      <p:ext uri="{BB962C8B-B14F-4D97-AF65-F5344CB8AC3E}">
        <p14:creationId xmlns:p14="http://schemas.microsoft.com/office/powerpoint/2010/main" val="292455604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descr="Capture d’écran"/>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43988" y="314793"/>
            <a:ext cx="7633780" cy="4566972"/>
          </a:xfrm>
          <a:prstGeom prst="rect">
            <a:avLst/>
          </a:prstGeom>
        </p:spPr>
      </p:pic>
    </p:spTree>
    <p:extLst>
      <p:ext uri="{BB962C8B-B14F-4D97-AF65-F5344CB8AC3E}">
        <p14:creationId xmlns:p14="http://schemas.microsoft.com/office/powerpoint/2010/main" val="308379613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3048000" y="612845"/>
            <a:ext cx="6096000" cy="923330"/>
          </a:xfrm>
          <a:prstGeom prst="rect">
            <a:avLst/>
          </a:prstGeom>
        </p:spPr>
        <p:txBody>
          <a:bodyPr>
            <a:spAutoFit/>
          </a:bodyPr>
          <a:lstStyle/>
          <a:p>
            <a:r>
              <a:rPr lang="fr-FR" b="1" dirty="0">
                <a:solidFill>
                  <a:srgbClr val="000000"/>
                </a:solidFill>
                <a:latin typeface="CIDFont+F1"/>
              </a:rPr>
              <a:t>3. Proportion des ventes d’appartements par le nombre de pièces</a:t>
            </a:r>
            <a:endParaRPr lang="fr-FR" b="1" dirty="0" smtClean="0">
              <a:solidFill>
                <a:srgbClr val="000000"/>
              </a:solidFill>
              <a:latin typeface="CIDFont+F1"/>
            </a:endParaRPr>
          </a:p>
          <a:p>
            <a:endParaRPr lang="fr-FR" b="1" dirty="0">
              <a:solidFill>
                <a:srgbClr val="000000"/>
              </a:solidFill>
              <a:latin typeface="CIDFont+F1"/>
            </a:endParaRPr>
          </a:p>
        </p:txBody>
      </p:sp>
      <p:pic>
        <p:nvPicPr>
          <p:cNvPr id="2" name="Image 1" descr="Capture d’écran"/>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34518" y="1771418"/>
            <a:ext cx="9786462" cy="4449500"/>
          </a:xfrm>
          <a:prstGeom prst="rect">
            <a:avLst/>
          </a:prstGeom>
        </p:spPr>
      </p:pic>
    </p:spTree>
    <p:extLst>
      <p:ext uri="{BB962C8B-B14F-4D97-AF65-F5344CB8AC3E}">
        <p14:creationId xmlns:p14="http://schemas.microsoft.com/office/powerpoint/2010/main" val="143801908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1888761" y="874455"/>
            <a:ext cx="7255239" cy="369332"/>
          </a:xfrm>
          <a:prstGeom prst="rect">
            <a:avLst/>
          </a:prstGeom>
        </p:spPr>
        <p:txBody>
          <a:bodyPr wrap="square">
            <a:spAutoFit/>
          </a:bodyPr>
          <a:lstStyle/>
          <a:p>
            <a:endParaRPr lang="fr-FR" dirty="0"/>
          </a:p>
        </p:txBody>
      </p:sp>
      <p:pic>
        <p:nvPicPr>
          <p:cNvPr id="5" name="Image 4" descr="Capture d’écran"/>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833232" y="942627"/>
            <a:ext cx="6525536" cy="5548113"/>
          </a:xfrm>
          <a:prstGeom prst="rect">
            <a:avLst/>
          </a:prstGeom>
        </p:spPr>
      </p:pic>
      <p:pic>
        <p:nvPicPr>
          <p:cNvPr id="2" name="Image 1" descr="Capture d’écran"/>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334125" y="894996"/>
            <a:ext cx="8167538" cy="5730656"/>
          </a:xfrm>
          <a:prstGeom prst="rect">
            <a:avLst/>
          </a:prstGeom>
        </p:spPr>
      </p:pic>
    </p:spTree>
    <p:extLst>
      <p:ext uri="{BB962C8B-B14F-4D97-AF65-F5344CB8AC3E}">
        <p14:creationId xmlns:p14="http://schemas.microsoft.com/office/powerpoint/2010/main" val="116748180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048000" y="1305342"/>
            <a:ext cx="6096000" cy="923330"/>
          </a:xfrm>
          <a:prstGeom prst="rect">
            <a:avLst/>
          </a:prstGeom>
        </p:spPr>
        <p:txBody>
          <a:bodyPr>
            <a:spAutoFit/>
          </a:bodyPr>
          <a:lstStyle/>
          <a:p>
            <a:r>
              <a:rPr lang="fr-FR" b="1" dirty="0">
                <a:solidFill>
                  <a:srgbClr val="000000"/>
                </a:solidFill>
                <a:latin typeface="CIDFont+F1"/>
              </a:rPr>
              <a:t>4. Liste des 10 départements où le prix du mètre carré est le plus élevé</a:t>
            </a:r>
            <a:endParaRPr lang="fr-FR" b="1" dirty="0" smtClean="0">
              <a:solidFill>
                <a:srgbClr val="000000"/>
              </a:solidFill>
              <a:latin typeface="CIDFont+F1"/>
            </a:endParaRPr>
          </a:p>
          <a:p>
            <a:endParaRPr lang="fr-FR" b="1" dirty="0">
              <a:solidFill>
                <a:srgbClr val="000000"/>
              </a:solidFill>
              <a:latin typeface="CIDFont+F1"/>
            </a:endParaRPr>
          </a:p>
        </p:txBody>
      </p:sp>
      <p:pic>
        <p:nvPicPr>
          <p:cNvPr id="3" name="Image 2" descr="Capture d’écran"/>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59174" y="2038662"/>
            <a:ext cx="8223436" cy="4122295"/>
          </a:xfrm>
          <a:prstGeom prst="rect">
            <a:avLst/>
          </a:prstGeom>
        </p:spPr>
      </p:pic>
    </p:spTree>
    <p:extLst>
      <p:ext uri="{BB962C8B-B14F-4D97-AF65-F5344CB8AC3E}">
        <p14:creationId xmlns:p14="http://schemas.microsoft.com/office/powerpoint/2010/main" val="331051742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descr="Capture d’écran"/>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44577" y="164891"/>
            <a:ext cx="9653666" cy="6340839"/>
          </a:xfrm>
          <a:prstGeom prst="rect">
            <a:avLst/>
          </a:prstGeom>
        </p:spPr>
      </p:pic>
    </p:spTree>
    <p:extLst>
      <p:ext uri="{BB962C8B-B14F-4D97-AF65-F5344CB8AC3E}">
        <p14:creationId xmlns:p14="http://schemas.microsoft.com/office/powerpoint/2010/main" val="112590343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578308" y="889844"/>
            <a:ext cx="6565692" cy="1200329"/>
          </a:xfrm>
          <a:prstGeom prst="rect">
            <a:avLst/>
          </a:prstGeom>
        </p:spPr>
        <p:txBody>
          <a:bodyPr wrap="square">
            <a:spAutoFit/>
          </a:bodyPr>
          <a:lstStyle/>
          <a:p>
            <a:r>
              <a:rPr lang="fr-FR" b="1" dirty="0">
                <a:solidFill>
                  <a:srgbClr val="000000"/>
                </a:solidFill>
                <a:latin typeface="CIDFont+F1"/>
              </a:rPr>
              <a:t>5. Prix moyen du mètre carré d’une maison en Île-de-France</a:t>
            </a:r>
            <a:endParaRPr lang="fr-FR" b="1" dirty="0" smtClean="0">
              <a:solidFill>
                <a:srgbClr val="000000"/>
              </a:solidFill>
              <a:latin typeface="CIDFont+F1"/>
            </a:endParaRPr>
          </a:p>
          <a:p>
            <a:r>
              <a:rPr lang="fr-FR" b="1" dirty="0">
                <a:solidFill>
                  <a:srgbClr val="000000"/>
                </a:solidFill>
                <a:latin typeface="CIDFont+F1"/>
              </a:rPr>
              <a:t/>
            </a:r>
            <a:br>
              <a:rPr lang="fr-FR" b="1" dirty="0">
                <a:solidFill>
                  <a:srgbClr val="000000"/>
                </a:solidFill>
                <a:latin typeface="CIDFont+F1"/>
              </a:rPr>
            </a:br>
            <a:endParaRPr lang="fr-FR" dirty="0"/>
          </a:p>
        </p:txBody>
      </p:sp>
    </p:spTree>
    <p:extLst>
      <p:ext uri="{BB962C8B-B14F-4D97-AF65-F5344CB8AC3E}">
        <p14:creationId xmlns:p14="http://schemas.microsoft.com/office/powerpoint/2010/main" val="375810994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descr="Capture d’écran"/>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569625"/>
            <a:ext cx="10253272" cy="5021705"/>
          </a:xfrm>
          <a:prstGeom prst="rect">
            <a:avLst/>
          </a:prstGeom>
        </p:spPr>
      </p:pic>
    </p:spTree>
    <p:extLst>
      <p:ext uri="{BB962C8B-B14F-4D97-AF65-F5344CB8AC3E}">
        <p14:creationId xmlns:p14="http://schemas.microsoft.com/office/powerpoint/2010/main" val="178870093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descr="Capture d’écran"/>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04144" y="539646"/>
            <a:ext cx="7006727" cy="3942013"/>
          </a:xfrm>
          <a:prstGeom prst="rect">
            <a:avLst/>
          </a:prstGeom>
        </p:spPr>
      </p:pic>
    </p:spTree>
    <p:extLst>
      <p:ext uri="{BB962C8B-B14F-4D97-AF65-F5344CB8AC3E}">
        <p14:creationId xmlns:p14="http://schemas.microsoft.com/office/powerpoint/2010/main" val="23716461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048000" y="889844"/>
            <a:ext cx="6096000" cy="1200329"/>
          </a:xfrm>
          <a:prstGeom prst="rect">
            <a:avLst/>
          </a:prstGeom>
        </p:spPr>
        <p:txBody>
          <a:bodyPr>
            <a:spAutoFit/>
          </a:bodyPr>
          <a:lstStyle/>
          <a:p>
            <a:r>
              <a:rPr lang="fr-FR" b="1" dirty="0">
                <a:solidFill>
                  <a:srgbClr val="000000"/>
                </a:solidFill>
                <a:latin typeface="CIDFont+F1"/>
              </a:rPr>
              <a:t>6. Liste des 10 appartements les plus chers avec la région et le nombre</a:t>
            </a:r>
          </a:p>
          <a:p>
            <a:r>
              <a:rPr lang="fr-FR" b="1" dirty="0">
                <a:solidFill>
                  <a:srgbClr val="000000"/>
                </a:solidFill>
                <a:latin typeface="CIDFont+F1"/>
              </a:rPr>
              <a:t/>
            </a:r>
            <a:br>
              <a:rPr lang="fr-FR" b="1" dirty="0">
                <a:solidFill>
                  <a:srgbClr val="000000"/>
                </a:solidFill>
                <a:latin typeface="CIDFont+F1"/>
              </a:rPr>
            </a:br>
            <a:endParaRPr lang="fr-FR" dirty="0"/>
          </a:p>
        </p:txBody>
      </p:sp>
    </p:spTree>
    <p:extLst>
      <p:ext uri="{BB962C8B-B14F-4D97-AF65-F5344CB8AC3E}">
        <p14:creationId xmlns:p14="http://schemas.microsoft.com/office/powerpoint/2010/main" val="227095012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 3" descr="Capture d’écran"/>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74361" y="434715"/>
            <a:ext cx="9156039" cy="5681272"/>
          </a:xfrm>
          <a:prstGeom prst="rect">
            <a:avLst/>
          </a:prstGeom>
        </p:spPr>
      </p:pic>
    </p:spTree>
    <p:extLst>
      <p:ext uri="{BB962C8B-B14F-4D97-AF65-F5344CB8AC3E}">
        <p14:creationId xmlns:p14="http://schemas.microsoft.com/office/powerpoint/2010/main" val="214664178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au 2"/>
          <p:cNvGraphicFramePr>
            <a:graphicFrameLocks noGrp="1"/>
          </p:cNvGraphicFramePr>
          <p:nvPr>
            <p:extLst>
              <p:ext uri="{D42A27DB-BD31-4B8C-83A1-F6EECF244321}">
                <p14:modId xmlns:p14="http://schemas.microsoft.com/office/powerpoint/2010/main" val="792968037"/>
              </p:ext>
            </p:extLst>
          </p:nvPr>
        </p:nvGraphicFramePr>
        <p:xfrm>
          <a:off x="344775" y="982108"/>
          <a:ext cx="1999093" cy="274320"/>
        </p:xfrm>
        <a:graphic>
          <a:graphicData uri="http://schemas.openxmlformats.org/drawingml/2006/table">
            <a:tbl>
              <a:tblPr firstRow="1" firstCol="1" lastRow="1" lastCol="1" bandRow="1" bandCol="1"/>
              <a:tblGrid>
                <a:gridCol w="1999093">
                  <a:extLst>
                    <a:ext uri="{9D8B030D-6E8A-4147-A177-3AD203B41FA5}">
                      <a16:colId xmlns:a16="http://schemas.microsoft.com/office/drawing/2014/main" val="4152702919"/>
                    </a:ext>
                  </a:extLst>
                </a:gridCol>
              </a:tblGrid>
              <a:tr h="45720">
                <a:tc>
                  <a:txBody>
                    <a:bodyPr/>
                    <a:lstStyle/>
                    <a:p>
                      <a:endParaRPr lang="fr-FR" dirty="0"/>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316721327"/>
                  </a:ext>
                </a:extLst>
              </a:tr>
            </a:tbl>
          </a:graphicData>
        </a:graphic>
      </p:graphicFrame>
      <p:pic>
        <p:nvPicPr>
          <p:cNvPr id="4" name="Image 3" descr="Capture d’écran"/>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44776" y="314793"/>
            <a:ext cx="9018756" cy="5996065"/>
          </a:xfrm>
          <a:prstGeom prst="rect">
            <a:avLst/>
          </a:prstGeom>
        </p:spPr>
      </p:pic>
    </p:spTree>
    <p:extLst>
      <p:ext uri="{BB962C8B-B14F-4D97-AF65-F5344CB8AC3E}">
        <p14:creationId xmlns:p14="http://schemas.microsoft.com/office/powerpoint/2010/main" val="314512429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34911" y="-1741646"/>
            <a:ext cx="11767279" cy="3139321"/>
          </a:xfrm>
          <a:prstGeom prst="rect">
            <a:avLst/>
          </a:prstGeom>
        </p:spPr>
        <p:txBody>
          <a:bodyPr wrap="square">
            <a:spAutoFit/>
          </a:bodyPr>
          <a:lstStyle/>
          <a:p>
            <a:endParaRPr lang="fr-FR" b="1" dirty="0" smtClean="0">
              <a:solidFill>
                <a:srgbClr val="000000"/>
              </a:solidFill>
              <a:latin typeface="CIDFont+F1"/>
            </a:endParaRPr>
          </a:p>
          <a:p>
            <a:endParaRPr lang="fr-FR" b="1" dirty="0">
              <a:solidFill>
                <a:srgbClr val="000000"/>
              </a:solidFill>
              <a:latin typeface="CIDFont+F1"/>
            </a:endParaRPr>
          </a:p>
          <a:p>
            <a:endParaRPr lang="fr-FR" b="1" dirty="0" smtClean="0">
              <a:solidFill>
                <a:srgbClr val="000000"/>
              </a:solidFill>
              <a:latin typeface="CIDFont+F1"/>
            </a:endParaRPr>
          </a:p>
          <a:p>
            <a:endParaRPr lang="fr-FR" b="1" dirty="0">
              <a:solidFill>
                <a:srgbClr val="000000"/>
              </a:solidFill>
              <a:latin typeface="CIDFont+F1"/>
            </a:endParaRPr>
          </a:p>
          <a:p>
            <a:endParaRPr lang="fr-FR" b="1" dirty="0" smtClean="0">
              <a:solidFill>
                <a:srgbClr val="000000"/>
              </a:solidFill>
              <a:latin typeface="CIDFont+F1"/>
            </a:endParaRPr>
          </a:p>
          <a:p>
            <a:endParaRPr lang="fr-FR" b="1" dirty="0">
              <a:solidFill>
                <a:srgbClr val="000000"/>
              </a:solidFill>
              <a:latin typeface="CIDFont+F1"/>
            </a:endParaRPr>
          </a:p>
          <a:p>
            <a:endParaRPr lang="fr-FR" b="1" dirty="0" smtClean="0">
              <a:solidFill>
                <a:srgbClr val="000000"/>
              </a:solidFill>
              <a:latin typeface="CIDFont+F1"/>
            </a:endParaRPr>
          </a:p>
          <a:p>
            <a:r>
              <a:rPr lang="fr-FR" b="1" dirty="0" smtClean="0">
                <a:solidFill>
                  <a:srgbClr val="000000"/>
                </a:solidFill>
                <a:latin typeface="CIDFont+F1"/>
              </a:rPr>
              <a:t>7</a:t>
            </a:r>
            <a:r>
              <a:rPr lang="fr-FR" b="1" dirty="0">
                <a:solidFill>
                  <a:srgbClr val="000000"/>
                </a:solidFill>
                <a:latin typeface="CIDFont+F1"/>
              </a:rPr>
              <a:t>. Taux d’évolution du nombre de ventes entre le premier et le second</a:t>
            </a:r>
          </a:p>
          <a:p>
            <a:r>
              <a:rPr lang="fr-FR" b="1" dirty="0">
                <a:solidFill>
                  <a:srgbClr val="000000"/>
                </a:solidFill>
                <a:latin typeface="CIDFont+F1"/>
              </a:rPr>
              <a:t>trimestre de 2020</a:t>
            </a:r>
            <a:endParaRPr lang="fr-FR" b="1" dirty="0" smtClean="0">
              <a:solidFill>
                <a:srgbClr val="000000"/>
              </a:solidFill>
              <a:latin typeface="CIDFont+F1"/>
            </a:endParaRPr>
          </a:p>
          <a:p>
            <a:endParaRPr lang="fr-FR" b="1" dirty="0" smtClean="0">
              <a:solidFill>
                <a:srgbClr val="000000"/>
              </a:solidFill>
              <a:latin typeface="CIDFont+F1"/>
            </a:endParaRPr>
          </a:p>
          <a:p>
            <a:endParaRPr lang="fr-FR" b="1" dirty="0">
              <a:solidFill>
                <a:srgbClr val="000000"/>
              </a:solidFill>
              <a:latin typeface="CIDFont+F1"/>
            </a:endParaRPr>
          </a:p>
        </p:txBody>
      </p:sp>
    </p:spTree>
    <p:extLst>
      <p:ext uri="{BB962C8B-B14F-4D97-AF65-F5344CB8AC3E}">
        <p14:creationId xmlns:p14="http://schemas.microsoft.com/office/powerpoint/2010/main" val="16103986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descr="Capture d’écran"/>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254834"/>
            <a:ext cx="10682927" cy="5936104"/>
          </a:xfrm>
          <a:prstGeom prst="rect">
            <a:avLst/>
          </a:prstGeom>
        </p:spPr>
      </p:pic>
    </p:spTree>
    <p:extLst>
      <p:ext uri="{BB962C8B-B14F-4D97-AF65-F5344CB8AC3E}">
        <p14:creationId xmlns:p14="http://schemas.microsoft.com/office/powerpoint/2010/main" val="207875678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descr="Capture d’écran"/>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99017" y="449705"/>
            <a:ext cx="6349828" cy="4103402"/>
          </a:xfrm>
          <a:prstGeom prst="rect">
            <a:avLst/>
          </a:prstGeom>
        </p:spPr>
      </p:pic>
    </p:spTree>
    <p:extLst>
      <p:ext uri="{BB962C8B-B14F-4D97-AF65-F5344CB8AC3E}">
        <p14:creationId xmlns:p14="http://schemas.microsoft.com/office/powerpoint/2010/main" val="199540456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048000" y="1582341"/>
            <a:ext cx="6096000" cy="1200329"/>
          </a:xfrm>
          <a:prstGeom prst="rect">
            <a:avLst/>
          </a:prstGeom>
        </p:spPr>
        <p:txBody>
          <a:bodyPr>
            <a:spAutoFit/>
          </a:bodyPr>
          <a:lstStyle/>
          <a:p>
            <a:r>
              <a:rPr lang="fr-FR" b="1" dirty="0">
                <a:solidFill>
                  <a:srgbClr val="000000"/>
                </a:solidFill>
                <a:latin typeface="CIDFont+F1"/>
              </a:rPr>
              <a:t>8. Le classement des régions par rapport au prix au mètre carré des</a:t>
            </a:r>
          </a:p>
          <a:p>
            <a:r>
              <a:rPr lang="fr-FR" b="1" dirty="0">
                <a:solidFill>
                  <a:srgbClr val="000000"/>
                </a:solidFill>
                <a:latin typeface="CIDFont+F1"/>
              </a:rPr>
              <a:t>appartement de plus de 4 pièces</a:t>
            </a:r>
            <a:endParaRPr lang="fr-FR" b="1" dirty="0" smtClean="0">
              <a:solidFill>
                <a:srgbClr val="000000"/>
              </a:solidFill>
              <a:latin typeface="CIDFont+F1"/>
            </a:endParaRPr>
          </a:p>
          <a:p>
            <a:endParaRPr lang="fr-FR" b="1" dirty="0">
              <a:solidFill>
                <a:srgbClr val="000000"/>
              </a:solidFill>
              <a:latin typeface="CIDFont+F1"/>
            </a:endParaRPr>
          </a:p>
        </p:txBody>
      </p:sp>
    </p:spTree>
    <p:extLst>
      <p:ext uri="{BB962C8B-B14F-4D97-AF65-F5344CB8AC3E}">
        <p14:creationId xmlns:p14="http://schemas.microsoft.com/office/powerpoint/2010/main" val="134912023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2" descr="Capture d’écran"/>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09469" y="449705"/>
            <a:ext cx="9330458" cy="5501389"/>
          </a:xfrm>
          <a:prstGeom prst="rect">
            <a:avLst/>
          </a:prstGeom>
        </p:spPr>
      </p:pic>
    </p:spTree>
    <p:extLst>
      <p:ext uri="{BB962C8B-B14F-4D97-AF65-F5344CB8AC3E}">
        <p14:creationId xmlns:p14="http://schemas.microsoft.com/office/powerpoint/2010/main" val="148627536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2" descr="Capture d’écran"/>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89351" y="314793"/>
            <a:ext cx="7783547" cy="5576763"/>
          </a:xfrm>
          <a:prstGeom prst="rect">
            <a:avLst/>
          </a:prstGeom>
        </p:spPr>
      </p:pic>
    </p:spTree>
    <p:extLst>
      <p:ext uri="{BB962C8B-B14F-4D97-AF65-F5344CB8AC3E}">
        <p14:creationId xmlns:p14="http://schemas.microsoft.com/office/powerpoint/2010/main" val="211847024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descr="Capture d’écran"/>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73967" y="689548"/>
            <a:ext cx="7327537" cy="3653979"/>
          </a:xfrm>
          <a:prstGeom prst="rect">
            <a:avLst/>
          </a:prstGeom>
        </p:spPr>
      </p:pic>
    </p:spTree>
    <p:extLst>
      <p:ext uri="{BB962C8B-B14F-4D97-AF65-F5344CB8AC3E}">
        <p14:creationId xmlns:p14="http://schemas.microsoft.com/office/powerpoint/2010/main" val="72864958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107960" y="2660355"/>
            <a:ext cx="6096000" cy="1754326"/>
          </a:xfrm>
          <a:prstGeom prst="rect">
            <a:avLst/>
          </a:prstGeom>
        </p:spPr>
        <p:txBody>
          <a:bodyPr>
            <a:spAutoFit/>
          </a:bodyPr>
          <a:lstStyle/>
          <a:p>
            <a:r>
              <a:rPr lang="fr-FR" b="1" dirty="0">
                <a:solidFill>
                  <a:srgbClr val="000000"/>
                </a:solidFill>
                <a:latin typeface="CIDFont+F1"/>
              </a:rPr>
              <a:t>9. Liste des communes ayant eu au moins 50 ventes au 1er trimestre</a:t>
            </a:r>
            <a:endParaRPr lang="en-US" b="1" dirty="0" smtClean="0">
              <a:solidFill>
                <a:srgbClr val="000000"/>
              </a:solidFill>
              <a:latin typeface="CIDFont+F1"/>
            </a:endParaRPr>
          </a:p>
          <a:p>
            <a:endParaRPr lang="en-US" b="1" dirty="0">
              <a:solidFill>
                <a:srgbClr val="000000"/>
              </a:solidFill>
              <a:latin typeface="CIDFont+F1"/>
            </a:endParaRPr>
          </a:p>
          <a:p>
            <a:endParaRPr lang="en-US" dirty="0"/>
          </a:p>
          <a:p>
            <a:endParaRPr lang="en-US" dirty="0" smtClean="0"/>
          </a:p>
          <a:p>
            <a:endParaRPr lang="en-US" dirty="0" smtClean="0"/>
          </a:p>
        </p:txBody>
      </p:sp>
    </p:spTree>
    <p:extLst>
      <p:ext uri="{BB962C8B-B14F-4D97-AF65-F5344CB8AC3E}">
        <p14:creationId xmlns:p14="http://schemas.microsoft.com/office/powerpoint/2010/main" val="95539933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2" descr="Capture d’écran"/>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14597" y="284813"/>
            <a:ext cx="9401487" cy="6056026"/>
          </a:xfrm>
          <a:prstGeom prst="rect">
            <a:avLst/>
          </a:prstGeom>
        </p:spPr>
      </p:pic>
    </p:spTree>
    <p:extLst>
      <p:ext uri="{BB962C8B-B14F-4D97-AF65-F5344CB8AC3E}">
        <p14:creationId xmlns:p14="http://schemas.microsoft.com/office/powerpoint/2010/main" val="211646924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2" descr="Capture d’écran"/>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79292" y="0"/>
            <a:ext cx="8454452" cy="6029688"/>
          </a:xfrm>
          <a:prstGeom prst="rect">
            <a:avLst/>
          </a:prstGeom>
        </p:spPr>
      </p:pic>
    </p:spTree>
    <p:extLst>
      <p:ext uri="{BB962C8B-B14F-4D97-AF65-F5344CB8AC3E}">
        <p14:creationId xmlns:p14="http://schemas.microsoft.com/office/powerpoint/2010/main" val="18245414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238531" y="-2711142"/>
            <a:ext cx="6096000" cy="646331"/>
          </a:xfrm>
          <a:prstGeom prst="rect">
            <a:avLst/>
          </a:prstGeom>
        </p:spPr>
        <p:txBody>
          <a:bodyPr>
            <a:spAutoFit/>
          </a:bodyPr>
          <a:lstStyle/>
          <a:p>
            <a:r>
              <a:rPr lang="fr-FR" dirty="0" smtClean="0">
                <a:solidFill>
                  <a:srgbClr val="000000"/>
                </a:solidFill>
                <a:latin typeface="CIDFont+F2"/>
              </a:rPr>
              <a:t>;</a:t>
            </a:r>
            <a:r>
              <a:rPr lang="fr-FR" dirty="0" smtClean="0"/>
              <a:t> </a:t>
            </a:r>
            <a:r>
              <a:rPr lang="fr-FR" dirty="0"/>
              <a:t/>
            </a:r>
            <a:br>
              <a:rPr lang="fr-FR" dirty="0"/>
            </a:br>
            <a:endParaRPr lang="fr-FR" dirty="0"/>
          </a:p>
        </p:txBody>
      </p:sp>
      <p:sp>
        <p:nvSpPr>
          <p:cNvPr id="3" name="Rectangle 2"/>
          <p:cNvSpPr/>
          <p:nvPr/>
        </p:nvSpPr>
        <p:spPr>
          <a:xfrm>
            <a:off x="3048000" y="2967335"/>
            <a:ext cx="6096000" cy="1477328"/>
          </a:xfrm>
          <a:prstGeom prst="rect">
            <a:avLst/>
          </a:prstGeom>
        </p:spPr>
        <p:txBody>
          <a:bodyPr>
            <a:spAutoFit/>
          </a:bodyPr>
          <a:lstStyle/>
          <a:p>
            <a:r>
              <a:rPr lang="fr-FR" dirty="0"/>
              <a:t>10. Différence en pourcentage du prix au mètre carré entre un</a:t>
            </a:r>
          </a:p>
          <a:p>
            <a:r>
              <a:rPr lang="fr-FR" dirty="0"/>
              <a:t>appartement de 2 pièces et un appartement de 3 </a:t>
            </a:r>
            <a:r>
              <a:rPr lang="fr-FR" dirty="0" smtClean="0"/>
              <a:t>pièces</a:t>
            </a:r>
          </a:p>
          <a:p>
            <a:endParaRPr lang="fr-FR" dirty="0"/>
          </a:p>
          <a:p>
            <a:endParaRPr lang="fr-FR" dirty="0"/>
          </a:p>
        </p:txBody>
      </p:sp>
    </p:spTree>
    <p:extLst>
      <p:ext uri="{BB962C8B-B14F-4D97-AF65-F5344CB8AC3E}">
        <p14:creationId xmlns:p14="http://schemas.microsoft.com/office/powerpoint/2010/main" val="6915636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2" descr="Capture d’écran"/>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9862" y="149902"/>
            <a:ext cx="10577855" cy="6415790"/>
          </a:xfrm>
          <a:prstGeom prst="rect">
            <a:avLst/>
          </a:prstGeom>
        </p:spPr>
      </p:pic>
    </p:spTree>
    <p:extLst>
      <p:ext uri="{BB962C8B-B14F-4D97-AF65-F5344CB8AC3E}">
        <p14:creationId xmlns:p14="http://schemas.microsoft.com/office/powerpoint/2010/main" val="10537025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descr="Capture d’écran"/>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39646" y="584616"/>
            <a:ext cx="10700572" cy="5786204"/>
          </a:xfrm>
          <a:prstGeom prst="rect">
            <a:avLst/>
          </a:prstGeom>
        </p:spPr>
      </p:pic>
    </p:spTree>
    <p:extLst>
      <p:ext uri="{BB962C8B-B14F-4D97-AF65-F5344CB8AC3E}">
        <p14:creationId xmlns:p14="http://schemas.microsoft.com/office/powerpoint/2010/main" val="21373311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descr="Capture d’écran"/>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79489" y="239843"/>
            <a:ext cx="7883857" cy="4589527"/>
          </a:xfrm>
          <a:prstGeom prst="rect">
            <a:avLst/>
          </a:prstGeom>
        </p:spPr>
      </p:pic>
    </p:spTree>
    <p:extLst>
      <p:ext uri="{BB962C8B-B14F-4D97-AF65-F5344CB8AC3E}">
        <p14:creationId xmlns:p14="http://schemas.microsoft.com/office/powerpoint/2010/main" val="156113738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3048000" y="2967335"/>
            <a:ext cx="6096000" cy="923330"/>
          </a:xfrm>
          <a:prstGeom prst="rect">
            <a:avLst/>
          </a:prstGeom>
        </p:spPr>
        <p:txBody>
          <a:bodyPr>
            <a:spAutoFit/>
          </a:bodyPr>
          <a:lstStyle/>
          <a:p>
            <a:r>
              <a:rPr lang="fr-FR" dirty="0"/>
              <a:t>11. Les moyennes de valeurs foncières pour le top 3 des communes des</a:t>
            </a:r>
          </a:p>
          <a:p>
            <a:r>
              <a:rPr lang="fr-FR" dirty="0"/>
              <a:t>départements 6, 13, 33, 59 et 69.</a:t>
            </a:r>
          </a:p>
        </p:txBody>
      </p:sp>
    </p:spTree>
    <p:extLst>
      <p:ext uri="{BB962C8B-B14F-4D97-AF65-F5344CB8AC3E}">
        <p14:creationId xmlns:p14="http://schemas.microsoft.com/office/powerpoint/2010/main" val="194614747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2" descr="Capture d’écran"/>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19725" y="239843"/>
            <a:ext cx="10701414" cy="6250898"/>
          </a:xfrm>
          <a:prstGeom prst="rect">
            <a:avLst/>
          </a:prstGeom>
        </p:spPr>
      </p:pic>
    </p:spTree>
    <p:extLst>
      <p:ext uri="{BB962C8B-B14F-4D97-AF65-F5344CB8AC3E}">
        <p14:creationId xmlns:p14="http://schemas.microsoft.com/office/powerpoint/2010/main" val="302770295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descr="Capture d’écran"/>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24656" y="434715"/>
            <a:ext cx="10953720" cy="5546359"/>
          </a:xfrm>
          <a:prstGeom prst="rect">
            <a:avLst/>
          </a:prstGeom>
        </p:spPr>
      </p:pic>
    </p:spTree>
    <p:extLst>
      <p:ext uri="{BB962C8B-B14F-4D97-AF65-F5344CB8AC3E}">
        <p14:creationId xmlns:p14="http://schemas.microsoft.com/office/powerpoint/2010/main" val="317054585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descr="Capture d’écran"/>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59567" y="119921"/>
            <a:ext cx="9004043" cy="6490741"/>
          </a:xfrm>
          <a:prstGeom prst="rect">
            <a:avLst/>
          </a:prstGeom>
        </p:spPr>
      </p:pic>
    </p:spTree>
    <p:extLst>
      <p:ext uri="{BB962C8B-B14F-4D97-AF65-F5344CB8AC3E}">
        <p14:creationId xmlns:p14="http://schemas.microsoft.com/office/powerpoint/2010/main" val="11187157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048000" y="1720840"/>
            <a:ext cx="6096000" cy="1477328"/>
          </a:xfrm>
          <a:prstGeom prst="rect">
            <a:avLst/>
          </a:prstGeom>
        </p:spPr>
        <p:txBody>
          <a:bodyPr>
            <a:spAutoFit/>
          </a:bodyPr>
          <a:lstStyle/>
          <a:p>
            <a:r>
              <a:rPr lang="fr-FR" b="1" dirty="0">
                <a:solidFill>
                  <a:srgbClr val="000000"/>
                </a:solidFill>
                <a:latin typeface="CIDFont+F1"/>
              </a:rPr>
              <a:t>12. Les 20 communes avec le plus de transactions pour 1000 habitants</a:t>
            </a:r>
          </a:p>
          <a:p>
            <a:r>
              <a:rPr lang="fr-FR" b="1" dirty="0">
                <a:solidFill>
                  <a:srgbClr val="000000"/>
                </a:solidFill>
                <a:latin typeface="CIDFont+F1"/>
              </a:rPr>
              <a:t>pour les communes qui dépassent les 10 000 habitants.</a:t>
            </a:r>
            <a:endParaRPr lang="fr-FR" b="1" dirty="0" smtClean="0">
              <a:solidFill>
                <a:srgbClr val="000000"/>
              </a:solidFill>
              <a:latin typeface="CIDFont+F1"/>
            </a:endParaRPr>
          </a:p>
          <a:p>
            <a:endParaRPr lang="fr-FR" b="1" dirty="0">
              <a:solidFill>
                <a:srgbClr val="000000"/>
              </a:solidFill>
              <a:latin typeface="CIDFont+F1"/>
            </a:endParaRPr>
          </a:p>
        </p:txBody>
      </p:sp>
    </p:spTree>
    <p:extLst>
      <p:ext uri="{BB962C8B-B14F-4D97-AF65-F5344CB8AC3E}">
        <p14:creationId xmlns:p14="http://schemas.microsoft.com/office/powerpoint/2010/main" val="77820254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descr="Capture d’écran"/>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74754" y="179882"/>
            <a:ext cx="10389147" cy="6325849"/>
          </a:xfrm>
          <a:prstGeom prst="rect">
            <a:avLst/>
          </a:prstGeom>
        </p:spPr>
      </p:pic>
    </p:spTree>
    <p:extLst>
      <p:ext uri="{BB962C8B-B14F-4D97-AF65-F5344CB8AC3E}">
        <p14:creationId xmlns:p14="http://schemas.microsoft.com/office/powerpoint/2010/main" val="239960086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descr="Capture d’écran"/>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46966" y="674557"/>
            <a:ext cx="10698068" cy="4871803"/>
          </a:xfrm>
          <a:prstGeom prst="rect">
            <a:avLst/>
          </a:prstGeom>
        </p:spPr>
      </p:pic>
    </p:spTree>
    <p:extLst>
      <p:ext uri="{BB962C8B-B14F-4D97-AF65-F5344CB8AC3E}">
        <p14:creationId xmlns:p14="http://schemas.microsoft.com/office/powerpoint/2010/main" val="84645118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descr="Capture d’écran"/>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04931"/>
            <a:ext cx="9611215" cy="6580682"/>
          </a:xfrm>
          <a:prstGeom prst="rect">
            <a:avLst/>
          </a:prstGeom>
        </p:spPr>
      </p:pic>
    </p:spTree>
    <p:extLst>
      <p:ext uri="{BB962C8B-B14F-4D97-AF65-F5344CB8AC3E}">
        <p14:creationId xmlns:p14="http://schemas.microsoft.com/office/powerpoint/2010/main" val="292483542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048000" y="2921810"/>
            <a:ext cx="6096000" cy="1014380"/>
          </a:xfrm>
          <a:prstGeom prst="rect">
            <a:avLst/>
          </a:prstGeom>
        </p:spPr>
        <p:txBody>
          <a:bodyPr>
            <a:spAutoFit/>
          </a:bodyPr>
          <a:lstStyle/>
          <a:p>
            <a:pPr lvl="0">
              <a:lnSpc>
                <a:spcPct val="107000"/>
              </a:lnSpc>
              <a:spcAft>
                <a:spcPts val="800"/>
              </a:spcAft>
            </a:pPr>
            <a:r>
              <a:rPr lang="fr-FR" sz="2800" b="1" dirty="0">
                <a:solidFill>
                  <a:prstClr val="black"/>
                </a:solidFill>
                <a:latin typeface="Calibri" panose="020F0502020204030204" pitchFamily="34" charset="0"/>
                <a:ea typeface="Calibri" panose="020F0502020204030204" pitchFamily="34" charset="0"/>
                <a:cs typeface="Times New Roman" panose="02020603050405020304" pitchFamily="18" charset="0"/>
              </a:rPr>
              <a:t>NOUS ALLONS A PRESENT VOUS PRESENTER LES DIFFERENTES TABLES</a:t>
            </a:r>
            <a:endParaRPr lang="fr-FR" sz="1100" dirty="0">
              <a:solidFill>
                <a:prstClr val="black"/>
              </a:solidFill>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414017211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2" descr="Capture d’écran"/>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09666" y="119920"/>
            <a:ext cx="9428813" cy="6325849"/>
          </a:xfrm>
          <a:prstGeom prst="rect">
            <a:avLst/>
          </a:prstGeom>
        </p:spPr>
      </p:pic>
    </p:spTree>
    <p:extLst>
      <p:ext uri="{BB962C8B-B14F-4D97-AF65-F5344CB8AC3E}">
        <p14:creationId xmlns:p14="http://schemas.microsoft.com/office/powerpoint/2010/main" val="186696627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2" descr="Capture d’écran"/>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4695" y="149902"/>
            <a:ext cx="10056285" cy="6250898"/>
          </a:xfrm>
          <a:prstGeom prst="rect">
            <a:avLst/>
          </a:prstGeom>
        </p:spPr>
      </p:pic>
    </p:spTree>
    <p:extLst>
      <p:ext uri="{BB962C8B-B14F-4D97-AF65-F5344CB8AC3E}">
        <p14:creationId xmlns:p14="http://schemas.microsoft.com/office/powerpoint/2010/main" val="4090891575"/>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descr="Capture d’écran"/>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03554" y="239843"/>
            <a:ext cx="6073975" cy="5694581"/>
          </a:xfrm>
          <a:prstGeom prst="rect">
            <a:avLst/>
          </a:prstGeom>
        </p:spPr>
      </p:pic>
    </p:spTree>
    <p:extLst>
      <p:ext uri="{BB962C8B-B14F-4D97-AF65-F5344CB8AC3E}">
        <p14:creationId xmlns:p14="http://schemas.microsoft.com/office/powerpoint/2010/main" val="3260685174"/>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2" descr="Capture d’écran"/>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14597" y="344775"/>
            <a:ext cx="9291935" cy="5694440"/>
          </a:xfrm>
          <a:prstGeom prst="rect">
            <a:avLst/>
          </a:prstGeom>
        </p:spPr>
      </p:pic>
    </p:spTree>
    <p:extLst>
      <p:ext uri="{BB962C8B-B14F-4D97-AF65-F5344CB8AC3E}">
        <p14:creationId xmlns:p14="http://schemas.microsoft.com/office/powerpoint/2010/main" val="3237905532"/>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2" descr="Capture d’écran"/>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79292" y="104931"/>
            <a:ext cx="6955316" cy="6205783"/>
          </a:xfrm>
          <a:prstGeom prst="rect">
            <a:avLst/>
          </a:prstGeom>
        </p:spPr>
      </p:pic>
    </p:spTree>
    <p:extLst>
      <p:ext uri="{BB962C8B-B14F-4D97-AF65-F5344CB8AC3E}">
        <p14:creationId xmlns:p14="http://schemas.microsoft.com/office/powerpoint/2010/main" val="1963731038"/>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descr="Capture d’écran"/>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64892"/>
            <a:ext cx="12192000" cy="5276538"/>
          </a:xfrm>
          <a:prstGeom prst="rect">
            <a:avLst/>
          </a:prstGeom>
        </p:spPr>
      </p:pic>
    </p:spTree>
    <p:extLst>
      <p:ext uri="{BB962C8B-B14F-4D97-AF65-F5344CB8AC3E}">
        <p14:creationId xmlns:p14="http://schemas.microsoft.com/office/powerpoint/2010/main" val="3903517898"/>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descr="Capture d’écran"/>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91237" y="3424237"/>
            <a:ext cx="9526" cy="9526"/>
          </a:xfrm>
          <a:prstGeom prst="rect">
            <a:avLst/>
          </a:prstGeom>
        </p:spPr>
      </p:pic>
      <p:pic>
        <p:nvPicPr>
          <p:cNvPr id="3" name="Image 2" descr="Capture d’écran"/>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74754" y="134912"/>
            <a:ext cx="9612751" cy="6204382"/>
          </a:xfrm>
          <a:prstGeom prst="rect">
            <a:avLst/>
          </a:prstGeom>
        </p:spPr>
      </p:pic>
    </p:spTree>
    <p:extLst>
      <p:ext uri="{BB962C8B-B14F-4D97-AF65-F5344CB8AC3E}">
        <p14:creationId xmlns:p14="http://schemas.microsoft.com/office/powerpoint/2010/main" val="2402004931"/>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descr="Capture d’écran"/>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84814" y="164892"/>
            <a:ext cx="9259718" cy="5707611"/>
          </a:xfrm>
          <a:prstGeom prst="rect">
            <a:avLst/>
          </a:prstGeom>
        </p:spPr>
      </p:pic>
    </p:spTree>
    <p:extLst>
      <p:ext uri="{BB962C8B-B14F-4D97-AF65-F5344CB8AC3E}">
        <p14:creationId xmlns:p14="http://schemas.microsoft.com/office/powerpoint/2010/main" val="2625993390"/>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descr="Capture d’écran"/>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69823" y="0"/>
            <a:ext cx="9465235" cy="6175948"/>
          </a:xfrm>
          <a:prstGeom prst="rect">
            <a:avLst/>
          </a:prstGeom>
        </p:spPr>
      </p:pic>
    </p:spTree>
    <p:extLst>
      <p:ext uri="{BB962C8B-B14F-4D97-AF65-F5344CB8AC3E}">
        <p14:creationId xmlns:p14="http://schemas.microsoft.com/office/powerpoint/2010/main" val="2583531353"/>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descr="Capture d’écran"/>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84813" y="442495"/>
            <a:ext cx="9069191" cy="5973009"/>
          </a:xfrm>
          <a:prstGeom prst="rect">
            <a:avLst/>
          </a:prstGeom>
        </p:spPr>
      </p:pic>
    </p:spTree>
    <p:extLst>
      <p:ext uri="{BB962C8B-B14F-4D97-AF65-F5344CB8AC3E}">
        <p14:creationId xmlns:p14="http://schemas.microsoft.com/office/powerpoint/2010/main" val="2658628135"/>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descr="Capture d’écran"/>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08879" y="539646"/>
            <a:ext cx="6582940" cy="4637435"/>
          </a:xfrm>
          <a:prstGeom prst="rect">
            <a:avLst/>
          </a:prstGeom>
        </p:spPr>
      </p:pic>
    </p:spTree>
    <p:extLst>
      <p:ext uri="{BB962C8B-B14F-4D97-AF65-F5344CB8AC3E}">
        <p14:creationId xmlns:p14="http://schemas.microsoft.com/office/powerpoint/2010/main" val="4037054559"/>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303056589"/>
      </p:ext>
    </p:extLst>
  </p:cSld>
  <p:clrMapOvr>
    <a:masterClrMapping/>
  </p:clrMapOvr>
</p:sld>
</file>

<file path=ppt/theme/theme1.xml><?xml version="1.0" encoding="utf-8"?>
<a:theme xmlns:a="http://schemas.openxmlformats.org/drawingml/2006/main" name="Facette">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Facet</Template>
  <TotalTime>14314</TotalTime>
  <Words>258</Words>
  <Application>Microsoft Office PowerPoint</Application>
  <PresentationFormat>Grand écran</PresentationFormat>
  <Paragraphs>44</Paragraphs>
  <Slides>61</Slides>
  <Notes>1</Notes>
  <HiddenSlides>0</HiddenSlides>
  <MMClips>0</MMClips>
  <ScaleCrop>false</ScaleCrop>
  <HeadingPairs>
    <vt:vector size="6" baseType="variant">
      <vt:variant>
        <vt:lpstr>Polices utilisées</vt:lpstr>
      </vt:variant>
      <vt:variant>
        <vt:i4>7</vt:i4>
      </vt:variant>
      <vt:variant>
        <vt:lpstr>Thème</vt:lpstr>
      </vt:variant>
      <vt:variant>
        <vt:i4>1</vt:i4>
      </vt:variant>
      <vt:variant>
        <vt:lpstr>Titres des diapositives</vt:lpstr>
      </vt:variant>
      <vt:variant>
        <vt:i4>61</vt:i4>
      </vt:variant>
    </vt:vector>
  </HeadingPairs>
  <TitlesOfParts>
    <vt:vector size="69" baseType="lpstr">
      <vt:lpstr>Arial</vt:lpstr>
      <vt:lpstr>Calibri</vt:lpstr>
      <vt:lpstr>CIDFont+F1</vt:lpstr>
      <vt:lpstr>CIDFont+F2</vt:lpstr>
      <vt:lpstr>Times New Roman</vt:lpstr>
      <vt:lpstr>Trebuchet MS</vt:lpstr>
      <vt:lpstr>Wingdings 3</vt:lpstr>
      <vt:lpstr>Facette</vt:lpstr>
      <vt:lpstr>PROJET D’EXPANSION</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PROJET D’EXPANSION</dc:title>
  <dc:creator>User</dc:creator>
  <cp:lastModifiedBy>User</cp:lastModifiedBy>
  <cp:revision>50</cp:revision>
  <dcterms:created xsi:type="dcterms:W3CDTF">2025-07-31T10:43:46Z</dcterms:created>
  <dcterms:modified xsi:type="dcterms:W3CDTF">2025-11-05T20:13:02Z</dcterms:modified>
</cp:coreProperties>
</file>