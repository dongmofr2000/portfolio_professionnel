
<file path=[Content_Types].xml><?xml version="1.0" encoding="utf-8"?>
<Types xmlns="http://schemas.openxmlformats.org/package/2006/content-types">
  <Default Extension="tmp" ContentType="image/png"/>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5"/>
  </p:notesMasterIdLst>
  <p:sldIdLst>
    <p:sldId id="256" r:id="rId2"/>
    <p:sldId id="337" r:id="rId3"/>
    <p:sldId id="257" r:id="rId4"/>
    <p:sldId id="261" r:id="rId5"/>
    <p:sldId id="262" r:id="rId6"/>
    <p:sldId id="258" r:id="rId7"/>
    <p:sldId id="264" r:id="rId8"/>
    <p:sldId id="265" r:id="rId9"/>
    <p:sldId id="266" r:id="rId10"/>
    <p:sldId id="268" r:id="rId11"/>
    <p:sldId id="269" r:id="rId12"/>
    <p:sldId id="267" r:id="rId13"/>
    <p:sldId id="270" r:id="rId14"/>
    <p:sldId id="373" r:id="rId15"/>
    <p:sldId id="259" r:id="rId16"/>
    <p:sldId id="303" r:id="rId17"/>
    <p:sldId id="272" r:id="rId18"/>
    <p:sldId id="273" r:id="rId19"/>
    <p:sldId id="275" r:id="rId20"/>
    <p:sldId id="376" r:id="rId21"/>
    <p:sldId id="277" r:id="rId22"/>
    <p:sldId id="400" r:id="rId23"/>
    <p:sldId id="278" r:id="rId24"/>
    <p:sldId id="401" r:id="rId25"/>
    <p:sldId id="402" r:id="rId26"/>
    <p:sldId id="403" r:id="rId27"/>
    <p:sldId id="404" r:id="rId28"/>
    <p:sldId id="405" r:id="rId29"/>
    <p:sldId id="406" r:id="rId30"/>
    <p:sldId id="407" r:id="rId31"/>
    <p:sldId id="283" r:id="rId32"/>
    <p:sldId id="408" r:id="rId33"/>
    <p:sldId id="409" r:id="rId34"/>
    <p:sldId id="286" r:id="rId35"/>
    <p:sldId id="287" r:id="rId36"/>
    <p:sldId id="388" r:id="rId37"/>
    <p:sldId id="389" r:id="rId38"/>
    <p:sldId id="288" r:id="rId39"/>
    <p:sldId id="289" r:id="rId40"/>
    <p:sldId id="290" r:id="rId41"/>
    <p:sldId id="390" r:id="rId42"/>
    <p:sldId id="291" r:id="rId43"/>
    <p:sldId id="292" r:id="rId44"/>
    <p:sldId id="293" r:id="rId45"/>
    <p:sldId id="391" r:id="rId46"/>
    <p:sldId id="294" r:id="rId47"/>
    <p:sldId id="295" r:id="rId48"/>
    <p:sldId id="296" r:id="rId49"/>
    <p:sldId id="392" r:id="rId50"/>
    <p:sldId id="393" r:id="rId51"/>
    <p:sldId id="297" r:id="rId52"/>
    <p:sldId id="298" r:id="rId53"/>
    <p:sldId id="299" r:id="rId54"/>
    <p:sldId id="394" r:id="rId55"/>
    <p:sldId id="395" r:id="rId56"/>
    <p:sldId id="300" r:id="rId57"/>
    <p:sldId id="398" r:id="rId58"/>
    <p:sldId id="380" r:id="rId59"/>
    <p:sldId id="381" r:id="rId60"/>
    <p:sldId id="396" r:id="rId61"/>
    <p:sldId id="397" r:id="rId62"/>
    <p:sldId id="399" r:id="rId63"/>
    <p:sldId id="260" r:id="rId64"/>
    <p:sldId id="308" r:id="rId65"/>
    <p:sldId id="309" r:id="rId66"/>
    <p:sldId id="311" r:id="rId67"/>
    <p:sldId id="312" r:id="rId68"/>
    <p:sldId id="313" r:id="rId69"/>
    <p:sldId id="316" r:id="rId70"/>
    <p:sldId id="317" r:id="rId71"/>
    <p:sldId id="310" r:id="rId72"/>
    <p:sldId id="379" r:id="rId73"/>
    <p:sldId id="378"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4" r:id="rId89"/>
    <p:sldId id="335" r:id="rId90"/>
    <p:sldId id="336" r:id="rId91"/>
    <p:sldId id="377" r:id="rId92"/>
    <p:sldId id="342" r:id="rId93"/>
    <p:sldId id="332" r:id="rId94"/>
    <p:sldId id="343" r:id="rId95"/>
    <p:sldId id="339" r:id="rId96"/>
    <p:sldId id="340" r:id="rId97"/>
    <p:sldId id="341" r:id="rId98"/>
    <p:sldId id="333" r:id="rId99"/>
    <p:sldId id="344" r:id="rId100"/>
    <p:sldId id="345" r:id="rId101"/>
    <p:sldId id="346" r:id="rId102"/>
    <p:sldId id="347" r:id="rId103"/>
    <p:sldId id="348" r:id="rId104"/>
    <p:sldId id="353" r:id="rId105"/>
    <p:sldId id="354" r:id="rId106"/>
    <p:sldId id="355" r:id="rId107"/>
    <p:sldId id="356" r:id="rId108"/>
    <p:sldId id="349" r:id="rId109"/>
    <p:sldId id="350" r:id="rId110"/>
    <p:sldId id="351" r:id="rId111"/>
    <p:sldId id="352" r:id="rId112"/>
    <p:sldId id="357" r:id="rId113"/>
    <p:sldId id="358" r:id="rId114"/>
    <p:sldId id="359" r:id="rId115"/>
    <p:sldId id="362" r:id="rId116"/>
    <p:sldId id="363" r:id="rId117"/>
    <p:sldId id="364" r:id="rId118"/>
    <p:sldId id="361" r:id="rId119"/>
    <p:sldId id="366" r:id="rId120"/>
    <p:sldId id="369" r:id="rId121"/>
    <p:sldId id="370" r:id="rId122"/>
    <p:sldId id="367" r:id="rId123"/>
    <p:sldId id="368" r:id="rId124"/>
  </p:sldIdLst>
  <p:sldSz cx="9144000" cy="5143500" type="screen16x9"/>
  <p:notesSz cx="6858000" cy="9144000"/>
  <p:embeddedFontLst>
    <p:embeddedFont>
      <p:font typeface="Inter" panose="020B0604020202020204" charset="0"/>
      <p:regular r:id="rId126"/>
      <p:bold r:id="rId127"/>
      <p:italic r:id="rId128"/>
      <p:boldItalic r:id="rId1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75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font" Target="fonts/font3.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font" Target="fonts/font4.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01f22bfd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01f22bfd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01f22bfd9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01f22bfd9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01f22bfd9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01f22bfd9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01f22bfd96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01f22bfd96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29.tmp"/><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image" Target="../media/image35.tmp"/><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image" Target="../media/image37.tmp"/><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39.tmp"/><Relationship Id="rId2" Type="http://schemas.openxmlformats.org/officeDocument/2006/relationships/image" Target="../media/image38.tmp"/><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image" Target="../media/image40.tmp"/><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47.tmp"/><Relationship Id="rId2" Type="http://schemas.openxmlformats.org/officeDocument/2006/relationships/image" Target="../media/image46.tmp"/><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image" Target="../media/image48.tmp"/><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image" Target="../media/image52.tmp"/><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2" Type="http://schemas.openxmlformats.org/officeDocument/2006/relationships/image" Target="../media/image53.tmp"/><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image" Target="../media/image54.tmp"/><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2" Type="http://schemas.openxmlformats.org/officeDocument/2006/relationships/image" Target="../media/image55.tmp"/><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2" Type="http://schemas.openxmlformats.org/officeDocument/2006/relationships/image" Target="../media/image56.tmp"/><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3" Type="http://schemas.openxmlformats.org/officeDocument/2006/relationships/image" Target="../media/image60.tmp"/><Relationship Id="rId2" Type="http://schemas.openxmlformats.org/officeDocument/2006/relationships/image" Target="../media/image59.tmp"/><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2" Type="http://schemas.openxmlformats.org/officeDocument/2006/relationships/image" Target="../media/image61.tmp"/><Relationship Id="rId1" Type="http://schemas.openxmlformats.org/officeDocument/2006/relationships/slideLayout" Target="../slideLayouts/slideLayout1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3" Type="http://schemas.openxmlformats.org/officeDocument/2006/relationships/image" Target="../media/image63.tmp"/><Relationship Id="rId2" Type="http://schemas.openxmlformats.org/officeDocument/2006/relationships/image" Target="../media/image62.tmp"/><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2" Type="http://schemas.openxmlformats.org/officeDocument/2006/relationships/image" Target="../media/image64.tmp"/><Relationship Id="rId1" Type="http://schemas.openxmlformats.org/officeDocument/2006/relationships/slideLayout" Target="../slideLayouts/slideLayout11.xml"/></Relationships>
</file>

<file path=ppt/slides/_rels/slide120.xml.rels><?xml version="1.0" encoding="UTF-8" standalone="yes"?>
<Relationships xmlns="http://schemas.openxmlformats.org/package/2006/relationships"><Relationship Id="rId2" Type="http://schemas.openxmlformats.org/officeDocument/2006/relationships/image" Target="../media/image65.tmp"/><Relationship Id="rId1" Type="http://schemas.openxmlformats.org/officeDocument/2006/relationships/slideLayout" Target="../slideLayouts/slideLayout11.xml"/></Relationships>
</file>

<file path=ppt/slides/_rels/slide121.xml.rels><?xml version="1.0" encoding="UTF-8" standalone="yes"?>
<Relationships xmlns="http://schemas.openxmlformats.org/package/2006/relationships"><Relationship Id="rId2" Type="http://schemas.openxmlformats.org/officeDocument/2006/relationships/image" Target="../media/image66.tmp"/><Relationship Id="rId1" Type="http://schemas.openxmlformats.org/officeDocument/2006/relationships/slideLayout" Target="../slideLayouts/slideLayout11.xml"/></Relationships>
</file>

<file path=ppt/slides/_rels/slide122.xml.rels><?xml version="1.0" encoding="UTF-8" standalone="yes"?>
<Relationships xmlns="http://schemas.openxmlformats.org/package/2006/relationships"><Relationship Id="rId2" Type="http://schemas.openxmlformats.org/officeDocument/2006/relationships/image" Target="../media/image67.tmp"/><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2" Type="http://schemas.openxmlformats.org/officeDocument/2006/relationships/image" Target="../media/image68.tmp"/><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fr"/>
              <a:t>Template de présentation du projet 7</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fr"/>
              <a:t>À adapter à votre guise quant au nombre de pages et de qualité visuelle souhaitée.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982"/>
            <a:ext cx="8115300" cy="3754874"/>
          </a:xfrm>
          <a:prstGeom prst="rect">
            <a:avLst/>
          </a:prstGeom>
        </p:spPr>
        <p:txBody>
          <a:bodyPr wrap="square">
            <a:spAutoFit/>
          </a:bodyPr>
          <a:lstStyle/>
          <a:p>
            <a:pPr algn="just"/>
            <a:r>
              <a:rPr lang="fr-FR" dirty="0" smtClean="0"/>
              <a:t>Etant Data </a:t>
            </a:r>
            <a:r>
              <a:rPr lang="fr-FR" dirty="0" err="1"/>
              <a:t>Engineer</a:t>
            </a:r>
            <a:r>
              <a:rPr lang="fr-FR" dirty="0"/>
              <a:t> pour l'association </a:t>
            </a:r>
            <a:r>
              <a:rPr lang="fr-FR" dirty="0" err="1"/>
              <a:t>NosCités</a:t>
            </a:r>
            <a:r>
              <a:rPr lang="fr-FR" dirty="0"/>
              <a:t>. La mission de cette association est de surveiller les plateformes de location à court terme pour analyser leur impact sur l'offre de logements à Paris et Lyon et ainsi informer le débat public.</a:t>
            </a:r>
          </a:p>
          <a:p>
            <a:pPr algn="just"/>
            <a:r>
              <a:rPr lang="fr-FR" dirty="0"/>
              <a:t>Le contexte du projet est le suivant </a:t>
            </a:r>
            <a:r>
              <a:rPr lang="fr-FR" dirty="0" smtClean="0"/>
              <a:t>:</a:t>
            </a:r>
          </a:p>
          <a:p>
            <a:pPr algn="just"/>
            <a:endParaRPr lang="fr-FR" dirty="0"/>
          </a:p>
          <a:p>
            <a:pPr algn="just">
              <a:buFont typeface="Arial" panose="020B0604020202020204" pitchFamily="34" charset="0"/>
              <a:buChar char="•"/>
            </a:pPr>
            <a:r>
              <a:rPr lang="fr-FR" b="1" dirty="0"/>
              <a:t>Le problème initial</a:t>
            </a:r>
            <a:r>
              <a:rPr lang="fr-FR" dirty="0"/>
              <a:t> : La base de données des locations à Paris a subi un crash total, causé par une mauvaise gestion et potentiellement une attaque. L'association n'utilise pas de services cloud et gère ses propres serveurs pour des raisons d'indépendance</a:t>
            </a:r>
            <a:r>
              <a:rPr lang="fr-FR" dirty="0" smtClean="0"/>
              <a:t>.</a:t>
            </a:r>
          </a:p>
          <a:p>
            <a:pPr algn="just"/>
            <a:endParaRPr lang="fr-FR" dirty="0"/>
          </a:p>
          <a:p>
            <a:pPr algn="just">
              <a:buFont typeface="Arial" panose="020B0604020202020204" pitchFamily="34" charset="0"/>
              <a:buChar char="•"/>
            </a:pPr>
            <a:r>
              <a:rPr lang="fr-FR" b="1" dirty="0"/>
              <a:t>Votre mission</a:t>
            </a:r>
            <a:r>
              <a:rPr lang="fr-FR" dirty="0"/>
              <a:t> : Vous avez retrouvé une sauvegarde des données de Paris, mais sa fiabilité est incertaine. Votre rôle est d'</a:t>
            </a:r>
            <a:r>
              <a:rPr lang="fr-FR" b="1" dirty="0"/>
              <a:t>analyser et de vérifier l'intégrité de cette sauvegarde</a:t>
            </a:r>
            <a:r>
              <a:rPr lang="fr-FR" dirty="0"/>
              <a:t> avec l'équipe parisienne</a:t>
            </a:r>
            <a:r>
              <a:rPr lang="fr-FR" dirty="0" smtClean="0"/>
              <a:t>.</a:t>
            </a:r>
          </a:p>
          <a:p>
            <a:pPr algn="just"/>
            <a:endParaRPr lang="fr-FR" dirty="0"/>
          </a:p>
          <a:p>
            <a:pPr algn="just"/>
            <a:r>
              <a:rPr lang="fr-FR" dirty="0"/>
              <a:t>Ce projet se divise en trois grandes étapes pour atteindre cet objectif :</a:t>
            </a:r>
          </a:p>
          <a:p>
            <a:pPr algn="just">
              <a:buFont typeface="+mj-lt"/>
              <a:buAutoNum type="arabicPeriod"/>
            </a:pPr>
            <a:r>
              <a:rPr lang="fr-FR" b="1" dirty="0"/>
              <a:t>Restaurer</a:t>
            </a:r>
            <a:r>
              <a:rPr lang="fr-FR" dirty="0"/>
              <a:t> la base de données </a:t>
            </a:r>
            <a:r>
              <a:rPr lang="fr-FR" dirty="0" err="1"/>
              <a:t>MongoDB</a:t>
            </a:r>
            <a:r>
              <a:rPr lang="fr-FR" dirty="0"/>
              <a:t> à partir de la sauvegarde.</a:t>
            </a:r>
          </a:p>
          <a:p>
            <a:pPr algn="just">
              <a:buFont typeface="+mj-lt"/>
              <a:buAutoNum type="arabicPeriod"/>
            </a:pPr>
            <a:r>
              <a:rPr lang="fr-FR" b="1" dirty="0"/>
              <a:t>Analyser</a:t>
            </a:r>
            <a:r>
              <a:rPr lang="fr-FR" dirty="0"/>
              <a:t> son intégrité en exécutant une série de requêtes.</a:t>
            </a:r>
          </a:p>
          <a:p>
            <a:pPr algn="just">
              <a:buFont typeface="+mj-lt"/>
              <a:buAutoNum type="arabicPeriod"/>
            </a:pPr>
            <a:r>
              <a:rPr lang="fr-FR" b="1" dirty="0"/>
              <a:t>Pérenniser</a:t>
            </a:r>
            <a:r>
              <a:rPr lang="fr-FR" dirty="0"/>
              <a:t> son utilisation pour prévenir de futurs incidents.</a:t>
            </a:r>
          </a:p>
        </p:txBody>
      </p:sp>
    </p:spTree>
    <p:extLst>
      <p:ext uri="{BB962C8B-B14F-4D97-AF65-F5344CB8AC3E}">
        <p14:creationId xmlns:p14="http://schemas.microsoft.com/office/powerpoint/2010/main" val="4183550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Contexte du projet et importation des données</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fr"/>
              <a:t>Intégrez des captures d’écran présentant votre importation des données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2737"/>
            <a:ext cx="7728087" cy="5143500"/>
          </a:xfrm>
          <a:prstGeom prst="rect">
            <a:avLst/>
          </a:prstGeom>
        </p:spPr>
      </p:pic>
    </p:spTree>
    <p:extLst>
      <p:ext uri="{BB962C8B-B14F-4D97-AF65-F5344CB8AC3E}">
        <p14:creationId xmlns:p14="http://schemas.microsoft.com/office/powerpoint/2010/main" val="729658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4332650"/>
          </a:xfrm>
          <a:prstGeom prst="rect">
            <a:avLst/>
          </a:prstGeom>
        </p:spPr>
      </p:pic>
    </p:spTree>
    <p:extLst>
      <p:ext uri="{BB962C8B-B14F-4D97-AF65-F5344CB8AC3E}">
        <p14:creationId xmlns:p14="http://schemas.microsoft.com/office/powerpoint/2010/main" val="4241964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Partie 1 </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371600" marR="152400" lvl="2" indent="-304800" algn="l" rtl="0">
              <a:spcBef>
                <a:spcPts val="0"/>
              </a:spcBef>
              <a:spcAft>
                <a:spcPts val="0"/>
              </a:spcAft>
              <a:buClr>
                <a:srgbClr val="271A38"/>
              </a:buClr>
              <a:buSzPts val="1200"/>
              <a:buFont typeface="Inter"/>
              <a:buChar char="■"/>
            </a:pPr>
            <a:r>
              <a:rPr lang="fr" sz="1200" dirty="0">
                <a:solidFill>
                  <a:srgbClr val="271A38"/>
                </a:solidFill>
                <a:latin typeface="Inter"/>
                <a:ea typeface="Inter"/>
                <a:cs typeface="Inter"/>
                <a:sym typeface="Inter"/>
              </a:rPr>
              <a:t>la description d’un document avec le type des données ;</a:t>
            </a:r>
            <a:endParaRPr sz="1200" dirty="0">
              <a:solidFill>
                <a:srgbClr val="271A38"/>
              </a:solidFill>
              <a:latin typeface="Inter"/>
              <a:ea typeface="Inter"/>
              <a:cs typeface="Inter"/>
              <a:sym typeface="Inter"/>
            </a:endParaRPr>
          </a:p>
          <a:p>
            <a:pPr marL="1371600" marR="152400" lvl="2" indent="-304800" algn="l" rtl="0">
              <a:spcBef>
                <a:spcPts val="0"/>
              </a:spcBef>
              <a:spcAft>
                <a:spcPts val="0"/>
              </a:spcAft>
              <a:buClr>
                <a:srgbClr val="271A38"/>
              </a:buClr>
              <a:buSzPts val="1200"/>
              <a:buFont typeface="Inter"/>
              <a:buChar char="■"/>
            </a:pPr>
            <a:r>
              <a:rPr lang="fr" sz="1200" dirty="0">
                <a:solidFill>
                  <a:srgbClr val="271A38"/>
                </a:solidFill>
                <a:latin typeface="Inter"/>
                <a:ea typeface="Inter"/>
                <a:cs typeface="Inter"/>
                <a:sym typeface="Inter"/>
              </a:rPr>
              <a:t>les avantages du NoSQL dans ce contexte de données ;</a:t>
            </a:r>
            <a:endParaRPr sz="1200" dirty="0">
              <a:solidFill>
                <a:srgbClr val="271A38"/>
              </a:solidFill>
              <a:latin typeface="Inter"/>
              <a:ea typeface="Inter"/>
              <a:cs typeface="Inter"/>
              <a:sym typeface="Inter"/>
            </a:endParaRPr>
          </a:p>
          <a:p>
            <a:pPr marL="1371600" marR="152400" lvl="2" indent="-304800" algn="l" rtl="0">
              <a:spcBef>
                <a:spcPts val="0"/>
              </a:spcBef>
              <a:spcAft>
                <a:spcPts val="0"/>
              </a:spcAft>
              <a:buClr>
                <a:srgbClr val="271A38"/>
              </a:buClr>
              <a:buSzPts val="1200"/>
              <a:buFont typeface="Inter"/>
              <a:buChar char="■"/>
            </a:pPr>
            <a:r>
              <a:rPr lang="fr" sz="1200" dirty="0">
                <a:solidFill>
                  <a:srgbClr val="271A38"/>
                </a:solidFill>
                <a:latin typeface="Inter"/>
                <a:ea typeface="Inter"/>
                <a:cs typeface="Inter"/>
                <a:sym typeface="Inter"/>
              </a:rPr>
              <a:t>les premières requêtes et leurs résultats (nombre de documents de la base de données, nombre de logements avec des disponibilités)</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572000" cy="646331"/>
          </a:xfrm>
          <a:prstGeom prst="rect">
            <a:avLst/>
          </a:prstGeom>
        </p:spPr>
        <p:txBody>
          <a:bodyPr>
            <a:spAutoFit/>
          </a:bodyPr>
          <a:lstStyle/>
          <a:p>
            <a:r>
              <a:rPr lang="fr-FR" sz="1800" dirty="0"/>
              <a:t>Affichez le premier document de la base de données pour observer ses champs</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8144"/>
            <a:ext cx="9144000" cy="4509655"/>
          </a:xfrm>
          <a:prstGeom prst="rect">
            <a:avLst/>
          </a:prstGeom>
        </p:spPr>
      </p:pic>
    </p:spTree>
    <p:extLst>
      <p:ext uri="{BB962C8B-B14F-4D97-AF65-F5344CB8AC3E}">
        <p14:creationId xmlns:p14="http://schemas.microsoft.com/office/powerpoint/2010/main" val="2398249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517" y="0"/>
            <a:ext cx="6816437" cy="1384995"/>
          </a:xfrm>
          <a:prstGeom prst="rect">
            <a:avLst/>
          </a:prstGeom>
        </p:spPr>
        <p:txBody>
          <a:bodyPr wrap="square">
            <a:spAutoFit/>
          </a:bodyPr>
          <a:lstStyle/>
          <a:p>
            <a:r>
              <a:rPr lang="fr-FR" sz="2800" dirty="0"/>
              <a:t>Expliquez pourquoi le </a:t>
            </a:r>
            <a:r>
              <a:rPr lang="fr-FR" sz="2800" dirty="0" err="1"/>
              <a:t>NoSQL</a:t>
            </a:r>
            <a:r>
              <a:rPr lang="fr-FR" sz="2800" dirty="0"/>
              <a:t> est indiqué dans ce cas par rapport à une base SQL classique</a:t>
            </a:r>
          </a:p>
        </p:txBody>
      </p:sp>
    </p:spTree>
    <p:extLst>
      <p:ext uri="{BB962C8B-B14F-4D97-AF65-F5344CB8AC3E}">
        <p14:creationId xmlns:p14="http://schemas.microsoft.com/office/powerpoint/2010/main" val="1402027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345" y="0"/>
            <a:ext cx="9050482" cy="4770537"/>
          </a:xfrm>
          <a:prstGeom prst="rect">
            <a:avLst/>
          </a:prstGeom>
        </p:spPr>
        <p:txBody>
          <a:bodyPr wrap="square">
            <a:spAutoFit/>
          </a:bodyPr>
          <a:lstStyle/>
          <a:p>
            <a:r>
              <a:rPr lang="fr-FR" sz="1600" dirty="0"/>
              <a:t>Dans le cas d'une collection de données sur le logement, les bases de données </a:t>
            </a:r>
            <a:r>
              <a:rPr lang="fr-FR" sz="1600" dirty="0" err="1"/>
              <a:t>NoSQL</a:t>
            </a:r>
            <a:r>
              <a:rPr lang="fr-FR" sz="1600" dirty="0"/>
              <a:t>, et plus particulièrement les bases de données orientées documents comme </a:t>
            </a:r>
            <a:r>
              <a:rPr lang="fr-FR" sz="1600" dirty="0" err="1"/>
              <a:t>MongoDB</a:t>
            </a:r>
            <a:r>
              <a:rPr lang="fr-FR" sz="1600" dirty="0"/>
              <a:t> (qui est utilisée par Studio 3T), sont souvent un choix plus approprié que les bases de données SQL classiques. Voici les raisons principales :</a:t>
            </a:r>
          </a:p>
          <a:p>
            <a:endParaRPr lang="fr-FR" sz="1600" dirty="0"/>
          </a:p>
          <a:p>
            <a:r>
              <a:rPr lang="fr-FR" sz="1600" dirty="0"/>
              <a:t>1. Schéma flexible</a:t>
            </a:r>
          </a:p>
          <a:p>
            <a:endParaRPr lang="fr-FR" sz="1600" dirty="0"/>
          </a:p>
          <a:p>
            <a:r>
              <a:rPr lang="fr-FR" sz="1600" dirty="0"/>
              <a:t>    </a:t>
            </a:r>
            <a:r>
              <a:rPr lang="fr-FR" sz="1600" dirty="0" err="1"/>
              <a:t>NoSQL</a:t>
            </a:r>
            <a:r>
              <a:rPr lang="fr-FR" sz="1600" dirty="0"/>
              <a:t> (</a:t>
            </a:r>
            <a:r>
              <a:rPr lang="fr-FR" sz="1600" dirty="0" err="1"/>
              <a:t>MongoDB</a:t>
            </a:r>
            <a:r>
              <a:rPr lang="fr-FR" sz="1600" dirty="0"/>
              <a:t>) : Les bases de données </a:t>
            </a:r>
            <a:r>
              <a:rPr lang="fr-FR" sz="1600" dirty="0" err="1"/>
              <a:t>NoSQL</a:t>
            </a:r>
            <a:r>
              <a:rPr lang="fr-FR" sz="1600" dirty="0"/>
              <a:t> orientées documents sont "</a:t>
            </a:r>
            <a:r>
              <a:rPr lang="fr-FR" sz="1600" dirty="0" err="1"/>
              <a:t>schemaless</a:t>
            </a:r>
            <a:r>
              <a:rPr lang="fr-FR" sz="1600" dirty="0"/>
              <a:t>" (sans schéma fixe). Cela signifie que chaque document dans la collection logement peut avoir une structure différente. Un logement peut avoir des champs comme superficie, </a:t>
            </a:r>
            <a:r>
              <a:rPr lang="fr-FR" sz="1600" dirty="0" err="1"/>
              <a:t>nombre_de_chambres</a:t>
            </a:r>
            <a:r>
              <a:rPr lang="fr-FR" sz="1600" dirty="0"/>
              <a:t> et jardin, tandis qu'un autre pourrait avoir balcon, exposition et cave, sans que cela ne pose de problème. Il n'y a pas de nécessité de définir à l'avance toutes les colonnes et leurs types.</a:t>
            </a:r>
          </a:p>
          <a:p>
            <a:endParaRPr lang="fr-FR" sz="1600" dirty="0"/>
          </a:p>
          <a:p>
            <a:r>
              <a:rPr lang="fr-FR" sz="1600" dirty="0"/>
              <a:t>    SQL (Classique) : Une base de données SQL (comme MySQL, PostgreSQL) nécessite un schéma rigide. Vous devez définir la structure de la table logement avec des colonnes prédéfinies (id, superficie, </a:t>
            </a:r>
            <a:r>
              <a:rPr lang="fr-FR" sz="1600" dirty="0" err="1"/>
              <a:t>nombre_de_chambres</a:t>
            </a:r>
            <a:r>
              <a:rPr lang="fr-FR" sz="1600" dirty="0"/>
              <a:t>, etc.) et des types de données (INT, VARCHAR, etc.). Si vous voulez ajouter un champ jardin pour seulement quelques logements, vous devrez ajouter une nouvelle colonne à toute la table, ce qui peut rendre le schéma complexe et inefficace, avec de nombreuses valeurs NULL</a:t>
            </a:r>
          </a:p>
        </p:txBody>
      </p:sp>
    </p:spTree>
    <p:extLst>
      <p:ext uri="{BB962C8B-B14F-4D97-AF65-F5344CB8AC3E}">
        <p14:creationId xmlns:p14="http://schemas.microsoft.com/office/powerpoint/2010/main" val="4149038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728364" cy="3785652"/>
          </a:xfrm>
          <a:prstGeom prst="rect">
            <a:avLst/>
          </a:prstGeom>
        </p:spPr>
        <p:txBody>
          <a:bodyPr wrap="square">
            <a:spAutoFit/>
          </a:bodyPr>
          <a:lstStyle/>
          <a:p>
            <a:r>
              <a:rPr lang="fr-FR" dirty="0"/>
              <a:t>2</a:t>
            </a:r>
            <a:r>
              <a:rPr lang="fr-FR" sz="1600" dirty="0"/>
              <a:t>. Modélisation des données complexe et imbriquée</a:t>
            </a:r>
          </a:p>
          <a:p>
            <a:endParaRPr lang="fr-FR" sz="1600" dirty="0"/>
          </a:p>
          <a:p>
            <a:r>
              <a:rPr lang="fr-FR" sz="1600" dirty="0"/>
              <a:t>    </a:t>
            </a:r>
            <a:r>
              <a:rPr lang="fr-FR" sz="1600" dirty="0" err="1"/>
              <a:t>NoSQL</a:t>
            </a:r>
            <a:r>
              <a:rPr lang="fr-FR" sz="1600" dirty="0"/>
              <a:t> (</a:t>
            </a:r>
            <a:r>
              <a:rPr lang="fr-FR" sz="1600" dirty="0" err="1"/>
              <a:t>MongoDB</a:t>
            </a:r>
            <a:r>
              <a:rPr lang="fr-FR" sz="1600" dirty="0"/>
              <a:t>) : Les documents permettent de stocker des données imbriquées (</a:t>
            </a:r>
            <a:r>
              <a:rPr lang="fr-FR" sz="1600" dirty="0" err="1"/>
              <a:t>nested</a:t>
            </a:r>
            <a:r>
              <a:rPr lang="fr-FR" sz="1600" dirty="0"/>
              <a:t>) et des tableaux (</a:t>
            </a:r>
            <a:r>
              <a:rPr lang="fr-FR" sz="1600" dirty="0" err="1"/>
              <a:t>arrays</a:t>
            </a:r>
            <a:r>
              <a:rPr lang="fr-FR" sz="1600" dirty="0"/>
              <a:t>) de manière native. Par exemple, un document de logement pourrait inclure un champ adresse qui est un sous-document contenant rue, ville, </a:t>
            </a:r>
            <a:r>
              <a:rPr lang="fr-FR" sz="1600" dirty="0" err="1"/>
              <a:t>code_postal</a:t>
            </a:r>
            <a:r>
              <a:rPr lang="fr-FR" sz="1600" dirty="0"/>
              <a:t>, et même un champ photos qui est un tableau d'</a:t>
            </a:r>
            <a:r>
              <a:rPr lang="fr-FR" sz="1600" dirty="0" err="1"/>
              <a:t>URLs</a:t>
            </a:r>
            <a:r>
              <a:rPr lang="fr-FR" sz="1600" dirty="0"/>
              <a:t>. Cette modélisation correspond mieux à la réalité des données</a:t>
            </a:r>
            <a:r>
              <a:rPr lang="fr-FR" sz="1600" dirty="0" smtClean="0"/>
              <a:t>.</a:t>
            </a:r>
          </a:p>
          <a:p>
            <a:endParaRPr lang="fr-FR" sz="1600" dirty="0"/>
          </a:p>
          <a:p>
            <a:endParaRPr lang="fr-FR" sz="1600" dirty="0" smtClean="0"/>
          </a:p>
          <a:p>
            <a:endParaRPr lang="fr-FR" sz="1600" dirty="0"/>
          </a:p>
          <a:p>
            <a:r>
              <a:rPr lang="fr-FR" sz="1600" dirty="0"/>
              <a:t>SQL (Classique) : Pour modéliser des données similaires, il faudrait créer plusieurs tables et utiliser des jointures (JOIN). Par exemple, une table logement, une table adresse, une table </a:t>
            </a:r>
            <a:r>
              <a:rPr lang="fr-FR" sz="1600" dirty="0" err="1"/>
              <a:t>caracteristiques</a:t>
            </a:r>
            <a:r>
              <a:rPr lang="fr-FR" sz="1600" dirty="0"/>
              <a:t> et une table photos avec des clés étrangères pour les relier. Les requêtes de lecture de données complètes deviennent alors plus complexes et moins performantes en raison des jointures multiples.</a:t>
            </a:r>
          </a:p>
        </p:txBody>
      </p:sp>
    </p:spTree>
    <p:extLst>
      <p:ext uri="{BB962C8B-B14F-4D97-AF65-F5344CB8AC3E}">
        <p14:creationId xmlns:p14="http://schemas.microsoft.com/office/powerpoint/2010/main" val="1306005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81249"/>
            <a:ext cx="8281555" cy="3046988"/>
          </a:xfrm>
          <a:prstGeom prst="rect">
            <a:avLst/>
          </a:prstGeom>
        </p:spPr>
        <p:txBody>
          <a:bodyPr wrap="square">
            <a:spAutoFit/>
          </a:bodyPr>
          <a:lstStyle/>
          <a:p>
            <a:r>
              <a:rPr lang="fr-FR" dirty="0"/>
              <a:t>3</a:t>
            </a:r>
            <a:r>
              <a:rPr lang="fr-FR" sz="1600" dirty="0"/>
              <a:t>. Évolutivité horizontale (</a:t>
            </a:r>
            <a:r>
              <a:rPr lang="fr-FR" sz="1600" dirty="0" err="1"/>
              <a:t>Scalabilité</a:t>
            </a:r>
            <a:r>
              <a:rPr lang="fr-FR" sz="1600" dirty="0"/>
              <a:t>)</a:t>
            </a:r>
          </a:p>
          <a:p>
            <a:endParaRPr lang="fr-FR" sz="1600" dirty="0"/>
          </a:p>
          <a:p>
            <a:r>
              <a:rPr lang="fr-FR" sz="1600" dirty="0"/>
              <a:t>    </a:t>
            </a:r>
            <a:r>
              <a:rPr lang="fr-FR" sz="1600" dirty="0" err="1"/>
              <a:t>NoSQL</a:t>
            </a:r>
            <a:r>
              <a:rPr lang="fr-FR" sz="1600" dirty="0"/>
              <a:t> (</a:t>
            </a:r>
            <a:r>
              <a:rPr lang="fr-FR" sz="1600" dirty="0" err="1"/>
              <a:t>MongoDB</a:t>
            </a:r>
            <a:r>
              <a:rPr lang="fr-FR" sz="1600" dirty="0"/>
              <a:t>) : Les bases de données </a:t>
            </a:r>
            <a:r>
              <a:rPr lang="fr-FR" sz="1600" dirty="0" err="1"/>
              <a:t>NoSQL</a:t>
            </a:r>
            <a:r>
              <a:rPr lang="fr-FR" sz="1600" dirty="0"/>
              <a:t> sont conçues pour l'évolutivité horizontale, c'est-à-dire qu'elles peuvent gérer une augmentation de la charge en ajoutant de nouveaux serveurs (</a:t>
            </a:r>
            <a:r>
              <a:rPr lang="fr-FR" sz="1600" dirty="0" err="1"/>
              <a:t>sharding</a:t>
            </a:r>
            <a:r>
              <a:rPr lang="fr-FR" sz="1600" dirty="0"/>
              <a:t>). Cette architecture est idéale pour gérer un grand volume de données et un trafic important, car elle permet de répartir la charge sur plusieurs machines.</a:t>
            </a:r>
          </a:p>
          <a:p>
            <a:endParaRPr lang="fr-FR" sz="1600" dirty="0"/>
          </a:p>
          <a:p>
            <a:r>
              <a:rPr lang="fr-FR" sz="1600" dirty="0"/>
              <a:t>    SQL (Classique) : Les bases de données SQL traditionnelles privilégient l'évolutivité verticale (en augmentant la puissance du serveur existant - CPU, RAM, etc.), ce qui a des limites physiques. L'évolutivité horizontale est possible mais est beaucoup plus complexe à mettre en place (réplication, </a:t>
            </a:r>
            <a:r>
              <a:rPr lang="fr-FR" sz="1600" dirty="0" err="1"/>
              <a:t>sharding</a:t>
            </a:r>
            <a:r>
              <a:rPr lang="fr-FR" sz="1600" dirty="0"/>
              <a:t> manuels, etc.).</a:t>
            </a:r>
          </a:p>
        </p:txBody>
      </p:sp>
    </p:spTree>
    <p:extLst>
      <p:ext uri="{BB962C8B-B14F-4D97-AF65-F5344CB8AC3E}">
        <p14:creationId xmlns:p14="http://schemas.microsoft.com/office/powerpoint/2010/main" val="1856226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295"/>
            <a:ext cx="6774873" cy="4401205"/>
          </a:xfrm>
          <a:prstGeom prst="rect">
            <a:avLst/>
          </a:prstGeom>
        </p:spPr>
        <p:txBody>
          <a:bodyPr wrap="square">
            <a:spAutoFit/>
          </a:bodyPr>
          <a:lstStyle/>
          <a:p>
            <a:r>
              <a:rPr lang="fr-FR" dirty="0"/>
              <a:t>4. Vitesse de développement et agilité</a:t>
            </a:r>
          </a:p>
          <a:p>
            <a:endParaRPr lang="fr-FR" dirty="0"/>
          </a:p>
          <a:p>
            <a:r>
              <a:rPr lang="fr-FR" dirty="0"/>
              <a:t>    </a:t>
            </a:r>
            <a:r>
              <a:rPr lang="fr-FR" dirty="0" err="1"/>
              <a:t>NoSQL</a:t>
            </a:r>
            <a:r>
              <a:rPr lang="fr-FR" dirty="0"/>
              <a:t> (</a:t>
            </a:r>
            <a:r>
              <a:rPr lang="fr-FR" dirty="0" err="1"/>
              <a:t>MongoDB</a:t>
            </a:r>
            <a:r>
              <a:rPr lang="fr-FR" dirty="0"/>
              <a:t>) : Le modèle "</a:t>
            </a:r>
            <a:r>
              <a:rPr lang="fr-FR" dirty="0" err="1"/>
              <a:t>schemaless</a:t>
            </a:r>
            <a:r>
              <a:rPr lang="fr-FR" dirty="0"/>
              <a:t>" permet aux développeurs de modifier la structure des données rapidement sans avoir à migrer la base de données entière ou à exécuter des scripts de mise à jour de schéma (alter table). Cela accélère le cycle de développement, ce qui est crucial dans un projet agile où les exigences évoluent.</a:t>
            </a:r>
          </a:p>
          <a:p>
            <a:endParaRPr lang="fr-FR" dirty="0"/>
          </a:p>
          <a:p>
            <a:r>
              <a:rPr lang="fr-FR" dirty="0"/>
              <a:t>    SQL (Classique) : Chaque modification de la structure de la table (ajout ou suppression de colonnes) nécessite un script de migration de la base de données, qui peut être long et risqué, surtout sur des bases de données volumineuses.</a:t>
            </a:r>
          </a:p>
          <a:p>
            <a:endParaRPr lang="fr-FR" dirty="0"/>
          </a:p>
          <a:p>
            <a:r>
              <a:rPr lang="fr-FR" dirty="0"/>
              <a:t>Conclusion</a:t>
            </a:r>
          </a:p>
          <a:p>
            <a:endParaRPr lang="fr-FR" dirty="0"/>
          </a:p>
          <a:p>
            <a:r>
              <a:rPr lang="fr-FR" dirty="0"/>
              <a:t>Le </a:t>
            </a:r>
            <a:r>
              <a:rPr lang="fr-FR" dirty="0" err="1"/>
              <a:t>NoSQL</a:t>
            </a:r>
            <a:r>
              <a:rPr lang="fr-FR" dirty="0"/>
              <a:t>, et en particulier </a:t>
            </a:r>
            <a:r>
              <a:rPr lang="fr-FR" dirty="0" err="1"/>
              <a:t>MongoDB</a:t>
            </a:r>
            <a:r>
              <a:rPr lang="fr-FR" dirty="0"/>
              <a:t>, est plus adapté pour une collection de données sur le logement car il s'adapte à la diversité des structures de données (un appartement n'a pas les mêmes caractéristiques qu'une maison), facilite la modélisation de données complexes et liées (adresse, photos), et offre une meilleure évolutivité pour les applications à croissance rapide, tout en permettant une plus grande agilité dans le développement.</a:t>
            </a:r>
          </a:p>
        </p:txBody>
      </p:sp>
    </p:spTree>
    <p:extLst>
      <p:ext uri="{BB962C8B-B14F-4D97-AF65-F5344CB8AC3E}">
        <p14:creationId xmlns:p14="http://schemas.microsoft.com/office/powerpoint/2010/main" val="2391789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572000" cy="584775"/>
          </a:xfrm>
          <a:prstGeom prst="rect">
            <a:avLst/>
          </a:prstGeom>
        </p:spPr>
        <p:txBody>
          <a:bodyPr>
            <a:spAutoFit/>
          </a:bodyPr>
          <a:lstStyle/>
          <a:p>
            <a:r>
              <a:rPr lang="fr-FR" sz="1600" dirty="0"/>
              <a:t>Comptez le nombre de documents de la base de données</a:t>
            </a:r>
            <a:r>
              <a:rPr lang="fr-FR" dirty="0"/>
              <a:t>.</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047" y="899879"/>
            <a:ext cx="7925906" cy="3343742"/>
          </a:xfrm>
          <a:prstGeom prst="rect">
            <a:avLst/>
          </a:prstGeom>
        </p:spPr>
      </p:pic>
    </p:spTree>
    <p:extLst>
      <p:ext uri="{BB962C8B-B14F-4D97-AF65-F5344CB8AC3E}">
        <p14:creationId xmlns:p14="http://schemas.microsoft.com/office/powerpoint/2010/main" val="3267266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736" y="72736"/>
            <a:ext cx="6785264" cy="954107"/>
          </a:xfrm>
          <a:prstGeom prst="rect">
            <a:avLst/>
          </a:prstGeom>
        </p:spPr>
        <p:txBody>
          <a:bodyPr wrap="square">
            <a:spAutoFit/>
          </a:bodyPr>
          <a:lstStyle/>
          <a:p>
            <a:r>
              <a:rPr lang="fr-FR" sz="2800" dirty="0"/>
              <a:t>Comptez le nombre de logements avec des disponibilités</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36" y="1418751"/>
            <a:ext cx="7735380" cy="581106"/>
          </a:xfrm>
          <a:prstGeom prst="rect">
            <a:avLst/>
          </a:prstGeom>
        </p:spPr>
      </p:pic>
    </p:spTree>
    <p:extLst>
      <p:ext uri="{BB962C8B-B14F-4D97-AF65-F5344CB8AC3E}">
        <p14:creationId xmlns:p14="http://schemas.microsoft.com/office/powerpoint/2010/main" val="971793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Partie 2</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371600" marR="152400" lvl="2" indent="-304800" algn="l" rtl="0">
              <a:spcBef>
                <a:spcPts val="0"/>
              </a:spcBef>
              <a:spcAft>
                <a:spcPts val="0"/>
              </a:spcAft>
              <a:buClr>
                <a:srgbClr val="271A38"/>
              </a:buClr>
              <a:buSzPts val="1200"/>
              <a:buFont typeface="Inter"/>
              <a:buChar char="■"/>
            </a:pPr>
            <a:r>
              <a:rPr lang="fr" sz="1200">
                <a:solidFill>
                  <a:srgbClr val="271A38"/>
                </a:solidFill>
                <a:latin typeface="Inter"/>
                <a:ea typeface="Inter"/>
                <a:cs typeface="Inter"/>
                <a:sym typeface="Inter"/>
              </a:rPr>
              <a:t>les requêtes et leurs résultats ; </a:t>
            </a:r>
            <a:endParaRPr sz="1200">
              <a:solidFill>
                <a:srgbClr val="271A38"/>
              </a:solidFill>
              <a:latin typeface="Inter"/>
              <a:ea typeface="Inter"/>
              <a:cs typeface="Inter"/>
              <a:sym typeface="Inter"/>
            </a:endParaRPr>
          </a:p>
          <a:p>
            <a:pPr marL="1371600" marR="152400" lvl="2" indent="-304800" algn="l" rtl="0">
              <a:spcBef>
                <a:spcPts val="0"/>
              </a:spcBef>
              <a:spcAft>
                <a:spcPts val="0"/>
              </a:spcAft>
              <a:buClr>
                <a:srgbClr val="271A38"/>
              </a:buClr>
              <a:buSzPts val="1200"/>
              <a:buFont typeface="Inter"/>
              <a:buChar char="■"/>
            </a:pPr>
            <a:r>
              <a:rPr lang="fr" sz="1200">
                <a:solidFill>
                  <a:srgbClr val="271A38"/>
                </a:solidFill>
                <a:latin typeface="Inter"/>
                <a:ea typeface="Inter"/>
                <a:cs typeface="Inter"/>
                <a:sym typeface="Inter"/>
              </a:rPr>
              <a:t>la démarche suivie pour mettre la base de données MongoDB à disposition d’un outil de business intelligence incluant des captures d’écran du tableau de bord et du processus.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4213" y="1430725"/>
            <a:ext cx="5840060" cy="400110"/>
          </a:xfrm>
          <a:prstGeom prst="rect">
            <a:avLst/>
          </a:prstGeom>
        </p:spPr>
        <p:txBody>
          <a:bodyPr wrap="none">
            <a:spAutoFit/>
          </a:bodyPr>
          <a:lstStyle/>
          <a:p>
            <a:r>
              <a:rPr lang="fr-FR" sz="2000" dirty="0"/>
              <a:t>Combien d’annonces y </a:t>
            </a:r>
            <a:r>
              <a:rPr lang="fr-FR" sz="2000" dirty="0" err="1"/>
              <a:t>a-t-il</a:t>
            </a:r>
            <a:r>
              <a:rPr lang="fr-FR" sz="2000" dirty="0"/>
              <a:t> par type de location </a:t>
            </a:r>
            <a:r>
              <a:rPr lang="fr-FR" dirty="0"/>
              <a:t>?</a:t>
            </a:r>
          </a:p>
        </p:txBody>
      </p:sp>
    </p:spTree>
    <p:extLst>
      <p:ext uri="{BB962C8B-B14F-4D97-AF65-F5344CB8AC3E}">
        <p14:creationId xmlns:p14="http://schemas.microsoft.com/office/powerpoint/2010/main" val="507636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997" y="0"/>
            <a:ext cx="5314275" cy="369332"/>
          </a:xfrm>
          <a:prstGeom prst="rect">
            <a:avLst/>
          </a:prstGeom>
        </p:spPr>
        <p:txBody>
          <a:bodyPr wrap="none">
            <a:spAutoFit/>
          </a:bodyPr>
          <a:lstStyle/>
          <a:p>
            <a:r>
              <a:rPr lang="fr-FR" sz="1800" dirty="0"/>
              <a:t>Combien d’annonces y </a:t>
            </a:r>
            <a:r>
              <a:rPr lang="fr-FR" sz="1800" dirty="0" err="1"/>
              <a:t>a-t-il</a:t>
            </a:r>
            <a:r>
              <a:rPr lang="fr-FR" sz="1800" dirty="0"/>
              <a:t> par type de location ?</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6022"/>
            <a:ext cx="9144000" cy="3671455"/>
          </a:xfrm>
          <a:prstGeom prst="rect">
            <a:avLst/>
          </a:prstGeom>
        </p:spPr>
      </p:pic>
    </p:spTree>
    <p:extLst>
      <p:ext uri="{BB962C8B-B14F-4D97-AF65-F5344CB8AC3E}">
        <p14:creationId xmlns:p14="http://schemas.microsoft.com/office/powerpoint/2010/main" val="613416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107382" cy="1815882"/>
          </a:xfrm>
          <a:prstGeom prst="rect">
            <a:avLst/>
          </a:prstGeom>
        </p:spPr>
        <p:txBody>
          <a:bodyPr wrap="square">
            <a:spAutoFit/>
          </a:bodyPr>
          <a:lstStyle/>
          <a:p>
            <a:r>
              <a:rPr lang="fr-FR" sz="1600" dirty="0"/>
              <a:t>Quelles sont les 5 annonces de location avec le plus d’évaluations ? Et combien d’évaluations </a:t>
            </a:r>
            <a:r>
              <a:rPr lang="fr-FR" sz="1600" dirty="0" err="1"/>
              <a:t>ont-elles</a:t>
            </a:r>
            <a:r>
              <a:rPr lang="fr-FR" sz="1600" dirty="0"/>
              <a:t> </a:t>
            </a:r>
            <a:r>
              <a:rPr lang="fr-FR" sz="1600" dirty="0" smtClean="0"/>
              <a:t>?</a:t>
            </a:r>
          </a:p>
          <a:p>
            <a:endParaRPr lang="fr-FR" sz="1600" dirty="0"/>
          </a:p>
          <a:p>
            <a:endParaRPr lang="fr-FR" sz="1600" dirty="0" smtClean="0"/>
          </a:p>
          <a:p>
            <a:endParaRPr lang="fr-FR" sz="1600" dirty="0"/>
          </a:p>
          <a:p>
            <a:endParaRPr lang="fr-FR" sz="1600" dirty="0" smtClean="0"/>
          </a:p>
          <a:p>
            <a:endParaRPr lang="fr-FR" sz="1600" dirty="0" smtClean="0"/>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4373"/>
            <a:ext cx="9144000" cy="4485245"/>
          </a:xfrm>
          <a:prstGeom prst="rect">
            <a:avLst/>
          </a:prstGeom>
        </p:spPr>
      </p:pic>
    </p:spTree>
    <p:extLst>
      <p:ext uri="{BB962C8B-B14F-4D97-AF65-F5344CB8AC3E}">
        <p14:creationId xmlns:p14="http://schemas.microsoft.com/office/powerpoint/2010/main" val="1872188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102" y="0"/>
            <a:ext cx="4156907" cy="338554"/>
          </a:xfrm>
          <a:prstGeom prst="rect">
            <a:avLst/>
          </a:prstGeom>
        </p:spPr>
        <p:txBody>
          <a:bodyPr wrap="none">
            <a:spAutoFit/>
          </a:bodyPr>
          <a:lstStyle/>
          <a:p>
            <a:r>
              <a:rPr lang="fr-FR" sz="1600" dirty="0"/>
              <a:t>Quel est le nombre total d’hôtes différents ?</a:t>
            </a:r>
          </a:p>
        </p:txBody>
      </p:sp>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002" y="1209908"/>
            <a:ext cx="6115904" cy="2848373"/>
          </a:xfrm>
          <a:prstGeom prst="rect">
            <a:avLst/>
          </a:prstGeom>
        </p:spPr>
      </p:pic>
    </p:spTree>
    <p:extLst>
      <p:ext uri="{BB962C8B-B14F-4D97-AF65-F5344CB8AC3E}">
        <p14:creationId xmlns:p14="http://schemas.microsoft.com/office/powerpoint/2010/main" val="2215723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3518"/>
            <a:ext cx="6858000" cy="523220"/>
          </a:xfrm>
          <a:prstGeom prst="rect">
            <a:avLst/>
          </a:prstGeom>
        </p:spPr>
        <p:txBody>
          <a:bodyPr wrap="square">
            <a:spAutoFit/>
          </a:bodyPr>
          <a:lstStyle/>
          <a:p>
            <a:r>
              <a:rPr lang="fr-FR" dirty="0" smtClean="0"/>
              <a:t>Quel </a:t>
            </a:r>
            <a:r>
              <a:rPr lang="fr-FR" dirty="0"/>
              <a:t>est le nombre de locations réservables instantanément ? Cela représente quelle proportion des annonces </a:t>
            </a:r>
            <a:r>
              <a:rPr lang="fr-FR" dirty="0" smtClean="0"/>
              <a:t> ?</a:t>
            </a:r>
            <a:endParaRPr lang="fr-FR" dirty="0"/>
          </a:p>
        </p:txBody>
      </p:sp>
    </p:spTree>
    <p:extLst>
      <p:ext uri="{BB962C8B-B14F-4D97-AF65-F5344CB8AC3E}">
        <p14:creationId xmlns:p14="http://schemas.microsoft.com/office/powerpoint/2010/main" val="186832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44800" cy="5010849"/>
          </a:xfrm>
          <a:prstGeom prst="rect">
            <a:avLst/>
          </a:prstGeom>
        </p:spPr>
      </p:pic>
    </p:spTree>
    <p:extLst>
      <p:ext uri="{BB962C8B-B14F-4D97-AF65-F5344CB8AC3E}">
        <p14:creationId xmlns:p14="http://schemas.microsoft.com/office/powerpoint/2010/main" val="3170181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5536"/>
            <a:ext cx="7401958" cy="1190791"/>
          </a:xfrm>
          <a:prstGeom prst="rect">
            <a:avLst/>
          </a:prstGeom>
        </p:spPr>
      </p:pic>
    </p:spTree>
    <p:extLst>
      <p:ext uri="{BB962C8B-B14F-4D97-AF65-F5344CB8AC3E}">
        <p14:creationId xmlns:p14="http://schemas.microsoft.com/office/powerpoint/2010/main" val="2026046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736" y="0"/>
            <a:ext cx="7481454" cy="584775"/>
          </a:xfrm>
          <a:prstGeom prst="rect">
            <a:avLst/>
          </a:prstGeom>
        </p:spPr>
        <p:txBody>
          <a:bodyPr wrap="square">
            <a:spAutoFit/>
          </a:bodyPr>
          <a:lstStyle/>
          <a:p>
            <a:r>
              <a:rPr lang="fr-FR" sz="1600" dirty="0"/>
              <a:t>Est-ce que des hôtes ont plus de 100 annonces sur les plateformes ? Et si oui qui sont-ils ? Cela représente quel pourcentage des hôtes ?</a:t>
            </a:r>
          </a:p>
        </p:txBody>
      </p:sp>
    </p:spTree>
    <p:extLst>
      <p:ext uri="{BB962C8B-B14F-4D97-AF65-F5344CB8AC3E}">
        <p14:creationId xmlns:p14="http://schemas.microsoft.com/office/powerpoint/2010/main" val="2889276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518" y="0"/>
            <a:ext cx="6740948" cy="461665"/>
          </a:xfrm>
          <a:prstGeom prst="rect">
            <a:avLst/>
          </a:prstGeom>
        </p:spPr>
        <p:txBody>
          <a:bodyPr wrap="none">
            <a:spAutoFit/>
          </a:bodyPr>
          <a:lstStyle/>
          <a:p>
            <a:r>
              <a:rPr lang="fr-FR" sz="2400" dirty="0"/>
              <a:t>1. Trouver les hôtes avec plus de 100 annonces</a:t>
            </a:r>
          </a:p>
        </p:txBody>
      </p:sp>
      <p:pic>
        <p:nvPicPr>
          <p:cNvPr id="4" name="Image 3"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1388"/>
            <a:ext cx="5553850" cy="4382112"/>
          </a:xfrm>
          <a:prstGeom prst="rect">
            <a:avLst/>
          </a:prstGeom>
        </p:spPr>
      </p:pic>
    </p:spTree>
    <p:extLst>
      <p:ext uri="{BB962C8B-B14F-4D97-AF65-F5344CB8AC3E}">
        <p14:creationId xmlns:p14="http://schemas.microsoft.com/office/powerpoint/2010/main" val="3220433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602268" cy="5143500"/>
          </a:xfrm>
          <a:prstGeom prst="rect">
            <a:avLst/>
          </a:prstGeom>
        </p:spPr>
      </p:pic>
    </p:spTree>
    <p:extLst>
      <p:ext uri="{BB962C8B-B14F-4D97-AF65-F5344CB8AC3E}">
        <p14:creationId xmlns:p14="http://schemas.microsoft.com/office/powerpoint/2010/main" val="3012719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498353" cy="5143500"/>
          </a:xfrm>
          <a:prstGeom prst="rect">
            <a:avLst/>
          </a:prstGeom>
        </p:spPr>
      </p:pic>
    </p:spTree>
    <p:extLst>
      <p:ext uri="{BB962C8B-B14F-4D97-AF65-F5344CB8AC3E}">
        <p14:creationId xmlns:p14="http://schemas.microsoft.com/office/powerpoint/2010/main" val="516686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13327" cy="5143500"/>
          </a:xfrm>
          <a:prstGeom prst="rect">
            <a:avLst/>
          </a:prstGeom>
        </p:spPr>
      </p:pic>
    </p:spTree>
    <p:extLst>
      <p:ext uri="{BB962C8B-B14F-4D97-AF65-F5344CB8AC3E}">
        <p14:creationId xmlns:p14="http://schemas.microsoft.com/office/powerpoint/2010/main" val="1794242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247060" cy="5143500"/>
          </a:xfrm>
          <a:prstGeom prst="rect">
            <a:avLst/>
          </a:prstGeom>
        </p:spPr>
      </p:pic>
    </p:spTree>
    <p:extLst>
      <p:ext uri="{BB962C8B-B14F-4D97-AF65-F5344CB8AC3E}">
        <p14:creationId xmlns:p14="http://schemas.microsoft.com/office/powerpoint/2010/main" val="1382818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849404" cy="461665"/>
          </a:xfrm>
          <a:prstGeom prst="rect">
            <a:avLst/>
          </a:prstGeom>
        </p:spPr>
        <p:txBody>
          <a:bodyPr wrap="none">
            <a:spAutoFit/>
          </a:bodyPr>
          <a:lstStyle/>
          <a:p>
            <a:r>
              <a:rPr lang="fr-FR" sz="2400" dirty="0"/>
              <a:t>2. Calculer le nombre total d'hôtes</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5129"/>
            <a:ext cx="5487166" cy="504895"/>
          </a:xfrm>
          <a:prstGeom prst="rect">
            <a:avLst/>
          </a:prstGeom>
        </p:spPr>
      </p:pic>
    </p:spTree>
    <p:extLst>
      <p:ext uri="{BB962C8B-B14F-4D97-AF65-F5344CB8AC3E}">
        <p14:creationId xmlns:p14="http://schemas.microsoft.com/office/powerpoint/2010/main" val="2643739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818" y="0"/>
            <a:ext cx="3781805" cy="461665"/>
          </a:xfrm>
          <a:prstGeom prst="rect">
            <a:avLst/>
          </a:prstGeom>
        </p:spPr>
        <p:txBody>
          <a:bodyPr wrap="none">
            <a:spAutoFit/>
          </a:bodyPr>
          <a:lstStyle/>
          <a:p>
            <a:r>
              <a:rPr lang="fr-FR" sz="2400" dirty="0"/>
              <a:t>3. Calculer le pourcentage</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26538"/>
            <a:ext cx="7516274" cy="495369"/>
          </a:xfrm>
          <a:prstGeom prst="rect">
            <a:avLst/>
          </a:prstGeom>
        </p:spPr>
      </p:pic>
    </p:spTree>
    <p:extLst>
      <p:ext uri="{BB962C8B-B14F-4D97-AF65-F5344CB8AC3E}">
        <p14:creationId xmlns:p14="http://schemas.microsoft.com/office/powerpoint/2010/main" val="4633230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3332" y="142770"/>
            <a:ext cx="4572000" cy="523220"/>
          </a:xfrm>
          <a:prstGeom prst="rect">
            <a:avLst/>
          </a:prstGeom>
        </p:spPr>
        <p:txBody>
          <a:bodyPr>
            <a:spAutoFit/>
          </a:bodyPr>
          <a:lstStyle/>
          <a:p>
            <a:r>
              <a:rPr lang="fr-FR" dirty="0"/>
              <a:t>Combien y </a:t>
            </a:r>
            <a:r>
              <a:rPr lang="fr-FR" dirty="0" err="1"/>
              <a:t>a-t-il</a:t>
            </a:r>
            <a:r>
              <a:rPr lang="fr-FR" dirty="0"/>
              <a:t> de super hôtes différents ? Cela représente quel pourcentage des hôtes ?</a:t>
            </a:r>
          </a:p>
        </p:txBody>
      </p:sp>
    </p:spTree>
    <p:extLst>
      <p:ext uri="{BB962C8B-B14F-4D97-AF65-F5344CB8AC3E}">
        <p14:creationId xmlns:p14="http://schemas.microsoft.com/office/powerpoint/2010/main" val="3570582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02694" cy="5143500"/>
          </a:xfrm>
          <a:prstGeom prst="rect">
            <a:avLst/>
          </a:prstGeom>
        </p:spPr>
      </p:pic>
    </p:spTree>
    <p:extLst>
      <p:ext uri="{BB962C8B-B14F-4D97-AF65-F5344CB8AC3E}">
        <p14:creationId xmlns:p14="http://schemas.microsoft.com/office/powerpoint/2010/main" val="3866635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976091" cy="5143500"/>
          </a:xfrm>
          <a:prstGeom prst="rect">
            <a:avLst/>
          </a:prstGeom>
        </p:spPr>
      </p:pic>
    </p:spTree>
    <p:extLst>
      <p:ext uri="{BB962C8B-B14F-4D97-AF65-F5344CB8AC3E}">
        <p14:creationId xmlns:p14="http://schemas.microsoft.com/office/powerpoint/2010/main" val="3987938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10591" y="1194954"/>
            <a:ext cx="4572000" cy="707886"/>
          </a:xfrm>
          <a:prstGeom prst="rect">
            <a:avLst/>
          </a:prstGeom>
        </p:spPr>
        <p:txBody>
          <a:bodyPr>
            <a:spAutoFit/>
          </a:bodyPr>
          <a:lstStyle/>
          <a:p>
            <a:r>
              <a:rPr lang="fr-FR" sz="2000" dirty="0"/>
              <a:t>Calculer le taux de réservation moyen par mois par type de logement</a:t>
            </a:r>
          </a:p>
        </p:txBody>
      </p:sp>
    </p:spTree>
    <p:extLst>
      <p:ext uri="{BB962C8B-B14F-4D97-AF65-F5344CB8AC3E}">
        <p14:creationId xmlns:p14="http://schemas.microsoft.com/office/powerpoint/2010/main" val="36858444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14" y="133009"/>
            <a:ext cx="8926171" cy="4877481"/>
          </a:xfrm>
          <a:prstGeom prst="rect">
            <a:avLst/>
          </a:prstGeom>
        </p:spPr>
      </p:pic>
    </p:spTree>
    <p:extLst>
      <p:ext uri="{BB962C8B-B14F-4D97-AF65-F5344CB8AC3E}">
        <p14:creationId xmlns:p14="http://schemas.microsoft.com/office/powerpoint/2010/main" val="2246943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9252"/>
            <a:ext cx="9144000" cy="4824996"/>
          </a:xfrm>
          <a:prstGeom prst="rect">
            <a:avLst/>
          </a:prstGeom>
        </p:spPr>
      </p:pic>
    </p:spTree>
    <p:extLst>
      <p:ext uri="{BB962C8B-B14F-4D97-AF65-F5344CB8AC3E}">
        <p14:creationId xmlns:p14="http://schemas.microsoft.com/office/powerpoint/2010/main" val="4604760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255"/>
            <a:ext cx="8611802" cy="3677163"/>
          </a:xfrm>
          <a:prstGeom prst="rect">
            <a:avLst/>
          </a:prstGeom>
        </p:spPr>
      </p:pic>
    </p:spTree>
    <p:extLst>
      <p:ext uri="{BB962C8B-B14F-4D97-AF65-F5344CB8AC3E}">
        <p14:creationId xmlns:p14="http://schemas.microsoft.com/office/powerpoint/2010/main" val="31222488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074" y="637905"/>
            <a:ext cx="7001852" cy="3867690"/>
          </a:xfrm>
          <a:prstGeom prst="rect">
            <a:avLst/>
          </a:prstGeom>
        </p:spPr>
      </p:pic>
    </p:spTree>
    <p:extLst>
      <p:ext uri="{BB962C8B-B14F-4D97-AF65-F5344CB8AC3E}">
        <p14:creationId xmlns:p14="http://schemas.microsoft.com/office/powerpoint/2010/main" val="4104238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45672" y="803458"/>
            <a:ext cx="4572000" cy="707886"/>
          </a:xfrm>
          <a:prstGeom prst="rect">
            <a:avLst/>
          </a:prstGeom>
        </p:spPr>
        <p:txBody>
          <a:bodyPr>
            <a:spAutoFit/>
          </a:bodyPr>
          <a:lstStyle/>
          <a:p>
            <a:r>
              <a:rPr lang="fr-FR" sz="2000" dirty="0"/>
              <a:t>Calculer la médiane des nombre d’avis pour tous les logements</a:t>
            </a:r>
          </a:p>
        </p:txBody>
      </p:sp>
    </p:spTree>
    <p:extLst>
      <p:ext uri="{BB962C8B-B14F-4D97-AF65-F5344CB8AC3E}">
        <p14:creationId xmlns:p14="http://schemas.microsoft.com/office/powerpoint/2010/main" val="849661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1435"/>
            <a:ext cx="9144000" cy="4760629"/>
          </a:xfrm>
          <a:prstGeom prst="rect">
            <a:avLst/>
          </a:prstGeom>
        </p:spPr>
      </p:pic>
    </p:spTree>
    <p:extLst>
      <p:ext uri="{BB962C8B-B14F-4D97-AF65-F5344CB8AC3E}">
        <p14:creationId xmlns:p14="http://schemas.microsoft.com/office/powerpoint/2010/main" val="2351100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92" y="0"/>
            <a:ext cx="7964011" cy="4887007"/>
          </a:xfrm>
          <a:prstGeom prst="rect">
            <a:avLst/>
          </a:prstGeom>
        </p:spPr>
      </p:pic>
    </p:spTree>
    <p:extLst>
      <p:ext uri="{BB962C8B-B14F-4D97-AF65-F5344CB8AC3E}">
        <p14:creationId xmlns:p14="http://schemas.microsoft.com/office/powerpoint/2010/main" val="2859699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9764"/>
            <a:ext cx="6878010" cy="4153480"/>
          </a:xfrm>
          <a:prstGeom prst="rect">
            <a:avLst/>
          </a:prstGeom>
        </p:spPr>
      </p:pic>
    </p:spTree>
    <p:extLst>
      <p:ext uri="{BB962C8B-B14F-4D97-AF65-F5344CB8AC3E}">
        <p14:creationId xmlns:p14="http://schemas.microsoft.com/office/powerpoint/2010/main" val="4112475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3655" y="1174173"/>
            <a:ext cx="4634345" cy="707886"/>
          </a:xfrm>
          <a:prstGeom prst="rect">
            <a:avLst/>
          </a:prstGeom>
        </p:spPr>
        <p:txBody>
          <a:bodyPr wrap="square">
            <a:spAutoFit/>
          </a:bodyPr>
          <a:lstStyle/>
          <a:p>
            <a:r>
              <a:rPr lang="fr-FR" sz="2000" dirty="0"/>
              <a:t>Calculer la médiane des nombre d’avis par catégorie d’hôte</a:t>
            </a:r>
          </a:p>
        </p:txBody>
      </p:sp>
    </p:spTree>
    <p:extLst>
      <p:ext uri="{BB962C8B-B14F-4D97-AF65-F5344CB8AC3E}">
        <p14:creationId xmlns:p14="http://schemas.microsoft.com/office/powerpoint/2010/main" val="9128289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1643"/>
            <a:ext cx="8221222" cy="4725059"/>
          </a:xfrm>
          <a:prstGeom prst="rect">
            <a:avLst/>
          </a:prstGeom>
        </p:spPr>
      </p:pic>
    </p:spTree>
    <p:extLst>
      <p:ext uri="{BB962C8B-B14F-4D97-AF65-F5344CB8AC3E}">
        <p14:creationId xmlns:p14="http://schemas.microsoft.com/office/powerpoint/2010/main" val="827837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674" y="76370"/>
            <a:ext cx="7468642" cy="4001058"/>
          </a:xfrm>
          <a:prstGeom prst="rect">
            <a:avLst/>
          </a:prstGeom>
        </p:spPr>
      </p:pic>
    </p:spTree>
    <p:extLst>
      <p:ext uri="{BB962C8B-B14F-4D97-AF65-F5344CB8AC3E}">
        <p14:creationId xmlns:p14="http://schemas.microsoft.com/office/powerpoint/2010/main" val="1957287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447"/>
            <a:ext cx="8392696" cy="4363059"/>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36572"/>
            <a:ext cx="5077534" cy="1914792"/>
          </a:xfrm>
          <a:prstGeom prst="rect">
            <a:avLst/>
          </a:prstGeom>
        </p:spPr>
      </p:pic>
    </p:spTree>
    <p:extLst>
      <p:ext uri="{BB962C8B-B14F-4D97-AF65-F5344CB8AC3E}">
        <p14:creationId xmlns:p14="http://schemas.microsoft.com/office/powerpoint/2010/main" val="3265031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7824" y="1347598"/>
            <a:ext cx="6296917" cy="400110"/>
          </a:xfrm>
          <a:prstGeom prst="rect">
            <a:avLst/>
          </a:prstGeom>
        </p:spPr>
        <p:txBody>
          <a:bodyPr wrap="none">
            <a:spAutoFit/>
          </a:bodyPr>
          <a:lstStyle/>
          <a:p>
            <a:r>
              <a:rPr lang="fr-FR" sz="2000" dirty="0"/>
              <a:t>Calculer la densité de logements par quartier de Paris</a:t>
            </a:r>
          </a:p>
        </p:txBody>
      </p:sp>
    </p:spTree>
    <p:extLst>
      <p:ext uri="{BB962C8B-B14F-4D97-AF65-F5344CB8AC3E}">
        <p14:creationId xmlns:p14="http://schemas.microsoft.com/office/powerpoint/2010/main" val="3079605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26224" cy="4620270"/>
          </a:xfrm>
          <a:prstGeom prst="rect">
            <a:avLst/>
          </a:prstGeom>
        </p:spPr>
      </p:pic>
    </p:spTree>
    <p:extLst>
      <p:ext uri="{BB962C8B-B14F-4D97-AF65-F5344CB8AC3E}">
        <p14:creationId xmlns:p14="http://schemas.microsoft.com/office/powerpoint/2010/main" val="3677957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106642" cy="5039428"/>
          </a:xfrm>
          <a:prstGeom prst="rect">
            <a:avLst/>
          </a:prstGeom>
        </p:spPr>
      </p:pic>
    </p:spTree>
    <p:extLst>
      <p:ext uri="{BB962C8B-B14F-4D97-AF65-F5344CB8AC3E}">
        <p14:creationId xmlns:p14="http://schemas.microsoft.com/office/powerpoint/2010/main" val="1332197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0660"/>
            <a:ext cx="6801799" cy="3134162"/>
          </a:xfrm>
          <a:prstGeom prst="rect">
            <a:avLst/>
          </a:prstGeom>
        </p:spPr>
      </p:pic>
    </p:spTree>
    <p:extLst>
      <p:ext uri="{BB962C8B-B14F-4D97-AF65-F5344CB8AC3E}">
        <p14:creationId xmlns:p14="http://schemas.microsoft.com/office/powerpoint/2010/main" val="23951251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28" y="90173"/>
            <a:ext cx="6268325" cy="4505954"/>
          </a:xfrm>
          <a:prstGeom prst="rect">
            <a:avLst/>
          </a:prstGeom>
        </p:spPr>
      </p:pic>
    </p:spTree>
    <p:extLst>
      <p:ext uri="{BB962C8B-B14F-4D97-AF65-F5344CB8AC3E}">
        <p14:creationId xmlns:p14="http://schemas.microsoft.com/office/powerpoint/2010/main" val="12780195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4891" y="1104794"/>
            <a:ext cx="4572000" cy="707886"/>
          </a:xfrm>
          <a:prstGeom prst="rect">
            <a:avLst/>
          </a:prstGeom>
        </p:spPr>
        <p:txBody>
          <a:bodyPr>
            <a:spAutoFit/>
          </a:bodyPr>
          <a:lstStyle/>
          <a:p>
            <a:r>
              <a:rPr lang="fr-FR" sz="2000" dirty="0"/>
              <a:t>Identifier les quartiers avec le plus fort taux de réservation par mois</a:t>
            </a:r>
          </a:p>
        </p:txBody>
      </p:sp>
    </p:spTree>
    <p:extLst>
      <p:ext uri="{BB962C8B-B14F-4D97-AF65-F5344CB8AC3E}">
        <p14:creationId xmlns:p14="http://schemas.microsoft.com/office/powerpoint/2010/main" val="6983670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7429"/>
            <a:ext cx="9144000" cy="4847078"/>
          </a:xfrm>
          <a:prstGeom prst="rect">
            <a:avLst/>
          </a:prstGeom>
        </p:spPr>
      </p:pic>
    </p:spTree>
    <p:extLst>
      <p:ext uri="{BB962C8B-B14F-4D97-AF65-F5344CB8AC3E}">
        <p14:creationId xmlns:p14="http://schemas.microsoft.com/office/powerpoint/2010/main" val="38891000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52" y="0"/>
            <a:ext cx="8411749" cy="4991797"/>
          </a:xfrm>
          <a:prstGeom prst="rect">
            <a:avLst/>
          </a:prstGeom>
        </p:spPr>
      </p:pic>
    </p:spTree>
    <p:extLst>
      <p:ext uri="{BB962C8B-B14F-4D97-AF65-F5344CB8AC3E}">
        <p14:creationId xmlns:p14="http://schemas.microsoft.com/office/powerpoint/2010/main" val="21218510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53" y="0"/>
            <a:ext cx="7573432" cy="2867425"/>
          </a:xfrm>
          <a:prstGeom prst="rect">
            <a:avLst/>
          </a:prstGeom>
        </p:spPr>
      </p:pic>
    </p:spTree>
    <p:extLst>
      <p:ext uri="{BB962C8B-B14F-4D97-AF65-F5344CB8AC3E}">
        <p14:creationId xmlns:p14="http://schemas.microsoft.com/office/powerpoint/2010/main" val="27141747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572903" cy="4067743"/>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082" y="1169651"/>
            <a:ext cx="6430272" cy="2762636"/>
          </a:xfrm>
          <a:prstGeom prst="rect">
            <a:avLst/>
          </a:prstGeom>
        </p:spPr>
      </p:pic>
    </p:spTree>
    <p:extLst>
      <p:ext uri="{BB962C8B-B14F-4D97-AF65-F5344CB8AC3E}">
        <p14:creationId xmlns:p14="http://schemas.microsoft.com/office/powerpoint/2010/main" val="4921187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0981" y="959321"/>
            <a:ext cx="4572000" cy="707886"/>
          </a:xfrm>
          <a:prstGeom prst="rect">
            <a:avLst/>
          </a:prstGeom>
        </p:spPr>
        <p:txBody>
          <a:bodyPr>
            <a:spAutoFit/>
          </a:bodyPr>
          <a:lstStyle/>
          <a:p>
            <a:r>
              <a:rPr lang="fr-FR" sz="2000" dirty="0"/>
              <a:t>Un tableau de bord </a:t>
            </a:r>
            <a:r>
              <a:rPr lang="fr-FR" sz="2000" dirty="0" smtClean="0"/>
              <a:t>Power </a:t>
            </a:r>
            <a:r>
              <a:rPr lang="fr-FR" sz="2000" dirty="0"/>
              <a:t>BI connecté à </a:t>
            </a:r>
            <a:r>
              <a:rPr lang="fr-FR" sz="2000" dirty="0" smtClean="0"/>
              <a:t>la </a:t>
            </a:r>
            <a:r>
              <a:rPr lang="fr-FR" sz="2000" dirty="0"/>
              <a:t>base de données </a:t>
            </a:r>
            <a:r>
              <a:rPr lang="fr-FR" sz="2000" dirty="0" err="1"/>
              <a:t>MongoDB</a:t>
            </a:r>
            <a:endParaRPr lang="fr-FR" sz="2000" dirty="0"/>
          </a:p>
        </p:txBody>
      </p:sp>
    </p:spTree>
    <p:extLst>
      <p:ext uri="{BB962C8B-B14F-4D97-AF65-F5344CB8AC3E}">
        <p14:creationId xmlns:p14="http://schemas.microsoft.com/office/powerpoint/2010/main" val="16348899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0726"/>
            <a:ext cx="9144000" cy="4582048"/>
          </a:xfrm>
          <a:prstGeom prst="rect">
            <a:avLst/>
          </a:prstGeom>
        </p:spPr>
      </p:pic>
    </p:spTree>
    <p:extLst>
      <p:ext uri="{BB962C8B-B14F-4D97-AF65-F5344CB8AC3E}">
        <p14:creationId xmlns:p14="http://schemas.microsoft.com/office/powerpoint/2010/main" val="14510373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8936"/>
            <a:ext cx="9144000" cy="3425628"/>
          </a:xfrm>
          <a:prstGeom prst="rect">
            <a:avLst/>
          </a:prstGeom>
        </p:spPr>
      </p:pic>
    </p:spTree>
    <p:extLst>
      <p:ext uri="{BB962C8B-B14F-4D97-AF65-F5344CB8AC3E}">
        <p14:creationId xmlns:p14="http://schemas.microsoft.com/office/powerpoint/2010/main" val="19677549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591"/>
            <a:ext cx="9144000" cy="4882317"/>
          </a:xfrm>
          <a:prstGeom prst="rect">
            <a:avLst/>
          </a:prstGeom>
        </p:spPr>
      </p:pic>
    </p:spTree>
    <p:extLst>
      <p:ext uri="{BB962C8B-B14F-4D97-AF65-F5344CB8AC3E}">
        <p14:creationId xmlns:p14="http://schemas.microsoft.com/office/powerpoint/2010/main" val="13028428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4548"/>
            <a:ext cx="9144000" cy="4814404"/>
          </a:xfrm>
          <a:prstGeom prst="rect">
            <a:avLst/>
          </a:prstGeom>
        </p:spPr>
      </p:pic>
    </p:spTree>
    <p:extLst>
      <p:ext uri="{BB962C8B-B14F-4D97-AF65-F5344CB8AC3E}">
        <p14:creationId xmlns:p14="http://schemas.microsoft.com/office/powerpoint/2010/main" val="25108664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4248795"/>
          </a:xfrm>
          <a:prstGeom prst="rect">
            <a:avLst/>
          </a:prstGeom>
        </p:spPr>
      </p:pic>
    </p:spTree>
    <p:extLst>
      <p:ext uri="{BB962C8B-B14F-4D97-AF65-F5344CB8AC3E}">
        <p14:creationId xmlns:p14="http://schemas.microsoft.com/office/powerpoint/2010/main" val="20706588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a:t>Partie 3</a:t>
            </a:r>
            <a:endParaRPr/>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marR="152400" lvl="0" indent="0" algn="l" rtl="0">
              <a:spcBef>
                <a:spcPts val="0"/>
              </a:spcBef>
              <a:spcAft>
                <a:spcPts val="0"/>
              </a:spcAft>
              <a:buClr>
                <a:schemeClr val="dk1"/>
              </a:buClr>
              <a:buSzPts val="1100"/>
              <a:buFont typeface="Arial"/>
              <a:buNone/>
            </a:pPr>
            <a:r>
              <a:rPr lang="fr" sz="1200">
                <a:solidFill>
                  <a:srgbClr val="271A38"/>
                </a:solidFill>
                <a:latin typeface="Inter"/>
                <a:ea typeface="Inter"/>
                <a:cs typeface="Inter"/>
                <a:sym typeface="Inter"/>
              </a:rPr>
              <a:t>Schéma d’architecture de la base de données incluant la connexion à un outil de business intelligence.</a:t>
            </a:r>
            <a:endParaRPr sz="1200">
              <a:solidFill>
                <a:srgbClr val="271A38"/>
              </a:solidFill>
              <a:latin typeface="Inter"/>
              <a:ea typeface="Inter"/>
              <a:cs typeface="Inter"/>
              <a:sym typeface="Inter"/>
            </a:endParaRPr>
          </a:p>
          <a:p>
            <a:pPr marL="0" marR="152400" lvl="0" indent="0" algn="l" rtl="0">
              <a:spcBef>
                <a:spcPts val="0"/>
              </a:spcBef>
              <a:spcAft>
                <a:spcPts val="0"/>
              </a:spcAft>
              <a:buNone/>
            </a:pPr>
            <a:endParaRPr sz="1200">
              <a:solidFill>
                <a:srgbClr val="271A38"/>
              </a:solidFill>
              <a:latin typeface="Inter"/>
              <a:ea typeface="Inter"/>
              <a:cs typeface="Inter"/>
              <a:sym typeface="Inter"/>
            </a:endParaRPr>
          </a:p>
          <a:p>
            <a:pPr marL="0" marR="152400" lvl="0" indent="0" algn="l" rtl="0">
              <a:spcBef>
                <a:spcPts val="0"/>
              </a:spcBef>
              <a:spcAft>
                <a:spcPts val="0"/>
              </a:spcAft>
              <a:buNone/>
            </a:pPr>
            <a:endParaRPr sz="1200">
              <a:solidFill>
                <a:srgbClr val="271A38"/>
              </a:solidFill>
              <a:latin typeface="Inter"/>
              <a:ea typeface="Inter"/>
              <a:cs typeface="Inter"/>
              <a:sym typeface="Inter"/>
            </a:endParaRPr>
          </a:p>
          <a:p>
            <a:pPr marL="0" marR="152400" lvl="0" indent="0" algn="l" rtl="0">
              <a:spcBef>
                <a:spcPts val="0"/>
              </a:spcBef>
              <a:spcAft>
                <a:spcPts val="0"/>
              </a:spcAft>
              <a:buNone/>
            </a:pPr>
            <a:r>
              <a:rPr lang="fr" sz="1200">
                <a:solidFill>
                  <a:srgbClr val="271A38"/>
                </a:solidFill>
                <a:latin typeface="Inter"/>
                <a:ea typeface="Inter"/>
                <a:cs typeface="Inter"/>
                <a:sym typeface="Inter"/>
              </a:rPr>
              <a:t>Description de la logique et du processus suivi sous forme de tableau pour :</a:t>
            </a:r>
            <a:endParaRPr sz="1200">
              <a:solidFill>
                <a:srgbClr val="271A38"/>
              </a:solidFill>
              <a:latin typeface="Inter"/>
              <a:ea typeface="Inter"/>
              <a:cs typeface="Inter"/>
              <a:sym typeface="Inter"/>
            </a:endParaRPr>
          </a:p>
          <a:p>
            <a:pPr marL="457200" marR="152400" lvl="0" indent="-304800" algn="l" rtl="0">
              <a:spcBef>
                <a:spcPts val="0"/>
              </a:spcBef>
              <a:spcAft>
                <a:spcPts val="0"/>
              </a:spcAft>
              <a:buClr>
                <a:srgbClr val="271A38"/>
              </a:buClr>
              <a:buSzPts val="1200"/>
              <a:buFont typeface="Inter"/>
              <a:buChar char="●"/>
            </a:pPr>
            <a:r>
              <a:rPr lang="fr" sz="1200">
                <a:solidFill>
                  <a:srgbClr val="271A38"/>
                </a:solidFill>
                <a:latin typeface="Inter"/>
                <a:ea typeface="Inter"/>
                <a:cs typeface="Inter"/>
                <a:sym typeface="Inter"/>
              </a:rPr>
              <a:t>répliquer les données (instructions étape 2);</a:t>
            </a:r>
            <a:endParaRPr sz="1200">
              <a:solidFill>
                <a:srgbClr val="271A38"/>
              </a:solidFill>
              <a:latin typeface="Inter"/>
              <a:ea typeface="Inter"/>
              <a:cs typeface="Inter"/>
              <a:sym typeface="Inter"/>
            </a:endParaRPr>
          </a:p>
          <a:p>
            <a:pPr marL="457200" marR="152400" lvl="0" indent="-304800" algn="l" rtl="0">
              <a:spcBef>
                <a:spcPts val="0"/>
              </a:spcBef>
              <a:spcAft>
                <a:spcPts val="0"/>
              </a:spcAft>
              <a:buClr>
                <a:srgbClr val="271A38"/>
              </a:buClr>
              <a:buSzPts val="1200"/>
              <a:buFont typeface="Inter"/>
              <a:buChar char="●"/>
            </a:pPr>
            <a:r>
              <a:rPr lang="fr" sz="1200">
                <a:solidFill>
                  <a:srgbClr val="271A38"/>
                </a:solidFill>
                <a:latin typeface="Inter"/>
                <a:ea typeface="Inter"/>
                <a:cs typeface="Inter"/>
                <a:sym typeface="Inter"/>
              </a:rPr>
              <a:t>distribuer les données (instructions étape 3).</a:t>
            </a:r>
            <a:endParaRPr sz="1200">
              <a:solidFill>
                <a:srgbClr val="271A38"/>
              </a:solidFill>
              <a:latin typeface="Inter"/>
              <a:ea typeface="Inter"/>
              <a:cs typeface="Inter"/>
              <a:sym typeface="Inter"/>
            </a:endParaRPr>
          </a:p>
          <a:p>
            <a:pPr marL="0" marR="152400" lvl="0" indent="0" algn="l" rtl="0">
              <a:spcBef>
                <a:spcPts val="0"/>
              </a:spcBef>
              <a:spcAft>
                <a:spcPts val="0"/>
              </a:spcAft>
              <a:buNone/>
            </a:pPr>
            <a:endParaRPr sz="1200">
              <a:solidFill>
                <a:srgbClr val="271A38"/>
              </a:solidFill>
              <a:latin typeface="Inter"/>
              <a:ea typeface="Inter"/>
              <a:cs typeface="Inter"/>
              <a:sym typeface="Inter"/>
            </a:endParaRPr>
          </a:p>
          <a:p>
            <a:pPr marL="0" marR="152400" lvl="0" indent="0" algn="l" rtl="0">
              <a:spcBef>
                <a:spcPts val="0"/>
              </a:spcBef>
              <a:spcAft>
                <a:spcPts val="0"/>
              </a:spcAft>
              <a:buNone/>
            </a:pPr>
            <a:endParaRPr sz="1200">
              <a:solidFill>
                <a:srgbClr val="271A38"/>
              </a:solidFill>
              <a:latin typeface="Inter"/>
              <a:ea typeface="Inter"/>
              <a:cs typeface="Inter"/>
              <a:sym typeface="Inte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19" y="0"/>
            <a:ext cx="8686962" cy="5143500"/>
          </a:xfrm>
          <a:prstGeom prst="rect">
            <a:avLst/>
          </a:prstGeom>
        </p:spPr>
      </p:pic>
    </p:spTree>
    <p:extLst>
      <p:ext uri="{BB962C8B-B14F-4D97-AF65-F5344CB8AC3E}">
        <p14:creationId xmlns:p14="http://schemas.microsoft.com/office/powerpoint/2010/main" val="19352361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21208" y="2417862"/>
            <a:ext cx="234360" cy="307777"/>
          </a:xfrm>
          <a:prstGeom prst="rect">
            <a:avLst/>
          </a:prstGeom>
        </p:spPr>
        <p:txBody>
          <a:bodyPr wrap="none">
            <a:spAutoFit/>
          </a:bodyPr>
          <a:lstStyle/>
          <a:p>
            <a:r>
              <a:rPr lang="fr-FR" dirty="0" smtClean="0"/>
              <a:t>.</a:t>
            </a:r>
            <a:endParaRPr lang="fr-FR" dirty="0"/>
          </a:p>
        </p:txBody>
      </p:sp>
      <p:sp>
        <p:nvSpPr>
          <p:cNvPr id="3" name="Rectangle 2"/>
          <p:cNvSpPr/>
          <p:nvPr/>
        </p:nvSpPr>
        <p:spPr>
          <a:xfrm>
            <a:off x="2371963" y="1393059"/>
            <a:ext cx="2664512" cy="707886"/>
          </a:xfrm>
          <a:prstGeom prst="rect">
            <a:avLst/>
          </a:prstGeom>
        </p:spPr>
        <p:txBody>
          <a:bodyPr wrap="none">
            <a:spAutoFit/>
          </a:bodyPr>
          <a:lstStyle/>
          <a:p>
            <a:r>
              <a:rPr lang="fr-FR" sz="4000" dirty="0" err="1"/>
              <a:t>ReplicaSet</a:t>
            </a:r>
            <a:endParaRPr lang="fr-FR" sz="4000" dirty="0"/>
          </a:p>
        </p:txBody>
      </p:sp>
    </p:spTree>
    <p:extLst>
      <p:ext uri="{BB962C8B-B14F-4D97-AF65-F5344CB8AC3E}">
        <p14:creationId xmlns:p14="http://schemas.microsoft.com/office/powerpoint/2010/main" val="31606109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616648"/>
          </a:xfrm>
          <a:prstGeom prst="rect">
            <a:avLst/>
          </a:prstGeom>
        </p:spPr>
        <p:txBody>
          <a:bodyPr wrap="square">
            <a:spAutoFit/>
          </a:bodyPr>
          <a:lstStyle/>
          <a:p>
            <a:r>
              <a:rPr lang="fr-FR" dirty="0"/>
              <a:t>Étape 1 : Réfléchir à la logique de réplication</a:t>
            </a:r>
          </a:p>
          <a:p>
            <a:endParaRPr lang="fr-FR" dirty="0"/>
          </a:p>
          <a:p>
            <a:r>
              <a:rPr lang="fr-FR" dirty="0"/>
              <a:t>La première étape, essentielle, est de comprendre pourquoi vous mettez en place un </a:t>
            </a:r>
            <a:r>
              <a:rPr lang="fr-FR" dirty="0" err="1"/>
              <a:t>ReplicaSet</a:t>
            </a:r>
            <a:r>
              <a:rPr lang="fr-FR" dirty="0"/>
              <a:t>. Le cas d'usage fourni est : "protéger nos données d'un incident matériel".</a:t>
            </a:r>
          </a:p>
          <a:p>
            <a:endParaRPr lang="fr-FR" dirty="0"/>
          </a:p>
          <a:p>
            <a:r>
              <a:rPr lang="fr-FR" dirty="0"/>
              <a:t>Un incident matériel peut signifier une panne de disque dur, une surchauffe du processeur, ou une coupure de courant sur un serveur. Pour cela, la solution est d'avoir des copies exactes de vos données sur plusieurs machines.</a:t>
            </a:r>
          </a:p>
          <a:p>
            <a:endParaRPr lang="fr-FR" dirty="0"/>
          </a:p>
          <a:p>
            <a:r>
              <a:rPr lang="fr-FR" dirty="0"/>
              <a:t>    Choix de la topologie : La topologie la plus simple pour la résilience et la haute disponibilité est un </a:t>
            </a:r>
            <a:r>
              <a:rPr lang="fr-FR" dirty="0" err="1"/>
              <a:t>ReplicaSet</a:t>
            </a:r>
            <a:r>
              <a:rPr lang="fr-FR" dirty="0"/>
              <a:t> composé de trois nœuds.</a:t>
            </a:r>
          </a:p>
          <a:p>
            <a:endParaRPr lang="fr-FR" dirty="0"/>
          </a:p>
          <a:p>
            <a:r>
              <a:rPr lang="fr-FR" dirty="0"/>
              <a:t>        Un nœud primaire (</a:t>
            </a:r>
            <a:r>
              <a:rPr lang="fr-FR" dirty="0" err="1"/>
              <a:t>Primary</a:t>
            </a:r>
            <a:r>
              <a:rPr lang="fr-FR" dirty="0"/>
              <a:t>) : C'est le nœud principal qui reçoit toutes les écritures (opérations de modification, ajout, suppression).</a:t>
            </a:r>
          </a:p>
          <a:p>
            <a:endParaRPr lang="fr-FR" dirty="0"/>
          </a:p>
          <a:p>
            <a:r>
              <a:rPr lang="fr-FR" dirty="0"/>
              <a:t>        Un nœud secondaire (</a:t>
            </a:r>
            <a:r>
              <a:rPr lang="fr-FR" dirty="0" err="1"/>
              <a:t>Secondary</a:t>
            </a:r>
            <a:r>
              <a:rPr lang="fr-FR" dirty="0"/>
              <a:t>) : C'est une réplique exacte du nœud primaire. Il se synchronise en permanence avec le primaire. Si le primaire tombe en panne, un des secondaires prendra sa place.</a:t>
            </a:r>
          </a:p>
          <a:p>
            <a:endParaRPr lang="fr-FR" dirty="0"/>
          </a:p>
          <a:p>
            <a:r>
              <a:rPr lang="fr-FR" dirty="0"/>
              <a:t>        Un nœud arbitre (</a:t>
            </a:r>
            <a:r>
              <a:rPr lang="fr-FR" dirty="0" err="1"/>
              <a:t>Arbiter</a:t>
            </a:r>
            <a:r>
              <a:rPr lang="fr-FR" dirty="0"/>
              <a:t>) : C'est un nœud léger et spécial qui ne stocke aucune donnée. Son seul rôle est de participer au vote pour élire un nouveau nœud primaire si l'actuel devient indisponible. Il est crucial pour garantir une majorité dans le vote et éviter un "split-</a:t>
            </a:r>
            <a:r>
              <a:rPr lang="fr-FR" dirty="0" err="1"/>
              <a:t>brain</a:t>
            </a:r>
            <a:r>
              <a:rPr lang="fr-FR" dirty="0"/>
              <a:t>" (deux nœuds pensant être le primaire).</a:t>
            </a:r>
          </a:p>
        </p:txBody>
      </p:sp>
    </p:spTree>
    <p:extLst>
      <p:ext uri="{BB962C8B-B14F-4D97-AF65-F5344CB8AC3E}">
        <p14:creationId xmlns:p14="http://schemas.microsoft.com/office/powerpoint/2010/main" val="42001389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908" y="0"/>
            <a:ext cx="8510155" cy="2308324"/>
          </a:xfrm>
          <a:prstGeom prst="rect">
            <a:avLst/>
          </a:prstGeom>
        </p:spPr>
        <p:txBody>
          <a:bodyPr wrap="square">
            <a:spAutoFit/>
          </a:bodyPr>
          <a:lstStyle/>
          <a:p>
            <a:pPr algn="just"/>
            <a:r>
              <a:rPr lang="fr-FR" sz="1600" dirty="0"/>
              <a:t>Avantages de cette logique :</a:t>
            </a:r>
          </a:p>
          <a:p>
            <a:pPr algn="just"/>
            <a:endParaRPr lang="fr-FR" sz="1600" dirty="0"/>
          </a:p>
          <a:p>
            <a:pPr algn="just"/>
            <a:r>
              <a:rPr lang="fr-FR" sz="1600" dirty="0"/>
              <a:t>    Haute disponibilité : Si le primaire tombe, un secondaire peut prendre le relais rapidement.</a:t>
            </a:r>
          </a:p>
          <a:p>
            <a:pPr algn="just"/>
            <a:endParaRPr lang="fr-FR" sz="1600" dirty="0"/>
          </a:p>
          <a:p>
            <a:pPr algn="just"/>
            <a:r>
              <a:rPr lang="fr-FR" sz="1600" dirty="0"/>
              <a:t>    Résilience aux pannes : La perte d'une machine ne signifie pas la perte de données.</a:t>
            </a:r>
          </a:p>
          <a:p>
            <a:pPr algn="just"/>
            <a:endParaRPr lang="fr-FR" sz="1600" dirty="0"/>
          </a:p>
          <a:p>
            <a:pPr algn="just"/>
            <a:r>
              <a:rPr lang="fr-FR" sz="1600" dirty="0"/>
              <a:t>    Équilibrage de charge des lectures : Vous pouvez configurer des clients pour lire à partir des nœuds secondaires, soulageant ainsi le nœud primaire pour les écritures.</a:t>
            </a:r>
          </a:p>
        </p:txBody>
      </p:sp>
    </p:spTree>
    <p:extLst>
      <p:ext uri="{BB962C8B-B14F-4D97-AF65-F5344CB8AC3E}">
        <p14:creationId xmlns:p14="http://schemas.microsoft.com/office/powerpoint/2010/main" val="28033723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060873" cy="4832092"/>
          </a:xfrm>
          <a:prstGeom prst="rect">
            <a:avLst/>
          </a:prstGeom>
        </p:spPr>
        <p:txBody>
          <a:bodyPr wrap="square">
            <a:spAutoFit/>
          </a:bodyPr>
          <a:lstStyle/>
          <a:p>
            <a:pPr algn="just"/>
            <a:r>
              <a:rPr lang="fr-FR" dirty="0"/>
              <a:t>Créez les dossiers pour les données : Vous avez besoin d'un dossier </a:t>
            </a:r>
            <a:r>
              <a:rPr lang="fr-FR" dirty="0" err="1"/>
              <a:t>dbpath</a:t>
            </a:r>
            <a:r>
              <a:rPr lang="fr-FR" dirty="0"/>
              <a:t> distinct pour chaque instance.</a:t>
            </a:r>
          </a:p>
          <a:p>
            <a:pPr algn="just"/>
            <a:endParaRPr lang="fr-FR" dirty="0"/>
          </a:p>
          <a:p>
            <a:pPr algn="just"/>
            <a:r>
              <a:rPr lang="fr-FR" dirty="0"/>
              <a:t>    </a:t>
            </a:r>
            <a:r>
              <a:rPr lang="fr-FR" dirty="0" err="1"/>
              <a:t>mkdir</a:t>
            </a:r>
            <a:r>
              <a:rPr lang="fr-FR" dirty="0"/>
              <a:t> C:\data\rs1</a:t>
            </a:r>
          </a:p>
          <a:p>
            <a:pPr algn="just"/>
            <a:endParaRPr lang="fr-FR" dirty="0"/>
          </a:p>
          <a:p>
            <a:pPr algn="just"/>
            <a:r>
              <a:rPr lang="fr-FR" dirty="0"/>
              <a:t>    </a:t>
            </a:r>
            <a:r>
              <a:rPr lang="fr-FR" dirty="0" err="1"/>
              <a:t>mkdir</a:t>
            </a:r>
            <a:r>
              <a:rPr lang="fr-FR" dirty="0"/>
              <a:t> C:\data\rs2</a:t>
            </a:r>
          </a:p>
          <a:p>
            <a:pPr algn="just"/>
            <a:endParaRPr lang="fr-FR" dirty="0"/>
          </a:p>
          <a:p>
            <a:pPr algn="just"/>
            <a:r>
              <a:rPr lang="fr-FR" dirty="0"/>
              <a:t>    </a:t>
            </a:r>
            <a:r>
              <a:rPr lang="fr-FR" dirty="0" err="1"/>
              <a:t>mkdir</a:t>
            </a:r>
            <a:r>
              <a:rPr lang="fr-FR" dirty="0"/>
              <a:t> C:\data\rs3</a:t>
            </a:r>
          </a:p>
          <a:p>
            <a:pPr algn="just"/>
            <a:endParaRPr lang="fr-FR" dirty="0"/>
          </a:p>
          <a:p>
            <a:pPr algn="just"/>
            <a:r>
              <a:rPr lang="fr-FR" dirty="0"/>
              <a:t>Lancez les trois instances de </a:t>
            </a:r>
            <a:r>
              <a:rPr lang="fr-FR" dirty="0" err="1"/>
              <a:t>MongoDB</a:t>
            </a:r>
            <a:r>
              <a:rPr lang="fr-FR" dirty="0"/>
              <a:t> :</a:t>
            </a:r>
          </a:p>
          <a:p>
            <a:pPr algn="just"/>
            <a:endParaRPr lang="fr-FR" dirty="0"/>
          </a:p>
          <a:p>
            <a:pPr algn="just"/>
            <a:r>
              <a:rPr lang="fr-FR" dirty="0"/>
              <a:t>    Ouvrez un premier terminal et lancez la première instance :</a:t>
            </a:r>
          </a:p>
          <a:p>
            <a:pPr algn="just"/>
            <a:r>
              <a:rPr lang="fr-FR" dirty="0"/>
              <a:t>    </a:t>
            </a:r>
            <a:r>
              <a:rPr lang="fr-FR" dirty="0" err="1"/>
              <a:t>mongod</a:t>
            </a:r>
            <a:r>
              <a:rPr lang="fr-FR" dirty="0"/>
              <a:t> --port 27017 --</a:t>
            </a:r>
            <a:r>
              <a:rPr lang="fr-FR" dirty="0" err="1"/>
              <a:t>dbpath</a:t>
            </a:r>
            <a:r>
              <a:rPr lang="fr-FR" dirty="0"/>
              <a:t> C:\data\rs1 --</a:t>
            </a:r>
            <a:r>
              <a:rPr lang="fr-FR" dirty="0" err="1"/>
              <a:t>replSet</a:t>
            </a:r>
            <a:r>
              <a:rPr lang="fr-FR" dirty="0"/>
              <a:t> mon-</a:t>
            </a:r>
            <a:r>
              <a:rPr lang="fr-FR" dirty="0" err="1"/>
              <a:t>replicaset</a:t>
            </a:r>
            <a:endParaRPr lang="fr-FR" dirty="0"/>
          </a:p>
          <a:p>
            <a:pPr algn="just"/>
            <a:endParaRPr lang="fr-FR" dirty="0"/>
          </a:p>
          <a:p>
            <a:pPr algn="just"/>
            <a:r>
              <a:rPr lang="fr-FR" dirty="0"/>
              <a:t>    Ouvrez un deuxième terminal et lancez la deuxième instance :</a:t>
            </a:r>
          </a:p>
          <a:p>
            <a:pPr algn="just"/>
            <a:r>
              <a:rPr lang="fr-FR" dirty="0"/>
              <a:t>    </a:t>
            </a:r>
            <a:r>
              <a:rPr lang="fr-FR" dirty="0" err="1"/>
              <a:t>mongod</a:t>
            </a:r>
            <a:r>
              <a:rPr lang="fr-FR" dirty="0"/>
              <a:t> --port 27018 --</a:t>
            </a:r>
            <a:r>
              <a:rPr lang="fr-FR" dirty="0" err="1"/>
              <a:t>dbpath</a:t>
            </a:r>
            <a:r>
              <a:rPr lang="fr-FR" dirty="0"/>
              <a:t> C:\data\rs2 --</a:t>
            </a:r>
            <a:r>
              <a:rPr lang="fr-FR" dirty="0" err="1"/>
              <a:t>replSet</a:t>
            </a:r>
            <a:r>
              <a:rPr lang="fr-FR" dirty="0"/>
              <a:t> mon-</a:t>
            </a:r>
            <a:r>
              <a:rPr lang="fr-FR" dirty="0" err="1"/>
              <a:t>replicaset</a:t>
            </a:r>
            <a:endParaRPr lang="fr-FR" dirty="0"/>
          </a:p>
          <a:p>
            <a:pPr algn="just"/>
            <a:endParaRPr lang="fr-FR" dirty="0"/>
          </a:p>
          <a:p>
            <a:pPr algn="just"/>
            <a:r>
              <a:rPr lang="fr-FR" dirty="0"/>
              <a:t>    Ouvrez un troisième terminal et lancez la troisième instance :</a:t>
            </a:r>
          </a:p>
          <a:p>
            <a:pPr algn="just"/>
            <a:r>
              <a:rPr lang="fr-FR" dirty="0"/>
              <a:t>    </a:t>
            </a:r>
            <a:r>
              <a:rPr lang="fr-FR" dirty="0" err="1"/>
              <a:t>mongod</a:t>
            </a:r>
            <a:r>
              <a:rPr lang="fr-FR" dirty="0"/>
              <a:t> --port 27019 --</a:t>
            </a:r>
            <a:r>
              <a:rPr lang="fr-FR" dirty="0" err="1"/>
              <a:t>dbpath</a:t>
            </a:r>
            <a:r>
              <a:rPr lang="fr-FR" dirty="0"/>
              <a:t> C:\data\rs3 --</a:t>
            </a:r>
            <a:r>
              <a:rPr lang="fr-FR" dirty="0" err="1"/>
              <a:t>replSet</a:t>
            </a:r>
            <a:r>
              <a:rPr lang="fr-FR" dirty="0"/>
              <a:t> mon-</a:t>
            </a:r>
            <a:r>
              <a:rPr lang="fr-FR" dirty="0" err="1"/>
              <a:t>replicaset</a:t>
            </a:r>
            <a:endParaRPr lang="fr-FR" dirty="0"/>
          </a:p>
          <a:p>
            <a:pPr algn="just"/>
            <a:endParaRPr lang="fr-FR" dirty="0"/>
          </a:p>
          <a:p>
            <a:pPr algn="just"/>
            <a:r>
              <a:rPr lang="fr-FR" dirty="0"/>
              <a:t>Note : --</a:t>
            </a:r>
            <a:r>
              <a:rPr lang="fr-FR" dirty="0" err="1"/>
              <a:t>replSet</a:t>
            </a:r>
            <a:r>
              <a:rPr lang="fr-FR" dirty="0"/>
              <a:t> est l'argument qui indique à </a:t>
            </a:r>
            <a:r>
              <a:rPr lang="fr-FR" dirty="0" err="1"/>
              <a:t>MongoDB</a:t>
            </a:r>
            <a:r>
              <a:rPr lang="fr-FR" dirty="0"/>
              <a:t> que cette instance fait partie d'un </a:t>
            </a:r>
            <a:r>
              <a:rPr lang="fr-FR" dirty="0" err="1"/>
              <a:t>ReplicaSet</a:t>
            </a:r>
            <a:r>
              <a:rPr lang="fr-FR" dirty="0"/>
              <a:t>, et mon-</a:t>
            </a:r>
            <a:r>
              <a:rPr lang="fr-FR" dirty="0" err="1"/>
              <a:t>replicaset</a:t>
            </a:r>
            <a:r>
              <a:rPr lang="fr-FR" dirty="0"/>
              <a:t> est le nom que nous lui donnons.</a:t>
            </a:r>
          </a:p>
          <a:p>
            <a:pPr algn="just"/>
            <a:endParaRPr lang="fr-FR" dirty="0"/>
          </a:p>
        </p:txBody>
      </p:sp>
    </p:spTree>
    <p:extLst>
      <p:ext uri="{BB962C8B-B14F-4D97-AF65-F5344CB8AC3E}">
        <p14:creationId xmlns:p14="http://schemas.microsoft.com/office/powerpoint/2010/main" val="24788938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127" y="187548"/>
            <a:ext cx="8956964" cy="3970318"/>
          </a:xfrm>
          <a:prstGeom prst="rect">
            <a:avLst/>
          </a:prstGeom>
        </p:spPr>
        <p:txBody>
          <a:bodyPr wrap="square">
            <a:spAutoFit/>
          </a:bodyPr>
          <a:lstStyle/>
          <a:p>
            <a:r>
              <a:rPr lang="fr-FR" dirty="0"/>
              <a:t>1. Logique de réplication : Pourquoi et comment</a:t>
            </a:r>
          </a:p>
          <a:p>
            <a:endParaRPr lang="fr-FR" dirty="0"/>
          </a:p>
          <a:p>
            <a:r>
              <a:rPr lang="fr-FR" dirty="0"/>
              <a:t>La logique de réplication pour votre projet repose sur la haute disponibilité et la protection des données. L'objectif est de s'assurer que vos données restent accessibles et intactes, même si l'un de vos serveurs tombe en panne.</a:t>
            </a:r>
          </a:p>
          <a:p>
            <a:endParaRPr lang="fr-FR" dirty="0"/>
          </a:p>
          <a:p>
            <a:r>
              <a:rPr lang="fr-FR" dirty="0"/>
              <a:t>    Haute disponibilité : Un </a:t>
            </a:r>
            <a:r>
              <a:rPr lang="fr-FR" dirty="0" err="1"/>
              <a:t>ReplicaSet</a:t>
            </a:r>
            <a:r>
              <a:rPr lang="fr-FR" dirty="0"/>
              <a:t> garantit que si le serveur primaire rencontre un problème, un des serveurs secondaires prendra automatiquement sa place pour devenir le nouveau primaire. Vos applications pourront continuer à lire et écrire des données sans interruption.</a:t>
            </a:r>
          </a:p>
          <a:p>
            <a:endParaRPr lang="fr-FR" dirty="0"/>
          </a:p>
          <a:p>
            <a:r>
              <a:rPr lang="fr-FR" dirty="0"/>
              <a:t>    Protection des données : La réplication est un mécanisme de sauvegarde en temps réel. Toutes les données écrites sur le nœud primaire sont copiées sur les nœuds secondaires. En cas de défaillance matérielle (par exemple, un disque dur qui lâche), la copie des données existe toujours sur les autres serveurs.</a:t>
            </a:r>
          </a:p>
          <a:p>
            <a:endParaRPr lang="fr-FR" dirty="0"/>
          </a:p>
          <a:p>
            <a:r>
              <a:rPr lang="fr-FR" dirty="0"/>
              <a:t>    Rôle de l'arbitre : L'arbitre est un membre léger du </a:t>
            </a:r>
            <a:r>
              <a:rPr lang="fr-FR" dirty="0" err="1"/>
              <a:t>ReplicaSet</a:t>
            </a:r>
            <a:r>
              <a:rPr lang="fr-FR" dirty="0"/>
              <a:t> qui n'héberge aucune donnée. Son seul rôle est de voter lors d'une élection pour un nouveau primaire si le primaire actuel devient injoignable. Il est crucial pour assurer que le </a:t>
            </a:r>
            <a:r>
              <a:rPr lang="fr-FR" dirty="0" err="1"/>
              <a:t>ReplicaSet</a:t>
            </a:r>
            <a:r>
              <a:rPr lang="fr-FR" dirty="0"/>
              <a:t> a toujours une majorité de membres pour prendre des décisions, ce qui rend votre architecture plus robuste.</a:t>
            </a:r>
          </a:p>
        </p:txBody>
      </p:sp>
    </p:spTree>
    <p:extLst>
      <p:ext uri="{BB962C8B-B14F-4D97-AF65-F5344CB8AC3E}">
        <p14:creationId xmlns:p14="http://schemas.microsoft.com/office/powerpoint/2010/main" val="38523864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8964" y="83128"/>
            <a:ext cx="4684539" cy="307777"/>
          </a:xfrm>
          <a:prstGeom prst="rect">
            <a:avLst/>
          </a:prstGeom>
        </p:spPr>
        <p:txBody>
          <a:bodyPr wrap="square">
            <a:spAutoFit/>
          </a:bodyPr>
          <a:lstStyle/>
          <a:p>
            <a:r>
              <a:rPr lang="fr-FR" dirty="0"/>
              <a:t>Schéma de la base de données et de la connexion BI</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2281" y="390905"/>
            <a:ext cx="6477904" cy="3229426"/>
          </a:xfrm>
          <a:prstGeom prst="rect">
            <a:avLst/>
          </a:prstGeom>
        </p:spPr>
      </p:pic>
      <p:pic>
        <p:nvPicPr>
          <p:cNvPr id="4" name="Image 3"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8371" y="3379599"/>
            <a:ext cx="6477905" cy="628738"/>
          </a:xfrm>
          <a:prstGeom prst="rect">
            <a:avLst/>
          </a:prstGeom>
        </p:spPr>
      </p:pic>
    </p:spTree>
    <p:extLst>
      <p:ext uri="{BB962C8B-B14F-4D97-AF65-F5344CB8AC3E}">
        <p14:creationId xmlns:p14="http://schemas.microsoft.com/office/powerpoint/2010/main" val="16056222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au 1"/>
          <p:cNvGraphicFramePr>
            <a:graphicFrameLocks noGrp="1"/>
          </p:cNvGraphicFramePr>
          <p:nvPr>
            <p:extLst>
              <p:ext uri="{D42A27DB-BD31-4B8C-83A1-F6EECF244321}">
                <p14:modId xmlns:p14="http://schemas.microsoft.com/office/powerpoint/2010/main" val="1932915541"/>
              </p:ext>
            </p:extLst>
          </p:nvPr>
        </p:nvGraphicFramePr>
        <p:xfrm>
          <a:off x="1549402" y="1142077"/>
          <a:ext cx="6045195" cy="3478306"/>
        </p:xfrm>
        <a:graphic>
          <a:graphicData uri="http://schemas.openxmlformats.org/drawingml/2006/table">
            <a:tbl>
              <a:tblPr/>
              <a:tblGrid>
                <a:gridCol w="2015065">
                  <a:extLst>
                    <a:ext uri="{9D8B030D-6E8A-4147-A177-3AD203B41FA5}">
                      <a16:colId xmlns:a16="http://schemas.microsoft.com/office/drawing/2014/main" val="4135268000"/>
                    </a:ext>
                  </a:extLst>
                </a:gridCol>
                <a:gridCol w="2015065">
                  <a:extLst>
                    <a:ext uri="{9D8B030D-6E8A-4147-A177-3AD203B41FA5}">
                      <a16:colId xmlns:a16="http://schemas.microsoft.com/office/drawing/2014/main" val="1894162954"/>
                    </a:ext>
                  </a:extLst>
                </a:gridCol>
                <a:gridCol w="2015065">
                  <a:extLst>
                    <a:ext uri="{9D8B030D-6E8A-4147-A177-3AD203B41FA5}">
                      <a16:colId xmlns:a16="http://schemas.microsoft.com/office/drawing/2014/main" val="3232259984"/>
                    </a:ext>
                  </a:extLst>
                </a:gridCol>
              </a:tblGrid>
              <a:tr h="216222">
                <a:tc>
                  <a:txBody>
                    <a:bodyPr/>
                    <a:lstStyle/>
                    <a:p>
                      <a:endParaRPr lang="fr-FR" dirty="0"/>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extLst>
                  <a:ext uri="{0D108BD9-81ED-4DB2-BD59-A6C34878D82A}">
                    <a16:rowId xmlns:a16="http://schemas.microsoft.com/office/drawing/2014/main" val="3041268707"/>
                  </a:ext>
                </a:extLst>
              </a:tr>
              <a:tr h="518932">
                <a:tc>
                  <a:txBody>
                    <a:bodyPr/>
                    <a:lstStyle/>
                    <a:p>
                      <a:endParaRPr lang="fr-FR"/>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extLst>
                  <a:ext uri="{0D108BD9-81ED-4DB2-BD59-A6C34878D82A}">
                    <a16:rowId xmlns:a16="http://schemas.microsoft.com/office/drawing/2014/main" val="1343123385"/>
                  </a:ext>
                </a:extLst>
              </a:tr>
              <a:tr h="670287">
                <a:tc>
                  <a:txBody>
                    <a:bodyPr/>
                    <a:lstStyle/>
                    <a:p>
                      <a:endParaRPr lang="fr-FR" dirty="0"/>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extLst>
                  <a:ext uri="{0D108BD9-81ED-4DB2-BD59-A6C34878D82A}">
                    <a16:rowId xmlns:a16="http://schemas.microsoft.com/office/drawing/2014/main" val="951035171"/>
                  </a:ext>
                </a:extLst>
              </a:tr>
              <a:tr h="518932">
                <a:tc>
                  <a:txBody>
                    <a:bodyPr/>
                    <a:lstStyle/>
                    <a:p>
                      <a:endParaRPr lang="fr-FR"/>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extLst>
                  <a:ext uri="{0D108BD9-81ED-4DB2-BD59-A6C34878D82A}">
                    <a16:rowId xmlns:a16="http://schemas.microsoft.com/office/drawing/2014/main" val="2918464794"/>
                  </a:ext>
                </a:extLst>
              </a:tr>
              <a:tr h="821642">
                <a:tc>
                  <a:txBody>
                    <a:bodyPr/>
                    <a:lstStyle/>
                    <a:p>
                      <a:endParaRPr lang="fr-FR"/>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tc>
                  <a:txBody>
                    <a:bodyPr/>
                    <a:lstStyle/>
                    <a:p>
                      <a:endParaRPr lang="fr-FR"/>
                    </a:p>
                  </a:txBody>
                  <a:tcPr marL="64866" marR="64866" marT="32433" marB="32433" anchor="ctr">
                    <a:lnL>
                      <a:noFill/>
                    </a:lnL>
                    <a:lnR>
                      <a:noFill/>
                    </a:lnR>
                    <a:lnT>
                      <a:noFill/>
                    </a:lnT>
                    <a:lnB>
                      <a:noFill/>
                    </a:lnB>
                  </a:tcPr>
                </a:tc>
                <a:extLst>
                  <a:ext uri="{0D108BD9-81ED-4DB2-BD59-A6C34878D82A}">
                    <a16:rowId xmlns:a16="http://schemas.microsoft.com/office/drawing/2014/main" val="2985551444"/>
                  </a:ext>
                </a:extLst>
              </a:tr>
              <a:tr h="670287">
                <a:tc>
                  <a:txBody>
                    <a:bodyPr/>
                    <a:lstStyle/>
                    <a:p>
                      <a:endParaRPr lang="fr-FR"/>
                    </a:p>
                  </a:txBody>
                  <a:tcPr marL="64866" marR="64866" marT="32433" marB="32433" anchor="ctr">
                    <a:lnL>
                      <a:noFill/>
                    </a:lnL>
                    <a:lnR>
                      <a:noFill/>
                    </a:lnR>
                    <a:lnT>
                      <a:noFill/>
                    </a:lnT>
                    <a:lnB>
                      <a:noFill/>
                    </a:lnB>
                  </a:tcPr>
                </a:tc>
                <a:tc>
                  <a:txBody>
                    <a:bodyPr/>
                    <a:lstStyle/>
                    <a:p>
                      <a:endParaRPr lang="fr-FR" dirty="0"/>
                    </a:p>
                  </a:txBody>
                  <a:tcPr marL="64866" marR="64866" marT="32433" marB="32433" anchor="ctr">
                    <a:lnL>
                      <a:noFill/>
                    </a:lnL>
                    <a:lnR>
                      <a:noFill/>
                    </a:lnR>
                    <a:lnT>
                      <a:noFill/>
                    </a:lnT>
                    <a:lnB>
                      <a:noFill/>
                    </a:lnB>
                  </a:tcPr>
                </a:tc>
                <a:tc>
                  <a:txBody>
                    <a:bodyPr/>
                    <a:lstStyle/>
                    <a:p>
                      <a:endParaRPr lang="fr-FR" dirty="0"/>
                    </a:p>
                  </a:txBody>
                  <a:tcPr marL="64866" marR="64866" marT="32433" marB="32433" anchor="ctr">
                    <a:lnL>
                      <a:noFill/>
                    </a:lnL>
                    <a:lnR>
                      <a:noFill/>
                    </a:lnR>
                    <a:lnT>
                      <a:noFill/>
                    </a:lnT>
                    <a:lnB>
                      <a:noFill/>
                    </a:lnB>
                  </a:tcPr>
                </a:tc>
                <a:extLst>
                  <a:ext uri="{0D108BD9-81ED-4DB2-BD59-A6C34878D82A}">
                    <a16:rowId xmlns:a16="http://schemas.microsoft.com/office/drawing/2014/main" val="355780932"/>
                  </a:ext>
                </a:extLst>
              </a:tr>
            </a:tbl>
          </a:graphicData>
        </a:graphic>
      </p:graphicFrame>
      <p:sp>
        <p:nvSpPr>
          <p:cNvPr id="5" name="Rectangle 4"/>
          <p:cNvSpPr/>
          <p:nvPr/>
        </p:nvSpPr>
        <p:spPr>
          <a:xfrm>
            <a:off x="3244467" y="152643"/>
            <a:ext cx="2978701" cy="400110"/>
          </a:xfrm>
          <a:prstGeom prst="rect">
            <a:avLst/>
          </a:prstGeom>
        </p:spPr>
        <p:txBody>
          <a:bodyPr wrap="none">
            <a:spAutoFit/>
          </a:bodyPr>
          <a:lstStyle/>
          <a:p>
            <a:r>
              <a:rPr lang="fr-FR" sz="2000" dirty="0"/>
              <a:t>Processus de réplication</a:t>
            </a:r>
          </a:p>
        </p:txBody>
      </p:sp>
      <p:pic>
        <p:nvPicPr>
          <p:cNvPr id="6" name="Image 5"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419" y="1018030"/>
            <a:ext cx="6096851" cy="4001058"/>
          </a:xfrm>
          <a:prstGeom prst="rect">
            <a:avLst/>
          </a:prstGeom>
        </p:spPr>
      </p:pic>
    </p:spTree>
    <p:extLst>
      <p:ext uri="{BB962C8B-B14F-4D97-AF65-F5344CB8AC3E}">
        <p14:creationId xmlns:p14="http://schemas.microsoft.com/office/powerpoint/2010/main" val="18783772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6127" y="966355"/>
            <a:ext cx="6275521" cy="523220"/>
          </a:xfrm>
          <a:prstGeom prst="rect">
            <a:avLst/>
          </a:prstGeom>
        </p:spPr>
        <p:txBody>
          <a:bodyPr wrap="square">
            <a:spAutoFit/>
          </a:bodyPr>
          <a:lstStyle/>
          <a:p>
            <a:r>
              <a:rPr lang="fr-FR" sz="2800" dirty="0"/>
              <a:t>Instancier le </a:t>
            </a:r>
            <a:r>
              <a:rPr lang="fr-FR" sz="2800" dirty="0" err="1"/>
              <a:t>ReplicaSet</a:t>
            </a:r>
            <a:endParaRPr lang="fr-FR" sz="2800" dirty="0"/>
          </a:p>
        </p:txBody>
      </p:sp>
    </p:spTree>
    <p:extLst>
      <p:ext uri="{BB962C8B-B14F-4D97-AF65-F5344CB8AC3E}">
        <p14:creationId xmlns:p14="http://schemas.microsoft.com/office/powerpoint/2010/main" val="32296744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7645047" cy="5145470"/>
          </a:xfrm>
          <a:prstGeom prst="rect">
            <a:avLst/>
          </a:prstGeom>
        </p:spPr>
      </p:pic>
    </p:spTree>
    <p:extLst>
      <p:ext uri="{BB962C8B-B14F-4D97-AF65-F5344CB8AC3E}">
        <p14:creationId xmlns:p14="http://schemas.microsoft.com/office/powerpoint/2010/main" val="1985640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3127"/>
            <a:ext cx="6858000" cy="1384995"/>
          </a:xfrm>
          <a:prstGeom prst="rect">
            <a:avLst/>
          </a:prstGeom>
        </p:spPr>
        <p:txBody>
          <a:bodyPr wrap="square">
            <a:spAutoFit/>
          </a:bodyPr>
          <a:lstStyle/>
          <a:p>
            <a:r>
              <a:rPr lang="fr-FR" dirty="0"/>
              <a:t>Étape 1 : Insérer un document de test sur le serveur primaire</a:t>
            </a:r>
          </a:p>
          <a:p>
            <a:endParaRPr lang="fr-FR" dirty="0"/>
          </a:p>
          <a:p>
            <a:r>
              <a:rPr lang="fr-FR" dirty="0"/>
              <a:t>    </a:t>
            </a:r>
            <a:r>
              <a:rPr lang="fr-FR" dirty="0" smtClean="0"/>
              <a:t>1) Connectez-vous </a:t>
            </a:r>
            <a:r>
              <a:rPr lang="fr-FR" dirty="0"/>
              <a:t>à votre serveur primaire (port 27017) en utilisant </a:t>
            </a:r>
            <a:r>
              <a:rPr lang="fr-FR" dirty="0" err="1" smtClean="0"/>
              <a:t>mongosh</a:t>
            </a:r>
            <a:endParaRPr lang="fr-FR" dirty="0" smtClean="0"/>
          </a:p>
          <a:p>
            <a:endParaRPr lang="fr-FR" dirty="0"/>
          </a:p>
          <a:p>
            <a:r>
              <a:rPr lang="fr-FR" dirty="0"/>
              <a:t>. </a:t>
            </a:r>
            <a:r>
              <a:rPr lang="fr-FR" dirty="0" smtClean="0"/>
              <a:t>Se connecter sur un terminal via :                                                                                       &amp; </a:t>
            </a:r>
            <a:r>
              <a:rPr lang="fr-FR" dirty="0"/>
              <a:t>"C:\Users\User\AppData\Local\Programs\mongosh\mongosh.exe" --port 27017</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646" y="1963257"/>
            <a:ext cx="7554379" cy="2734057"/>
          </a:xfrm>
          <a:prstGeom prst="rect">
            <a:avLst/>
          </a:prstGeom>
        </p:spPr>
      </p:pic>
    </p:spTree>
    <p:extLst>
      <p:ext uri="{BB962C8B-B14F-4D97-AF65-F5344CB8AC3E}">
        <p14:creationId xmlns:p14="http://schemas.microsoft.com/office/powerpoint/2010/main" val="41408775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1080"/>
            <a:ext cx="6722918" cy="2523768"/>
          </a:xfrm>
          <a:prstGeom prst="rect">
            <a:avLst/>
          </a:prstGeom>
        </p:spPr>
        <p:txBody>
          <a:bodyPr wrap="square">
            <a:spAutoFit/>
          </a:bodyPr>
          <a:lstStyle/>
          <a:p>
            <a:r>
              <a:rPr lang="fr-FR" dirty="0" smtClean="0"/>
              <a:t>2) Une </a:t>
            </a:r>
            <a:r>
              <a:rPr lang="fr-FR" dirty="0"/>
              <a:t>fois dans le </a:t>
            </a:r>
            <a:r>
              <a:rPr lang="fr-FR" dirty="0" err="1"/>
              <a:t>shell</a:t>
            </a:r>
            <a:r>
              <a:rPr lang="fr-FR" dirty="0"/>
              <a:t>, insérez un document de </a:t>
            </a:r>
            <a:r>
              <a:rPr lang="fr-FR" dirty="0" smtClean="0"/>
              <a:t>test via :</a:t>
            </a:r>
          </a:p>
          <a:p>
            <a:endParaRPr lang="fr-FR" dirty="0" smtClean="0"/>
          </a:p>
          <a:p>
            <a:r>
              <a:rPr lang="fr-FR" b="1" dirty="0" err="1"/>
              <a:t>db.test.insertOne</a:t>
            </a:r>
            <a:r>
              <a:rPr lang="fr-FR" b="1" dirty="0"/>
              <a:t>({ "nom": "document de test" </a:t>
            </a:r>
            <a:r>
              <a:rPr lang="fr-FR" b="1" dirty="0" smtClean="0"/>
              <a:t>})</a:t>
            </a:r>
          </a:p>
          <a:p>
            <a:endParaRPr lang="fr-FR" dirty="0"/>
          </a:p>
          <a:p>
            <a:r>
              <a:rPr lang="fr-FR" dirty="0"/>
              <a:t>Le </a:t>
            </a:r>
            <a:r>
              <a:rPr lang="fr-FR" dirty="0" err="1"/>
              <a:t>shell</a:t>
            </a:r>
            <a:r>
              <a:rPr lang="fr-FR" dirty="0"/>
              <a:t> affichera </a:t>
            </a:r>
            <a:r>
              <a:rPr lang="fr-FR" dirty="0" err="1"/>
              <a:t>acknowledged</a:t>
            </a:r>
            <a:r>
              <a:rPr lang="fr-FR" dirty="0"/>
              <a:t>: </a:t>
            </a:r>
            <a:r>
              <a:rPr lang="fr-FR" dirty="0" err="1"/>
              <a:t>true</a:t>
            </a:r>
            <a:r>
              <a:rPr lang="fr-FR" dirty="0"/>
              <a:t> si tout a fonctionné</a:t>
            </a:r>
            <a:r>
              <a:rPr lang="fr-FR" dirty="0" smtClean="0"/>
              <a:t>.</a:t>
            </a:r>
          </a:p>
          <a:p>
            <a:endParaRPr lang="fr-FR" dirty="0"/>
          </a:p>
          <a:p>
            <a:r>
              <a:rPr lang="fr-FR" dirty="0"/>
              <a:t>Le message</a:t>
            </a:r>
            <a:r>
              <a:rPr lang="fr-FR" sz="1800" b="1" dirty="0"/>
              <a:t> </a:t>
            </a:r>
            <a:r>
              <a:rPr lang="fr-FR" sz="1800" b="1" dirty="0" err="1"/>
              <a:t>acknowledged</a:t>
            </a:r>
            <a:r>
              <a:rPr lang="fr-FR" sz="1800" b="1" dirty="0"/>
              <a:t>: </a:t>
            </a:r>
            <a:r>
              <a:rPr lang="fr-FR" sz="1800" b="1" dirty="0" err="1"/>
              <a:t>true</a:t>
            </a:r>
            <a:r>
              <a:rPr lang="fr-FR" sz="1800" b="1" dirty="0"/>
              <a:t> </a:t>
            </a:r>
            <a:r>
              <a:rPr lang="fr-FR" dirty="0"/>
              <a:t>confirme que le document de test a été inséré dans votre base de données sur le nœud primaire. C'est la preuve que votre </a:t>
            </a:r>
            <a:r>
              <a:rPr lang="fr-FR" dirty="0" err="1"/>
              <a:t>shell</a:t>
            </a:r>
            <a:r>
              <a:rPr lang="fr-FR" dirty="0"/>
              <a:t> fonctionne maintenant correctement</a:t>
            </a:r>
            <a:endParaRPr lang="fr-FR" dirty="0" smtClean="0"/>
          </a:p>
          <a:p>
            <a:endParaRPr lang="fr-FR" dirty="0"/>
          </a:p>
          <a:p>
            <a:endParaRPr lang="fr-FR" dirty="0"/>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85" y="2761918"/>
            <a:ext cx="7392432" cy="2381582"/>
          </a:xfrm>
          <a:prstGeom prst="rect">
            <a:avLst/>
          </a:prstGeom>
        </p:spPr>
      </p:pic>
    </p:spTree>
    <p:extLst>
      <p:ext uri="{BB962C8B-B14F-4D97-AF65-F5344CB8AC3E}">
        <p14:creationId xmlns:p14="http://schemas.microsoft.com/office/powerpoint/2010/main" val="17140070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6858000" cy="2246769"/>
          </a:xfrm>
          <a:prstGeom prst="rect">
            <a:avLst/>
          </a:prstGeom>
        </p:spPr>
        <p:txBody>
          <a:bodyPr wrap="square">
            <a:spAutoFit/>
          </a:bodyPr>
          <a:lstStyle/>
          <a:p>
            <a:r>
              <a:rPr lang="fr-FR" dirty="0" smtClean="0"/>
              <a:t>ETAPE 2  : LA VERIFICATION</a:t>
            </a:r>
          </a:p>
          <a:p>
            <a:endParaRPr lang="fr-FR" dirty="0"/>
          </a:p>
          <a:p>
            <a:r>
              <a:rPr lang="fr-FR" dirty="0" smtClean="0"/>
              <a:t>Pour </a:t>
            </a:r>
            <a:r>
              <a:rPr lang="fr-FR" dirty="0"/>
              <a:t>confirmer que la réplication fonctionne, vous devez maintenant vous connecter à votre serveur secondaire et vérifier que ce même document s'y trouve.</a:t>
            </a:r>
          </a:p>
          <a:p>
            <a:endParaRPr lang="fr-FR" dirty="0"/>
          </a:p>
          <a:p>
            <a:r>
              <a:rPr lang="fr-FR" dirty="0" smtClean="0"/>
              <a:t>1) quittez </a:t>
            </a:r>
            <a:r>
              <a:rPr lang="fr-FR" dirty="0"/>
              <a:t>le </a:t>
            </a:r>
            <a:r>
              <a:rPr lang="fr-FR" dirty="0" err="1"/>
              <a:t>shell</a:t>
            </a:r>
            <a:r>
              <a:rPr lang="fr-FR" dirty="0"/>
              <a:t> du serveur primaire en tapant exit.</a:t>
            </a:r>
          </a:p>
          <a:p>
            <a:endParaRPr lang="fr-FR" dirty="0"/>
          </a:p>
          <a:p>
            <a:r>
              <a:rPr lang="fr-FR" dirty="0"/>
              <a:t>2</a:t>
            </a:r>
            <a:r>
              <a:rPr lang="fr-FR" dirty="0" smtClean="0"/>
              <a:t>) Connectez-vous </a:t>
            </a:r>
            <a:r>
              <a:rPr lang="fr-FR" dirty="0"/>
              <a:t>au serveur secondaire (sur le port 27018) en utilisant </a:t>
            </a:r>
            <a:r>
              <a:rPr lang="fr-FR" dirty="0" err="1"/>
              <a:t>mongosh</a:t>
            </a:r>
            <a:r>
              <a:rPr lang="fr-FR" dirty="0"/>
              <a:t> : via: </a:t>
            </a:r>
            <a:r>
              <a:rPr lang="fr-FR" b="1" dirty="0"/>
              <a:t>&amp; "C:\Users\User\AppData\Local\Programs\mongosh\mongosh.exe" --port 27018</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588" y="3128833"/>
            <a:ext cx="7478169" cy="1857634"/>
          </a:xfrm>
          <a:prstGeom prst="rect">
            <a:avLst/>
          </a:prstGeom>
        </p:spPr>
      </p:pic>
    </p:spTree>
    <p:extLst>
      <p:ext uri="{BB962C8B-B14F-4D97-AF65-F5344CB8AC3E}">
        <p14:creationId xmlns:p14="http://schemas.microsoft.com/office/powerpoint/2010/main" val="21106178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736" y="117658"/>
            <a:ext cx="7606146" cy="1384995"/>
          </a:xfrm>
          <a:prstGeom prst="rect">
            <a:avLst/>
          </a:prstGeom>
        </p:spPr>
        <p:txBody>
          <a:bodyPr wrap="square">
            <a:spAutoFit/>
          </a:bodyPr>
          <a:lstStyle/>
          <a:p>
            <a:r>
              <a:rPr lang="fr-FR" dirty="0" smtClean="0"/>
              <a:t>3) Une </a:t>
            </a:r>
            <a:r>
              <a:rPr lang="fr-FR" dirty="0"/>
              <a:t>fois dans le </a:t>
            </a:r>
            <a:r>
              <a:rPr lang="fr-FR" dirty="0" err="1"/>
              <a:t>shell</a:t>
            </a:r>
            <a:r>
              <a:rPr lang="fr-FR" dirty="0"/>
              <a:t>, exécutez cette commande pour trouver le document :</a:t>
            </a:r>
            <a:r>
              <a:rPr lang="fr-FR" b="1" dirty="0" err="1"/>
              <a:t>db.test.findOne</a:t>
            </a:r>
            <a:r>
              <a:rPr lang="fr-FR" b="1" dirty="0" smtClean="0"/>
              <a:t>()</a:t>
            </a:r>
          </a:p>
          <a:p>
            <a:endParaRPr lang="fr-FR" dirty="0"/>
          </a:p>
          <a:p>
            <a:endParaRPr lang="fr-FR" dirty="0" smtClean="0"/>
          </a:p>
          <a:p>
            <a:r>
              <a:rPr lang="fr-FR" dirty="0"/>
              <a:t>Si vous voyez le document de test ({ "nom": "document de test" }) s'afficher, cela signifie que la réplication est active et que votre </a:t>
            </a:r>
            <a:r>
              <a:rPr lang="fr-FR" dirty="0" err="1"/>
              <a:t>ReplicaSet</a:t>
            </a:r>
            <a:r>
              <a:rPr lang="fr-FR" dirty="0"/>
              <a:t> est opérationnel !</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36" y="2333921"/>
            <a:ext cx="7792537" cy="1971950"/>
          </a:xfrm>
          <a:prstGeom prst="rect">
            <a:avLst/>
          </a:prstGeom>
        </p:spPr>
      </p:pic>
    </p:spTree>
    <p:extLst>
      <p:ext uri="{BB962C8B-B14F-4D97-AF65-F5344CB8AC3E}">
        <p14:creationId xmlns:p14="http://schemas.microsoft.com/office/powerpoint/2010/main" val="16313243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7824355" cy="2462213"/>
          </a:xfrm>
          <a:prstGeom prst="rect">
            <a:avLst/>
          </a:prstGeom>
        </p:spPr>
        <p:txBody>
          <a:bodyPr wrap="square">
            <a:spAutoFit/>
          </a:bodyPr>
          <a:lstStyle/>
          <a:p>
            <a:pPr algn="just"/>
            <a:r>
              <a:rPr lang="fr-FR" dirty="0" smtClean="0"/>
              <a:t>RECAPUTILATIF </a:t>
            </a:r>
          </a:p>
          <a:p>
            <a:pPr algn="just"/>
            <a:endParaRPr lang="fr-FR" dirty="0"/>
          </a:p>
          <a:p>
            <a:pPr algn="just"/>
            <a:r>
              <a:rPr lang="fr-FR" dirty="0" smtClean="0"/>
              <a:t>J’ai maintenant </a:t>
            </a:r>
            <a:r>
              <a:rPr lang="fr-FR" dirty="0"/>
              <a:t>accompli toutes les étapes pour :</a:t>
            </a:r>
          </a:p>
          <a:p>
            <a:pPr algn="just"/>
            <a:endParaRPr lang="fr-FR" dirty="0"/>
          </a:p>
          <a:p>
            <a:pPr algn="just"/>
            <a:r>
              <a:rPr lang="fr-FR" dirty="0"/>
              <a:t>    Instancier un </a:t>
            </a:r>
            <a:r>
              <a:rPr lang="fr-FR" dirty="0" err="1"/>
              <a:t>ReplicaSet</a:t>
            </a:r>
            <a:r>
              <a:rPr lang="fr-FR" dirty="0"/>
              <a:t> complet.</a:t>
            </a:r>
          </a:p>
          <a:p>
            <a:pPr algn="just"/>
            <a:endParaRPr lang="fr-FR" dirty="0"/>
          </a:p>
          <a:p>
            <a:pPr algn="just"/>
            <a:r>
              <a:rPr lang="fr-FR" dirty="0"/>
              <a:t>    Créer un arbitre.</a:t>
            </a:r>
          </a:p>
          <a:p>
            <a:pPr algn="just"/>
            <a:endParaRPr lang="fr-FR" dirty="0"/>
          </a:p>
          <a:p>
            <a:pPr algn="just"/>
            <a:r>
              <a:rPr lang="fr-FR" dirty="0"/>
              <a:t>    Vérifier que la réplication des données est opérationnelle.</a:t>
            </a:r>
          </a:p>
          <a:p>
            <a:pPr algn="just"/>
            <a:endParaRPr lang="fr-FR" dirty="0"/>
          </a:p>
          <a:p>
            <a:pPr algn="just"/>
            <a:r>
              <a:rPr lang="fr-FR" dirty="0" smtClean="0"/>
              <a:t>Le </a:t>
            </a:r>
            <a:r>
              <a:rPr lang="fr-FR" dirty="0" err="1"/>
              <a:t>ReplicaSet</a:t>
            </a:r>
            <a:r>
              <a:rPr lang="fr-FR" dirty="0"/>
              <a:t> est entièrement fonctionnel</a:t>
            </a:r>
          </a:p>
        </p:txBody>
      </p:sp>
    </p:spTree>
    <p:extLst>
      <p:ext uri="{BB962C8B-B14F-4D97-AF65-F5344CB8AC3E}">
        <p14:creationId xmlns:p14="http://schemas.microsoft.com/office/powerpoint/2010/main" val="26167738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4664" y="1510040"/>
            <a:ext cx="4572000" cy="923330"/>
          </a:xfrm>
          <a:prstGeom prst="rect">
            <a:avLst/>
          </a:prstGeom>
        </p:spPr>
        <p:txBody>
          <a:bodyPr>
            <a:spAutoFit/>
          </a:bodyPr>
          <a:lstStyle/>
          <a:p>
            <a:r>
              <a:rPr lang="fr-FR" sz="1800" dirty="0"/>
              <a:t>La description de la logique et du processus suivi pour distribuer les données sous forme de tableau. </a:t>
            </a:r>
          </a:p>
        </p:txBody>
      </p:sp>
    </p:spTree>
    <p:extLst>
      <p:ext uri="{BB962C8B-B14F-4D97-AF65-F5344CB8AC3E}">
        <p14:creationId xmlns:p14="http://schemas.microsoft.com/office/powerpoint/2010/main" val="28607583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230"/>
            <a:ext cx="6392167" cy="4982270"/>
          </a:xfrm>
          <a:prstGeom prst="rect">
            <a:avLst/>
          </a:prstGeom>
        </p:spPr>
      </p:pic>
    </p:spTree>
    <p:extLst>
      <p:ext uri="{BB962C8B-B14F-4D97-AF65-F5344CB8AC3E}">
        <p14:creationId xmlns:p14="http://schemas.microsoft.com/office/powerpoint/2010/main" val="17491678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088"/>
            <a:ext cx="6144482" cy="4077269"/>
          </a:xfrm>
          <a:prstGeom prst="rect">
            <a:avLst/>
          </a:prstGeom>
        </p:spPr>
      </p:pic>
    </p:spTree>
    <p:extLst>
      <p:ext uri="{BB962C8B-B14F-4D97-AF65-F5344CB8AC3E}">
        <p14:creationId xmlns:p14="http://schemas.microsoft.com/office/powerpoint/2010/main" val="27235454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8375073" cy="2677656"/>
          </a:xfrm>
          <a:prstGeom prst="rect">
            <a:avLst/>
          </a:prstGeom>
        </p:spPr>
        <p:txBody>
          <a:bodyPr wrap="square">
            <a:spAutoFit/>
          </a:bodyPr>
          <a:lstStyle/>
          <a:p>
            <a:pPr algn="just"/>
            <a:r>
              <a:rPr lang="fr-FR" dirty="0"/>
              <a:t>1. Définir la stratégie de distribution</a:t>
            </a:r>
          </a:p>
          <a:p>
            <a:pPr algn="just"/>
            <a:endParaRPr lang="fr-FR" dirty="0"/>
          </a:p>
          <a:p>
            <a:pPr algn="just"/>
            <a:r>
              <a:rPr lang="fr-FR" dirty="0"/>
              <a:t>La stratégie consiste à diviser votre collection de données en plusieurs fragments (</a:t>
            </a:r>
            <a:r>
              <a:rPr lang="fr-FR" dirty="0" err="1"/>
              <a:t>shards</a:t>
            </a:r>
            <a:r>
              <a:rPr lang="fr-FR" dirty="0"/>
              <a:t>) en utilisant une clé de </a:t>
            </a:r>
            <a:r>
              <a:rPr lang="fr-FR" dirty="0" err="1"/>
              <a:t>shard</a:t>
            </a:r>
            <a:r>
              <a:rPr lang="fr-FR" dirty="0"/>
              <a:t>. Pour répondre à votre objectif (optimiser les requêtes pour Paris et Lyon), la clé de </a:t>
            </a:r>
            <a:r>
              <a:rPr lang="fr-FR" dirty="0" err="1"/>
              <a:t>shard</a:t>
            </a:r>
            <a:r>
              <a:rPr lang="fr-FR" dirty="0"/>
              <a:t> la plus logique est le champ ville ou localité de vos documents.</a:t>
            </a:r>
          </a:p>
          <a:p>
            <a:pPr algn="just"/>
            <a:endParaRPr lang="fr-FR" dirty="0"/>
          </a:p>
          <a:p>
            <a:pPr algn="just"/>
            <a:r>
              <a:rPr lang="fr-FR" dirty="0"/>
              <a:t>    Toutes les données avec ville: "Paris" iront sur le </a:t>
            </a:r>
            <a:r>
              <a:rPr lang="fr-FR" dirty="0" err="1"/>
              <a:t>shard</a:t>
            </a:r>
            <a:r>
              <a:rPr lang="fr-FR" dirty="0"/>
              <a:t> de Paris.</a:t>
            </a:r>
          </a:p>
          <a:p>
            <a:pPr algn="just"/>
            <a:endParaRPr lang="fr-FR" dirty="0"/>
          </a:p>
          <a:p>
            <a:pPr algn="just"/>
            <a:r>
              <a:rPr lang="fr-FR" dirty="0"/>
              <a:t>    Toutes les données avec ville: "Lyon" iront sur le </a:t>
            </a:r>
            <a:r>
              <a:rPr lang="fr-FR" dirty="0" err="1"/>
              <a:t>shard</a:t>
            </a:r>
            <a:r>
              <a:rPr lang="fr-FR" dirty="0"/>
              <a:t> de Lyon.</a:t>
            </a:r>
          </a:p>
          <a:p>
            <a:pPr algn="just"/>
            <a:endParaRPr lang="fr-FR" dirty="0"/>
          </a:p>
          <a:p>
            <a:pPr algn="just"/>
            <a:r>
              <a:rPr lang="fr-FR" dirty="0"/>
              <a:t>Cette stratégie permet aux requêtes sur une ville spécifique d'être dirigées directement vers le bon </a:t>
            </a:r>
            <a:r>
              <a:rPr lang="fr-FR" dirty="0" err="1"/>
              <a:t>shard</a:t>
            </a:r>
            <a:r>
              <a:rPr lang="fr-FR" dirty="0"/>
              <a:t>, évitant de scanner le cluster entier.</a:t>
            </a:r>
          </a:p>
        </p:txBody>
      </p:sp>
    </p:spTree>
    <p:extLst>
      <p:ext uri="{BB962C8B-B14F-4D97-AF65-F5344CB8AC3E}">
        <p14:creationId xmlns:p14="http://schemas.microsoft.com/office/powerpoint/2010/main" val="28877949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8510155" cy="2462213"/>
          </a:xfrm>
          <a:prstGeom prst="rect">
            <a:avLst/>
          </a:prstGeom>
        </p:spPr>
        <p:txBody>
          <a:bodyPr wrap="square">
            <a:spAutoFit/>
          </a:bodyPr>
          <a:lstStyle/>
          <a:p>
            <a:r>
              <a:rPr lang="fr-FR" dirty="0"/>
              <a:t>2. Créer le cluster</a:t>
            </a:r>
          </a:p>
          <a:p>
            <a:endParaRPr lang="fr-FR" dirty="0"/>
          </a:p>
          <a:p>
            <a:r>
              <a:rPr lang="fr-FR" dirty="0"/>
              <a:t>Un cluster </a:t>
            </a:r>
            <a:r>
              <a:rPr lang="fr-FR" dirty="0" err="1"/>
              <a:t>sharded</a:t>
            </a:r>
            <a:r>
              <a:rPr lang="fr-FR" dirty="0"/>
              <a:t> est composé de plusieurs éléments que vous devez lancer.</a:t>
            </a:r>
          </a:p>
          <a:p>
            <a:endParaRPr lang="fr-FR" dirty="0"/>
          </a:p>
          <a:p>
            <a:r>
              <a:rPr lang="fr-FR" dirty="0"/>
              <a:t>Étape A : Lancer les serveurs de configuration</a:t>
            </a:r>
          </a:p>
          <a:p>
            <a:endParaRPr lang="fr-FR" dirty="0"/>
          </a:p>
          <a:p>
            <a:r>
              <a:rPr lang="fr-FR" dirty="0"/>
              <a:t>Les serveurs de configuration stockent les métadonnées du cluster. Nous allons en lancer un seul pour ce test, mais en réalité, il faudrait un </a:t>
            </a:r>
            <a:r>
              <a:rPr lang="fr-FR" dirty="0" err="1"/>
              <a:t>replica</a:t>
            </a:r>
            <a:r>
              <a:rPr lang="fr-FR" dirty="0"/>
              <a:t> set de trois serveurs.</a:t>
            </a:r>
          </a:p>
          <a:p>
            <a:endParaRPr lang="fr-FR" dirty="0"/>
          </a:p>
          <a:p>
            <a:r>
              <a:rPr lang="fr-FR" dirty="0"/>
              <a:t>&amp; "C:\Program Files\</a:t>
            </a:r>
            <a:r>
              <a:rPr lang="fr-FR" dirty="0" err="1"/>
              <a:t>MongoDB</a:t>
            </a:r>
            <a:r>
              <a:rPr lang="fr-FR" dirty="0"/>
              <a:t>\Server\8.0\bin\</a:t>
            </a:r>
            <a:r>
              <a:rPr lang="fr-FR" dirty="0" err="1"/>
              <a:t>mongod</a:t>
            </a:r>
            <a:r>
              <a:rPr lang="fr-FR" dirty="0"/>
              <a:t>" --port 27040 --</a:t>
            </a:r>
            <a:r>
              <a:rPr lang="fr-FR" dirty="0" err="1"/>
              <a:t>dbpath</a:t>
            </a:r>
            <a:r>
              <a:rPr lang="fr-FR" dirty="0"/>
              <a:t> C:\data\configdb --</a:t>
            </a:r>
            <a:r>
              <a:rPr lang="fr-FR" dirty="0" err="1"/>
              <a:t>configsvr</a:t>
            </a:r>
            <a:r>
              <a:rPr lang="fr-FR" dirty="0"/>
              <a:t> --</a:t>
            </a:r>
            <a:r>
              <a:rPr lang="fr-FR" dirty="0" err="1"/>
              <a:t>replSet</a:t>
            </a:r>
            <a:r>
              <a:rPr lang="fr-FR" dirty="0"/>
              <a:t> </a:t>
            </a:r>
            <a:r>
              <a:rPr lang="fr-FR" dirty="0" err="1"/>
              <a:t>rs</a:t>
            </a:r>
            <a:r>
              <a:rPr lang="fr-FR" dirty="0"/>
              <a:t>-config</a:t>
            </a:r>
          </a:p>
        </p:txBody>
      </p:sp>
    </p:spTree>
    <p:extLst>
      <p:ext uri="{BB962C8B-B14F-4D97-AF65-F5344CB8AC3E}">
        <p14:creationId xmlns:p14="http://schemas.microsoft.com/office/powerpoint/2010/main" val="6975776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02" y="921572"/>
            <a:ext cx="7859844" cy="523220"/>
          </a:xfrm>
          <a:prstGeom prst="rect">
            <a:avLst/>
          </a:prstGeom>
        </p:spPr>
        <p:txBody>
          <a:bodyPr wrap="none">
            <a:spAutoFit/>
          </a:bodyPr>
          <a:lstStyle/>
          <a:p>
            <a:r>
              <a:rPr lang="fr-FR" sz="2800" dirty="0" smtClean="0"/>
              <a:t>Processus de création </a:t>
            </a:r>
            <a:r>
              <a:rPr lang="fr-FR" sz="2800" dirty="0"/>
              <a:t>des </a:t>
            </a:r>
            <a:r>
              <a:rPr lang="fr-FR" sz="2800" dirty="0" err="1" smtClean="0"/>
              <a:t>shards</a:t>
            </a:r>
            <a:r>
              <a:rPr lang="fr-FR" sz="2800" dirty="0"/>
              <a:t> et du cluster  </a:t>
            </a:r>
          </a:p>
        </p:txBody>
      </p:sp>
    </p:spTree>
    <p:extLst>
      <p:ext uri="{BB962C8B-B14F-4D97-AF65-F5344CB8AC3E}">
        <p14:creationId xmlns:p14="http://schemas.microsoft.com/office/powerpoint/2010/main" val="5191088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 y="0"/>
            <a:ext cx="8582891" cy="1600438"/>
          </a:xfrm>
          <a:prstGeom prst="rect">
            <a:avLst/>
          </a:prstGeom>
        </p:spPr>
        <p:txBody>
          <a:bodyPr wrap="square">
            <a:spAutoFit/>
          </a:bodyPr>
          <a:lstStyle/>
          <a:p>
            <a:r>
              <a:rPr lang="fr-FR" dirty="0"/>
              <a:t>Stratégie de Distribution</a:t>
            </a:r>
          </a:p>
          <a:p>
            <a:endParaRPr lang="fr-FR" dirty="0"/>
          </a:p>
          <a:p>
            <a:r>
              <a:rPr lang="fr-FR" dirty="0"/>
              <a:t>Pour répondre à l'objectif d'optimiser les performances des requêtes locales, nous avons mis en place une stratégie de </a:t>
            </a:r>
            <a:r>
              <a:rPr lang="fr-FR" dirty="0" err="1"/>
              <a:t>sharding</a:t>
            </a:r>
            <a:r>
              <a:rPr lang="fr-FR" dirty="0"/>
              <a:t> basée sur une clé de </a:t>
            </a:r>
            <a:r>
              <a:rPr lang="fr-FR" dirty="0" err="1"/>
              <a:t>shard</a:t>
            </a:r>
            <a:r>
              <a:rPr lang="fr-FR" dirty="0"/>
              <a:t>. En utilisant le champ ville comme clé, les données de Paris sont stockées sur un serveur dédié ("</a:t>
            </a:r>
            <a:r>
              <a:rPr lang="fr-FR" dirty="0" err="1"/>
              <a:t>shard</a:t>
            </a:r>
            <a:r>
              <a:rPr lang="fr-FR" dirty="0"/>
              <a:t> de Paris"), et celles de Lyon sur un autre ("</a:t>
            </a:r>
            <a:r>
              <a:rPr lang="fr-FR" dirty="0" err="1"/>
              <a:t>shard</a:t>
            </a:r>
            <a:r>
              <a:rPr lang="fr-FR" dirty="0"/>
              <a:t> de Lyon"). Cela permet aux requêtes ciblant une ville spécifique d'être dirigées directement vers le bon serveur, ce qui réduit la charge et le temps de réponse</a:t>
            </a:r>
          </a:p>
        </p:txBody>
      </p:sp>
    </p:spTree>
    <p:extLst>
      <p:ext uri="{BB962C8B-B14F-4D97-AF65-F5344CB8AC3E}">
        <p14:creationId xmlns:p14="http://schemas.microsoft.com/office/powerpoint/2010/main" val="41276586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1564"/>
            <a:ext cx="9144000" cy="3754874"/>
          </a:xfrm>
          <a:prstGeom prst="rect">
            <a:avLst/>
          </a:prstGeom>
        </p:spPr>
        <p:txBody>
          <a:bodyPr wrap="square">
            <a:spAutoFit/>
          </a:bodyPr>
          <a:lstStyle/>
          <a:p>
            <a:pPr algn="just"/>
            <a:r>
              <a:rPr lang="fr-FR" dirty="0"/>
              <a:t>Processus de Création du Cluster</a:t>
            </a:r>
          </a:p>
          <a:p>
            <a:pPr algn="just"/>
            <a:endParaRPr lang="fr-FR" dirty="0"/>
          </a:p>
          <a:p>
            <a:pPr algn="just"/>
            <a:r>
              <a:rPr lang="fr-FR" dirty="0"/>
              <a:t>    </a:t>
            </a:r>
            <a:r>
              <a:rPr lang="fr-FR" dirty="0" smtClean="0"/>
              <a:t>1) Lancement </a:t>
            </a:r>
            <a:r>
              <a:rPr lang="fr-FR" dirty="0"/>
              <a:t>des serveurs du cluster.</a:t>
            </a:r>
          </a:p>
          <a:p>
            <a:pPr algn="just"/>
            <a:r>
              <a:rPr lang="fr-FR" dirty="0"/>
              <a:t>    Chaque composant du cluster est lancé dans une fenêtre de terminal séparée et doit rester en cours d'exécution :</a:t>
            </a:r>
          </a:p>
          <a:p>
            <a:pPr algn="just"/>
            <a:endParaRPr lang="fr-FR" dirty="0"/>
          </a:p>
          <a:p>
            <a:pPr algn="just"/>
            <a:r>
              <a:rPr lang="fr-FR" dirty="0"/>
              <a:t>        Le serveur de configuration (--</a:t>
            </a:r>
            <a:r>
              <a:rPr lang="fr-FR" dirty="0" err="1"/>
              <a:t>configsvr</a:t>
            </a:r>
            <a:r>
              <a:rPr lang="fr-FR" dirty="0"/>
              <a:t>) est lancé pour stocker les métadonnées du cluster.</a:t>
            </a:r>
          </a:p>
          <a:p>
            <a:pPr algn="just"/>
            <a:endParaRPr lang="fr-FR" dirty="0"/>
          </a:p>
          <a:p>
            <a:pPr algn="just"/>
            <a:r>
              <a:rPr lang="fr-FR" dirty="0"/>
              <a:t>        Les </a:t>
            </a:r>
            <a:r>
              <a:rPr lang="fr-FR" dirty="0" err="1"/>
              <a:t>shards</a:t>
            </a:r>
            <a:r>
              <a:rPr lang="fr-FR" dirty="0"/>
              <a:t>, qui sont des </a:t>
            </a:r>
            <a:r>
              <a:rPr lang="fr-FR" dirty="0" err="1"/>
              <a:t>ReplicaSets</a:t>
            </a:r>
            <a:r>
              <a:rPr lang="fr-FR" dirty="0"/>
              <a:t>, sont lancés pour héberger les données des localités (un pour Paris, un pour Lyon).</a:t>
            </a:r>
          </a:p>
          <a:p>
            <a:pPr algn="just"/>
            <a:endParaRPr lang="fr-FR" dirty="0"/>
          </a:p>
          <a:p>
            <a:pPr algn="just"/>
            <a:r>
              <a:rPr lang="fr-FR" dirty="0"/>
              <a:t>        Le routeur mongos est lancé pour servir de point d'entrée unique pour toutes les requêtes du cluster.</a:t>
            </a:r>
          </a:p>
          <a:p>
            <a:pPr algn="just"/>
            <a:endParaRPr lang="fr-FR" dirty="0"/>
          </a:p>
          <a:p>
            <a:pPr algn="just"/>
            <a:r>
              <a:rPr lang="fr-FR" dirty="0"/>
              <a:t>   </a:t>
            </a:r>
            <a:r>
              <a:rPr lang="fr-FR" dirty="0" smtClean="0"/>
              <a:t>2) </a:t>
            </a:r>
            <a:r>
              <a:rPr lang="fr-FR" dirty="0"/>
              <a:t>Initialisation des </a:t>
            </a:r>
            <a:r>
              <a:rPr lang="fr-FR" dirty="0" err="1"/>
              <a:t>ReplicaSets</a:t>
            </a:r>
            <a:r>
              <a:rPr lang="fr-FR" dirty="0"/>
              <a:t> des </a:t>
            </a:r>
            <a:r>
              <a:rPr lang="fr-FR" dirty="0" err="1"/>
              <a:t>shards</a:t>
            </a:r>
            <a:r>
              <a:rPr lang="fr-FR" dirty="0"/>
              <a:t>.</a:t>
            </a:r>
          </a:p>
          <a:p>
            <a:pPr algn="just"/>
            <a:r>
              <a:rPr lang="fr-FR" dirty="0"/>
              <a:t>    Après avoir lancé les serveurs, nous nous connectons au serveur de configuration via le </a:t>
            </a:r>
            <a:r>
              <a:rPr lang="fr-FR" dirty="0" err="1"/>
              <a:t>shell</a:t>
            </a:r>
            <a:r>
              <a:rPr lang="fr-FR" dirty="0"/>
              <a:t> </a:t>
            </a:r>
            <a:r>
              <a:rPr lang="fr-FR" dirty="0" err="1"/>
              <a:t>mongosh</a:t>
            </a:r>
            <a:r>
              <a:rPr lang="fr-FR" dirty="0"/>
              <a:t> pour l'initialiser en tant que </a:t>
            </a:r>
            <a:r>
              <a:rPr lang="fr-FR" dirty="0" err="1"/>
              <a:t>ReplicaSet</a:t>
            </a:r>
            <a:r>
              <a:rPr lang="fr-FR" dirty="0"/>
              <a:t> de configuration. Nous faisons de même pour les </a:t>
            </a:r>
            <a:r>
              <a:rPr lang="fr-FR" dirty="0" err="1"/>
              <a:t>shards</a:t>
            </a:r>
            <a:r>
              <a:rPr lang="fr-FR" dirty="0"/>
              <a:t> de Paris et de Lyon afin qu'ils soient reconnus comme </a:t>
            </a:r>
            <a:r>
              <a:rPr lang="fr-FR" dirty="0" err="1"/>
              <a:t>ReplicaSets</a:t>
            </a:r>
            <a:r>
              <a:rPr lang="fr-FR" dirty="0"/>
              <a:t>.</a:t>
            </a:r>
          </a:p>
        </p:txBody>
      </p:sp>
    </p:spTree>
    <p:extLst>
      <p:ext uri="{BB962C8B-B14F-4D97-AF65-F5344CB8AC3E}">
        <p14:creationId xmlns:p14="http://schemas.microsoft.com/office/powerpoint/2010/main" val="2927779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108543"/>
          </a:xfrm>
          <a:prstGeom prst="rect">
            <a:avLst/>
          </a:prstGeom>
        </p:spPr>
        <p:txBody>
          <a:bodyPr wrap="square">
            <a:spAutoFit/>
          </a:bodyPr>
          <a:lstStyle/>
          <a:p>
            <a:pPr algn="just"/>
            <a:r>
              <a:rPr lang="fr-FR" dirty="0" smtClean="0"/>
              <a:t>3) Ajout </a:t>
            </a:r>
            <a:r>
              <a:rPr lang="fr-FR" dirty="0"/>
              <a:t>des </a:t>
            </a:r>
            <a:r>
              <a:rPr lang="fr-FR" dirty="0" err="1"/>
              <a:t>shards</a:t>
            </a:r>
            <a:r>
              <a:rPr lang="fr-FR" dirty="0"/>
              <a:t> au cluster.</a:t>
            </a:r>
          </a:p>
          <a:p>
            <a:pPr algn="just"/>
            <a:r>
              <a:rPr lang="fr-FR" dirty="0"/>
              <a:t>Une fois que les </a:t>
            </a:r>
            <a:r>
              <a:rPr lang="fr-FR" dirty="0" err="1"/>
              <a:t>ReplicaSets</a:t>
            </a:r>
            <a:r>
              <a:rPr lang="fr-FR" dirty="0"/>
              <a:t> sont prêts, nous nous connectons au routeur mongos et utilisons la commande </a:t>
            </a:r>
            <a:r>
              <a:rPr lang="fr-FR" dirty="0" err="1"/>
              <a:t>sh.addShard</a:t>
            </a:r>
            <a:r>
              <a:rPr lang="fr-FR" dirty="0"/>
              <a:t>() pour les ajouter officiellement au cluster. Chaque </a:t>
            </a:r>
            <a:r>
              <a:rPr lang="fr-FR" dirty="0" err="1"/>
              <a:t>shard</a:t>
            </a:r>
            <a:r>
              <a:rPr lang="fr-FR" dirty="0"/>
              <a:t> est identifié par le nom de son </a:t>
            </a:r>
            <a:r>
              <a:rPr lang="fr-FR" dirty="0" err="1"/>
              <a:t>ReplicaSet</a:t>
            </a:r>
            <a:r>
              <a:rPr lang="fr-FR" dirty="0"/>
              <a:t> et son adresse.</a:t>
            </a:r>
          </a:p>
          <a:p>
            <a:pPr algn="just"/>
            <a:endParaRPr lang="fr-FR" dirty="0"/>
          </a:p>
          <a:p>
            <a:pPr algn="just"/>
            <a:r>
              <a:rPr lang="fr-FR" dirty="0" smtClean="0"/>
              <a:t>4) Activation </a:t>
            </a:r>
            <a:r>
              <a:rPr lang="fr-FR" dirty="0"/>
              <a:t>du </a:t>
            </a:r>
            <a:r>
              <a:rPr lang="fr-FR" dirty="0" err="1"/>
              <a:t>sharding</a:t>
            </a:r>
            <a:r>
              <a:rPr lang="fr-FR" dirty="0"/>
              <a:t> et distribution des données.</a:t>
            </a:r>
          </a:p>
          <a:p>
            <a:pPr algn="just"/>
            <a:r>
              <a:rPr lang="fr-FR" dirty="0"/>
              <a:t>Avec les </a:t>
            </a:r>
            <a:r>
              <a:rPr lang="fr-FR" dirty="0" err="1"/>
              <a:t>shards</a:t>
            </a:r>
            <a:r>
              <a:rPr lang="fr-FR" dirty="0"/>
              <a:t> en place, nous activons le </a:t>
            </a:r>
            <a:r>
              <a:rPr lang="fr-FR" dirty="0" err="1"/>
              <a:t>sharding</a:t>
            </a:r>
            <a:r>
              <a:rPr lang="fr-FR" dirty="0"/>
              <a:t> sur la base de données du projet (</a:t>
            </a:r>
            <a:r>
              <a:rPr lang="fr-FR" dirty="0" err="1"/>
              <a:t>sh.enableSharding</a:t>
            </a:r>
            <a:r>
              <a:rPr lang="fr-FR" dirty="0"/>
              <a:t>()). Ensuite, nous exécutons la commande </a:t>
            </a:r>
            <a:r>
              <a:rPr lang="fr-FR" dirty="0" err="1"/>
              <a:t>sh.shardCollection</a:t>
            </a:r>
            <a:r>
              <a:rPr lang="fr-FR" dirty="0"/>
              <a:t>() en spécifiant la collection à distribuer et la clé de </a:t>
            </a:r>
            <a:r>
              <a:rPr lang="fr-FR" dirty="0" err="1"/>
              <a:t>shard</a:t>
            </a:r>
            <a:r>
              <a:rPr lang="fr-FR" dirty="0"/>
              <a:t> ({"ville": 1}). Cela permet à </a:t>
            </a:r>
            <a:r>
              <a:rPr lang="fr-FR" dirty="0" err="1"/>
              <a:t>MongoDB</a:t>
            </a:r>
            <a:r>
              <a:rPr lang="fr-FR" dirty="0"/>
              <a:t> de commencer à déplacer les données vers les </a:t>
            </a:r>
            <a:r>
              <a:rPr lang="fr-FR" dirty="0" err="1"/>
              <a:t>shards</a:t>
            </a:r>
            <a:r>
              <a:rPr lang="fr-FR" dirty="0"/>
              <a:t> appropriés.</a:t>
            </a:r>
          </a:p>
          <a:p>
            <a:pPr algn="just"/>
            <a:endParaRPr lang="fr-FR" dirty="0"/>
          </a:p>
          <a:p>
            <a:pPr algn="just"/>
            <a:r>
              <a:rPr lang="fr-FR" dirty="0" smtClean="0"/>
              <a:t>5) Vérification </a:t>
            </a:r>
            <a:r>
              <a:rPr lang="fr-FR" dirty="0"/>
              <a:t>de la distribution.</a:t>
            </a:r>
          </a:p>
          <a:p>
            <a:pPr algn="just"/>
            <a:r>
              <a:rPr lang="fr-FR" dirty="0"/>
              <a:t>La vérification finale se fait en utilisant la commande </a:t>
            </a:r>
            <a:r>
              <a:rPr lang="fr-FR" dirty="0" err="1"/>
              <a:t>sh.status</a:t>
            </a:r>
            <a:r>
              <a:rPr lang="fr-FR" dirty="0"/>
              <a:t>() dans le </a:t>
            </a:r>
            <a:r>
              <a:rPr lang="fr-FR" dirty="0" err="1"/>
              <a:t>shell</a:t>
            </a:r>
            <a:r>
              <a:rPr lang="fr-FR" dirty="0"/>
              <a:t>. Elle affiche une vue détaillée de la topologie du cluster, y compris les </a:t>
            </a:r>
            <a:r>
              <a:rPr lang="fr-FR" dirty="0" err="1"/>
              <a:t>shards</a:t>
            </a:r>
            <a:r>
              <a:rPr lang="fr-FR" dirty="0"/>
              <a:t>, les serveurs de configuration et la collection distribuée, confirmant que tout est opérationnel.</a:t>
            </a:r>
          </a:p>
        </p:txBody>
      </p:sp>
    </p:spTree>
    <p:extLst>
      <p:ext uri="{BB962C8B-B14F-4D97-AF65-F5344CB8AC3E}">
        <p14:creationId xmlns:p14="http://schemas.microsoft.com/office/powerpoint/2010/main" val="231497761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019309" cy="5047536"/>
          </a:xfrm>
          <a:prstGeom prst="rect">
            <a:avLst/>
          </a:prstGeom>
        </p:spPr>
        <p:txBody>
          <a:bodyPr wrap="square">
            <a:spAutoFit/>
          </a:bodyPr>
          <a:lstStyle/>
          <a:p>
            <a:r>
              <a:rPr lang="fr-FR" dirty="0"/>
              <a:t>Résumé du Projet Final : Stratégie de </a:t>
            </a:r>
            <a:r>
              <a:rPr lang="fr-FR" dirty="0" smtClean="0"/>
              <a:t>Distribution</a:t>
            </a:r>
          </a:p>
          <a:p>
            <a:endParaRPr lang="fr-FR" dirty="0"/>
          </a:p>
          <a:p>
            <a:endParaRPr lang="fr-FR" smtClean="0"/>
          </a:p>
          <a:p>
            <a:endParaRPr lang="fr-FR" dirty="0"/>
          </a:p>
          <a:p>
            <a:r>
              <a:rPr lang="fr-FR" dirty="0"/>
              <a:t>1. Pourquoi avons-nous besoin d'une stratégie de distribution ?</a:t>
            </a:r>
          </a:p>
          <a:p>
            <a:endParaRPr lang="fr-FR" dirty="0"/>
          </a:p>
          <a:p>
            <a:r>
              <a:rPr lang="fr-FR" dirty="0"/>
              <a:t>Le projet a pour objectif de fournir un tableau de bord aux équipes de l'association à Paris et à Lyon. En l'absence de stratégie de distribution, toutes les données seraient stockées sur un seul serveur, ce qui pourrait entraîner une latence élevée pour l'équipe la plus éloignée.</a:t>
            </a:r>
          </a:p>
          <a:p>
            <a:endParaRPr lang="fr-FR" dirty="0"/>
          </a:p>
          <a:p>
            <a:r>
              <a:rPr lang="fr-FR" dirty="0"/>
              <a:t>L'objectif était d'optimiser les performances en s'assurant que les requêtes locales restent rapides pour les deux équipes.</a:t>
            </a:r>
          </a:p>
          <a:p>
            <a:r>
              <a:rPr lang="fr-FR" dirty="0"/>
              <a:t>2. Le choix de la stratégie : Le </a:t>
            </a:r>
            <a:r>
              <a:rPr lang="fr-FR" dirty="0" err="1"/>
              <a:t>Sharding</a:t>
            </a:r>
            <a:r>
              <a:rPr lang="fr-FR" dirty="0"/>
              <a:t> Géographique</a:t>
            </a:r>
          </a:p>
          <a:p>
            <a:endParaRPr lang="fr-FR" dirty="0"/>
          </a:p>
          <a:p>
            <a:r>
              <a:rPr lang="fr-FR" dirty="0"/>
              <a:t>La meilleure solution pour répondre à ce besoin est le </a:t>
            </a:r>
            <a:r>
              <a:rPr lang="fr-FR" dirty="0" err="1"/>
              <a:t>sharding</a:t>
            </a:r>
            <a:r>
              <a:rPr lang="fr-FR" dirty="0"/>
              <a:t> géographique. Cette technique consiste à diviser les données de la base de données en plusieurs morceaux (appelés "</a:t>
            </a:r>
            <a:r>
              <a:rPr lang="fr-FR" dirty="0" err="1"/>
              <a:t>shards</a:t>
            </a:r>
            <a:r>
              <a:rPr lang="fr-FR" dirty="0"/>
              <a:t>") et à les stocker sur différents serveurs.</a:t>
            </a:r>
          </a:p>
          <a:p>
            <a:endParaRPr lang="fr-FR" dirty="0"/>
          </a:p>
          <a:p>
            <a:r>
              <a:rPr lang="fr-FR" dirty="0"/>
              <a:t>    Nous aurions configuré un </a:t>
            </a:r>
            <a:r>
              <a:rPr lang="fr-FR" dirty="0" err="1"/>
              <a:t>shard</a:t>
            </a:r>
            <a:r>
              <a:rPr lang="fr-FR" dirty="0"/>
              <a:t> dans une région cloud proche de Paris et un autre dans une région proche de Lyon.</a:t>
            </a:r>
          </a:p>
          <a:p>
            <a:endParaRPr lang="fr-FR" dirty="0"/>
          </a:p>
          <a:p>
            <a:r>
              <a:rPr lang="fr-FR" dirty="0"/>
              <a:t>    Nous avons choisi le champ </a:t>
            </a:r>
            <a:r>
              <a:rPr lang="fr-FR" dirty="0" err="1"/>
              <a:t>address.suburb</a:t>
            </a:r>
            <a:r>
              <a:rPr lang="fr-FR" dirty="0"/>
              <a:t> comme clé de </a:t>
            </a:r>
            <a:r>
              <a:rPr lang="fr-FR" dirty="0" err="1"/>
              <a:t>sharding</a:t>
            </a:r>
            <a:r>
              <a:rPr lang="fr-FR" dirty="0"/>
              <a:t>. C'est le critère le plus logique pour distribuer les annonces en fonction de leur localisation.</a:t>
            </a:r>
          </a:p>
        </p:txBody>
      </p:sp>
    </p:spTree>
    <p:extLst>
      <p:ext uri="{BB962C8B-B14F-4D97-AF65-F5344CB8AC3E}">
        <p14:creationId xmlns:p14="http://schemas.microsoft.com/office/powerpoint/2010/main" val="17572932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4616648"/>
          </a:xfrm>
          <a:prstGeom prst="rect">
            <a:avLst/>
          </a:prstGeom>
        </p:spPr>
        <p:txBody>
          <a:bodyPr wrap="square">
            <a:spAutoFit/>
          </a:bodyPr>
          <a:lstStyle/>
          <a:p>
            <a:r>
              <a:rPr lang="fr-FR" dirty="0"/>
              <a:t>3. Le Processus Technique</a:t>
            </a:r>
          </a:p>
          <a:p>
            <a:endParaRPr lang="fr-FR" dirty="0"/>
          </a:p>
          <a:p>
            <a:r>
              <a:rPr lang="fr-FR" dirty="0"/>
              <a:t>Même si un cluster </a:t>
            </a:r>
            <a:r>
              <a:rPr lang="fr-FR" dirty="0" err="1"/>
              <a:t>sharded</a:t>
            </a:r>
            <a:r>
              <a:rPr lang="fr-FR" dirty="0"/>
              <a:t> n'est pas disponible dans la version gratuite de </a:t>
            </a:r>
            <a:r>
              <a:rPr lang="fr-FR" dirty="0" err="1"/>
              <a:t>MongoDB</a:t>
            </a:r>
            <a:r>
              <a:rPr lang="fr-FR" dirty="0"/>
              <a:t>, nous avons identifié les étapes techniques pour le mettre en place :</a:t>
            </a:r>
          </a:p>
          <a:p>
            <a:endParaRPr lang="fr-FR" dirty="0"/>
          </a:p>
          <a:p>
            <a:r>
              <a:rPr lang="fr-FR" dirty="0"/>
              <a:t>    Création du Cluster : D'abord, nous avons créé un cluster de type </a:t>
            </a:r>
            <a:r>
              <a:rPr lang="fr-FR" dirty="0" err="1"/>
              <a:t>Sharded</a:t>
            </a:r>
            <a:r>
              <a:rPr lang="fr-FR" dirty="0"/>
              <a:t> Cluster dans l'interface de </a:t>
            </a:r>
            <a:r>
              <a:rPr lang="fr-FR" dirty="0" err="1"/>
              <a:t>MongoDB</a:t>
            </a:r>
            <a:r>
              <a:rPr lang="fr-FR" dirty="0"/>
              <a:t> Atlas. C'est ici que les serveurs physiques (</a:t>
            </a:r>
            <a:r>
              <a:rPr lang="fr-FR" dirty="0" err="1"/>
              <a:t>shards</a:t>
            </a:r>
            <a:r>
              <a:rPr lang="fr-FR" dirty="0"/>
              <a:t>) sont configurés et déployés dans leurs régions respectives.</a:t>
            </a:r>
          </a:p>
          <a:p>
            <a:endParaRPr lang="fr-FR" dirty="0"/>
          </a:p>
          <a:p>
            <a:r>
              <a:rPr lang="fr-FR" dirty="0"/>
              <a:t>    Configuration des </a:t>
            </a:r>
            <a:r>
              <a:rPr lang="fr-FR" dirty="0" err="1"/>
              <a:t>Shards</a:t>
            </a:r>
            <a:r>
              <a:rPr lang="fr-FR" dirty="0"/>
              <a:t> : Une fois le cluster prêt, nous aurions utilisé les commandes suivantes pour lui donner les instructions de distribution :</a:t>
            </a:r>
          </a:p>
          <a:p>
            <a:endParaRPr lang="fr-FR" dirty="0"/>
          </a:p>
          <a:p>
            <a:r>
              <a:rPr lang="fr-FR" dirty="0"/>
              <a:t>    // Activer le </a:t>
            </a:r>
            <a:r>
              <a:rPr lang="fr-FR" dirty="0" err="1"/>
              <a:t>sharding</a:t>
            </a:r>
            <a:r>
              <a:rPr lang="fr-FR" dirty="0"/>
              <a:t> sur la base de données</a:t>
            </a:r>
          </a:p>
          <a:p>
            <a:r>
              <a:rPr lang="fr-FR" dirty="0"/>
              <a:t>    </a:t>
            </a:r>
            <a:r>
              <a:rPr lang="fr-FR" dirty="0" err="1"/>
              <a:t>sh.enableSharding</a:t>
            </a:r>
            <a:r>
              <a:rPr lang="fr-FR" dirty="0"/>
              <a:t>("</a:t>
            </a:r>
            <a:r>
              <a:rPr lang="fr-FR" dirty="0" err="1"/>
              <a:t>listings_paris</a:t>
            </a:r>
            <a:r>
              <a:rPr lang="fr-FR" dirty="0"/>
              <a:t>")</a:t>
            </a:r>
          </a:p>
          <a:p>
            <a:endParaRPr lang="fr-FR" dirty="0"/>
          </a:p>
          <a:p>
            <a:r>
              <a:rPr lang="fr-FR" dirty="0"/>
              <a:t>    // Définir la clé de </a:t>
            </a:r>
            <a:r>
              <a:rPr lang="fr-FR" dirty="0" err="1"/>
              <a:t>sharding</a:t>
            </a:r>
            <a:r>
              <a:rPr lang="fr-FR" dirty="0"/>
              <a:t> pour la collection "logement"</a:t>
            </a:r>
          </a:p>
          <a:p>
            <a:r>
              <a:rPr lang="fr-FR" dirty="0"/>
              <a:t>    </a:t>
            </a:r>
            <a:r>
              <a:rPr lang="fr-FR" dirty="0" err="1"/>
              <a:t>sh.shardCollection</a:t>
            </a:r>
            <a:r>
              <a:rPr lang="fr-FR" dirty="0"/>
              <a:t>("</a:t>
            </a:r>
            <a:r>
              <a:rPr lang="fr-FR" dirty="0" err="1"/>
              <a:t>listings_paris.logement</a:t>
            </a:r>
            <a:r>
              <a:rPr lang="fr-FR" dirty="0"/>
              <a:t>", { "</a:t>
            </a:r>
            <a:r>
              <a:rPr lang="fr-FR" dirty="0" err="1"/>
              <a:t>address.suburb</a:t>
            </a:r>
            <a:r>
              <a:rPr lang="fr-FR" dirty="0"/>
              <a:t>": 1 })</a:t>
            </a:r>
          </a:p>
          <a:p>
            <a:endParaRPr lang="fr-FR" dirty="0"/>
          </a:p>
          <a:p>
            <a:r>
              <a:rPr lang="fr-FR" dirty="0"/>
              <a:t>    Résultat : Ces commandes auraient permis à </a:t>
            </a:r>
            <a:r>
              <a:rPr lang="fr-FR" dirty="0" err="1"/>
              <a:t>MongoDB</a:t>
            </a:r>
            <a:r>
              <a:rPr lang="fr-FR" dirty="0"/>
              <a:t> de distribuer automatiquement toutes les annonces de Paris sur le </a:t>
            </a:r>
            <a:r>
              <a:rPr lang="fr-FR" dirty="0" err="1"/>
              <a:t>shard</a:t>
            </a:r>
            <a:r>
              <a:rPr lang="fr-FR" dirty="0"/>
              <a:t> parisien et toutes celles de Lyon sur le </a:t>
            </a:r>
            <a:r>
              <a:rPr lang="fr-FR" dirty="0" err="1"/>
              <a:t>shard</a:t>
            </a:r>
            <a:r>
              <a:rPr lang="fr-FR" dirty="0"/>
              <a:t> lyonnais.</a:t>
            </a:r>
          </a:p>
          <a:p>
            <a:endParaRPr lang="fr-FR" dirty="0"/>
          </a:p>
        </p:txBody>
      </p:sp>
    </p:spTree>
    <p:extLst>
      <p:ext uri="{BB962C8B-B14F-4D97-AF65-F5344CB8AC3E}">
        <p14:creationId xmlns:p14="http://schemas.microsoft.com/office/powerpoint/2010/main" val="35995712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736" y="72736"/>
            <a:ext cx="6930736" cy="1384995"/>
          </a:xfrm>
          <a:prstGeom prst="rect">
            <a:avLst/>
          </a:prstGeom>
        </p:spPr>
        <p:txBody>
          <a:bodyPr wrap="square">
            <a:spAutoFit/>
          </a:bodyPr>
          <a:lstStyle/>
          <a:p>
            <a:r>
              <a:rPr lang="fr-FR" dirty="0"/>
              <a:t>. Conclusion</a:t>
            </a:r>
          </a:p>
          <a:p>
            <a:endParaRPr lang="fr-FR" dirty="0"/>
          </a:p>
          <a:p>
            <a:r>
              <a:rPr lang="fr-FR" dirty="0"/>
              <a:t>Cette stratégie garantit que l'équipe de Paris interrogera une base de données locale, tout comme l'équipe de Lyon, ce qui améliore considérablement les performances des requêtes et la fluidité de l'outil. C'est la solution la plus professionnelle pour un projet de cette envergure</a:t>
            </a:r>
          </a:p>
        </p:txBody>
      </p:sp>
    </p:spTree>
    <p:extLst>
      <p:ext uri="{BB962C8B-B14F-4D97-AF65-F5344CB8AC3E}">
        <p14:creationId xmlns:p14="http://schemas.microsoft.com/office/powerpoint/2010/main" val="12764695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18409" y="1641764"/>
            <a:ext cx="6229061" cy="307777"/>
          </a:xfrm>
          <a:prstGeom prst="rect">
            <a:avLst/>
          </a:prstGeom>
        </p:spPr>
        <p:txBody>
          <a:bodyPr wrap="square">
            <a:spAutoFit/>
          </a:bodyPr>
          <a:lstStyle/>
          <a:p>
            <a:r>
              <a:rPr lang="fr-FR" dirty="0" smtClean="0"/>
              <a:t>PREMIERE ETAPE POUR LA CREATION DES CLUSTERS</a:t>
            </a:r>
            <a:endParaRPr lang="fr-FR" dirty="0"/>
          </a:p>
        </p:txBody>
      </p:sp>
    </p:spTree>
    <p:extLst>
      <p:ext uri="{BB962C8B-B14F-4D97-AF65-F5344CB8AC3E}">
        <p14:creationId xmlns:p14="http://schemas.microsoft.com/office/powerpoint/2010/main" val="5270930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6682" y="1319646"/>
            <a:ext cx="6700287" cy="461665"/>
          </a:xfrm>
          <a:prstGeom prst="rect">
            <a:avLst/>
          </a:prstGeom>
        </p:spPr>
        <p:txBody>
          <a:bodyPr wrap="square">
            <a:spAutoFit/>
          </a:bodyPr>
          <a:lstStyle/>
          <a:p>
            <a:r>
              <a:rPr lang="fr-FR" dirty="0"/>
              <a:t> </a:t>
            </a:r>
            <a:r>
              <a:rPr lang="fr-FR" sz="2400" dirty="0"/>
              <a:t>L'initialisation du </a:t>
            </a:r>
            <a:r>
              <a:rPr lang="fr-FR" sz="2400" dirty="0" err="1"/>
              <a:t>replica</a:t>
            </a:r>
            <a:r>
              <a:rPr lang="fr-FR" sz="2400" dirty="0"/>
              <a:t> set de Paris</a:t>
            </a:r>
          </a:p>
        </p:txBody>
      </p:sp>
    </p:spTree>
    <p:extLst>
      <p:ext uri="{BB962C8B-B14F-4D97-AF65-F5344CB8AC3E}">
        <p14:creationId xmlns:p14="http://schemas.microsoft.com/office/powerpoint/2010/main" val="19674747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100" y="1447643"/>
            <a:ext cx="6439799" cy="2248214"/>
          </a:xfrm>
          <a:prstGeom prst="rect">
            <a:avLst/>
          </a:prstGeom>
        </p:spPr>
      </p:pic>
    </p:spTree>
    <p:extLst>
      <p:ext uri="{BB962C8B-B14F-4D97-AF65-F5344CB8AC3E}">
        <p14:creationId xmlns:p14="http://schemas.microsoft.com/office/powerpoint/2010/main" val="27718345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5346" y="1111828"/>
            <a:ext cx="7568286" cy="461665"/>
          </a:xfrm>
          <a:prstGeom prst="rect">
            <a:avLst/>
          </a:prstGeom>
        </p:spPr>
        <p:txBody>
          <a:bodyPr wrap="square">
            <a:spAutoFit/>
          </a:bodyPr>
          <a:lstStyle/>
          <a:p>
            <a:r>
              <a:rPr lang="fr-FR" sz="2400" dirty="0"/>
              <a:t>L'initialisation du </a:t>
            </a:r>
            <a:r>
              <a:rPr lang="fr-FR" sz="2400" dirty="0" err="1"/>
              <a:t>replica</a:t>
            </a:r>
            <a:r>
              <a:rPr lang="fr-FR" sz="2400" dirty="0"/>
              <a:t> set </a:t>
            </a:r>
            <a:r>
              <a:rPr lang="fr-FR" sz="2400" dirty="0" smtClean="0"/>
              <a:t>de </a:t>
            </a:r>
            <a:r>
              <a:rPr lang="fr-FR" sz="2400" dirty="0"/>
              <a:t>Lyon </a:t>
            </a:r>
          </a:p>
        </p:txBody>
      </p:sp>
    </p:spTree>
    <p:extLst>
      <p:ext uri="{BB962C8B-B14F-4D97-AF65-F5344CB8AC3E}">
        <p14:creationId xmlns:p14="http://schemas.microsoft.com/office/powerpoint/2010/main" val="2456816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600" y="1371432"/>
            <a:ext cx="6620799" cy="2400635"/>
          </a:xfrm>
          <a:prstGeom prst="rect">
            <a:avLst/>
          </a:prstGeom>
        </p:spPr>
      </p:pic>
    </p:spTree>
    <p:extLst>
      <p:ext uri="{BB962C8B-B14F-4D97-AF65-F5344CB8AC3E}">
        <p14:creationId xmlns:p14="http://schemas.microsoft.com/office/powerpoint/2010/main" val="355658149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8821882" cy="1384995"/>
          </a:xfrm>
          <a:prstGeom prst="rect">
            <a:avLst/>
          </a:prstGeom>
        </p:spPr>
        <p:txBody>
          <a:bodyPr wrap="square">
            <a:spAutoFit/>
          </a:bodyPr>
          <a:lstStyle/>
          <a:p>
            <a:pPr algn="just"/>
            <a:r>
              <a:rPr lang="fr-FR" dirty="0"/>
              <a:t> Le </a:t>
            </a:r>
            <a:r>
              <a:rPr lang="fr-FR" dirty="0" err="1"/>
              <a:t>replica</a:t>
            </a:r>
            <a:r>
              <a:rPr lang="fr-FR" dirty="0"/>
              <a:t> set de Lyon a également été initialisé avec </a:t>
            </a:r>
            <a:r>
              <a:rPr lang="fr-FR" dirty="0" smtClean="0"/>
              <a:t>succès. </a:t>
            </a:r>
          </a:p>
          <a:p>
            <a:pPr algn="just"/>
            <a:r>
              <a:rPr lang="fr-FR" dirty="0" smtClean="0"/>
              <a:t>Pour </a:t>
            </a:r>
            <a:r>
              <a:rPr lang="fr-FR" dirty="0"/>
              <a:t>récapituler, </a:t>
            </a:r>
            <a:r>
              <a:rPr lang="fr-FR" dirty="0" smtClean="0"/>
              <a:t>nous avons maintenant </a:t>
            </a:r>
            <a:r>
              <a:rPr lang="fr-FR" dirty="0"/>
              <a:t>tous les composants de base en place :Un serveur de configuration (</a:t>
            </a:r>
            <a:r>
              <a:rPr lang="fr-FR" dirty="0" err="1"/>
              <a:t>cfgReplSet</a:t>
            </a:r>
            <a:r>
              <a:rPr lang="fr-FR" dirty="0"/>
              <a:t>) qui gère les </a:t>
            </a:r>
            <a:r>
              <a:rPr lang="fr-FR" dirty="0" smtClean="0"/>
              <a:t>métadonnées. Un </a:t>
            </a:r>
            <a:r>
              <a:rPr lang="fr-FR" dirty="0" err="1"/>
              <a:t>shard</a:t>
            </a:r>
            <a:r>
              <a:rPr lang="fr-FR" dirty="0"/>
              <a:t> pour Paris (</a:t>
            </a:r>
            <a:r>
              <a:rPr lang="fr-FR" dirty="0" err="1"/>
              <a:t>parisReplSet</a:t>
            </a:r>
            <a:r>
              <a:rPr lang="fr-FR" dirty="0"/>
              <a:t>).Un </a:t>
            </a:r>
            <a:r>
              <a:rPr lang="fr-FR" dirty="0" err="1"/>
              <a:t>shard</a:t>
            </a:r>
            <a:r>
              <a:rPr lang="fr-FR" dirty="0"/>
              <a:t> pour Lyon (</a:t>
            </a:r>
            <a:r>
              <a:rPr lang="fr-FR" dirty="0" err="1"/>
              <a:t>lyonReplSet</a:t>
            </a:r>
            <a:r>
              <a:rPr lang="fr-FR" dirty="0" smtClean="0"/>
              <a:t>).</a:t>
            </a:r>
          </a:p>
          <a:p>
            <a:pPr algn="just"/>
            <a:r>
              <a:rPr lang="fr-FR" dirty="0" smtClean="0"/>
              <a:t>La </a:t>
            </a:r>
            <a:r>
              <a:rPr lang="fr-FR" dirty="0"/>
              <a:t>dernière étape pour terminer la création du cluster est de lancer le routeur mongos et d'y ajouter les </a:t>
            </a:r>
            <a:r>
              <a:rPr lang="fr-FR" dirty="0" err="1"/>
              <a:t>shards</a:t>
            </a:r>
            <a:r>
              <a:rPr lang="fr-FR" dirty="0"/>
              <a:t>.</a:t>
            </a:r>
          </a:p>
        </p:txBody>
      </p:sp>
    </p:spTree>
    <p:extLst>
      <p:ext uri="{BB962C8B-B14F-4D97-AF65-F5344CB8AC3E}">
        <p14:creationId xmlns:p14="http://schemas.microsoft.com/office/powerpoint/2010/main" val="40626513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2246769"/>
          </a:xfrm>
          <a:prstGeom prst="rect">
            <a:avLst/>
          </a:prstGeom>
        </p:spPr>
        <p:txBody>
          <a:bodyPr wrap="square">
            <a:spAutoFit/>
          </a:bodyPr>
          <a:lstStyle/>
          <a:p>
            <a:pPr algn="just"/>
            <a:r>
              <a:rPr lang="fr-FR" dirty="0"/>
              <a:t>Lancement du routeur </a:t>
            </a:r>
            <a:r>
              <a:rPr lang="fr-FR" dirty="0" smtClean="0"/>
              <a:t>mongos</a:t>
            </a:r>
          </a:p>
          <a:p>
            <a:pPr algn="just"/>
            <a:r>
              <a:rPr lang="fr-FR" dirty="0" smtClean="0"/>
              <a:t>Le </a:t>
            </a:r>
            <a:r>
              <a:rPr lang="fr-FR" dirty="0"/>
              <a:t>routeur mongos est le point d'entrée pour votre cluster. C'est le seul composant auquel vos applications se connecteront</a:t>
            </a:r>
            <a:r>
              <a:rPr lang="fr-FR" dirty="0" smtClean="0"/>
              <a:t>.</a:t>
            </a:r>
          </a:p>
          <a:p>
            <a:pPr algn="just"/>
            <a:endParaRPr lang="fr-FR" dirty="0" smtClean="0"/>
          </a:p>
          <a:p>
            <a:pPr algn="just"/>
            <a:r>
              <a:rPr lang="fr-FR" dirty="0"/>
              <a:t>cd "C:\Program Files\</a:t>
            </a:r>
            <a:r>
              <a:rPr lang="fr-FR" dirty="0" err="1"/>
              <a:t>MongoDB</a:t>
            </a:r>
            <a:r>
              <a:rPr lang="fr-FR" dirty="0"/>
              <a:t>\Server\8.0\bin"</a:t>
            </a:r>
          </a:p>
          <a:p>
            <a:pPr algn="just"/>
            <a:r>
              <a:rPr lang="fr-FR" dirty="0"/>
              <a:t>.\mongos.exe --</a:t>
            </a:r>
            <a:r>
              <a:rPr lang="fr-FR" dirty="0" err="1"/>
              <a:t>configdb</a:t>
            </a:r>
            <a:r>
              <a:rPr lang="fr-FR" dirty="0"/>
              <a:t> </a:t>
            </a:r>
            <a:r>
              <a:rPr lang="fr-FR" dirty="0" err="1"/>
              <a:t>cfgReplSet</a:t>
            </a:r>
            <a:r>
              <a:rPr lang="fr-FR" dirty="0"/>
              <a:t>/localhost:27019 --port 27017 --</a:t>
            </a:r>
            <a:r>
              <a:rPr lang="fr-FR" dirty="0" err="1"/>
              <a:t>bind_ip</a:t>
            </a:r>
            <a:r>
              <a:rPr lang="fr-FR" dirty="0"/>
              <a:t> </a:t>
            </a:r>
            <a:r>
              <a:rPr lang="fr-FR" dirty="0" err="1" smtClean="0"/>
              <a:t>localhost</a:t>
            </a:r>
            <a:endParaRPr lang="fr-FR" dirty="0" smtClean="0"/>
          </a:p>
          <a:p>
            <a:pPr algn="just"/>
            <a:endParaRPr lang="fr-FR" dirty="0"/>
          </a:p>
          <a:p>
            <a:pPr algn="just"/>
            <a:endParaRPr lang="fr-FR" dirty="0" smtClean="0"/>
          </a:p>
          <a:p>
            <a:pPr algn="just"/>
            <a:r>
              <a:rPr lang="fr-FR" dirty="0"/>
              <a:t>C'est l'étape finale de la création du cluster. Vous allez dire au routeur mongos d'ajouter les </a:t>
            </a:r>
            <a:r>
              <a:rPr lang="fr-FR" dirty="0" err="1"/>
              <a:t>shards</a:t>
            </a:r>
            <a:r>
              <a:rPr lang="fr-FR" dirty="0"/>
              <a:t> que vous avez créés</a:t>
            </a:r>
          </a:p>
        </p:txBody>
      </p:sp>
    </p:spTree>
    <p:extLst>
      <p:ext uri="{BB962C8B-B14F-4D97-AF65-F5344CB8AC3E}">
        <p14:creationId xmlns:p14="http://schemas.microsoft.com/office/powerpoint/2010/main" val="4167840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941" y="1600064"/>
            <a:ext cx="8002117" cy="1943371"/>
          </a:xfrm>
          <a:prstGeom prst="rect">
            <a:avLst/>
          </a:prstGeom>
        </p:spPr>
      </p:pic>
    </p:spTree>
    <p:extLst>
      <p:ext uri="{BB962C8B-B14F-4D97-AF65-F5344CB8AC3E}">
        <p14:creationId xmlns:p14="http://schemas.microsoft.com/office/powerpoint/2010/main" val="35963180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858000" cy="2462213"/>
          </a:xfrm>
          <a:prstGeom prst="rect">
            <a:avLst/>
          </a:prstGeom>
        </p:spPr>
        <p:txBody>
          <a:bodyPr wrap="square">
            <a:spAutoFit/>
          </a:bodyPr>
          <a:lstStyle/>
          <a:p>
            <a:pPr algn="just"/>
            <a:r>
              <a:rPr lang="fr-FR" dirty="0" smtClean="0"/>
              <a:t>-A ce stade j’ai réussi </a:t>
            </a:r>
            <a:r>
              <a:rPr lang="fr-FR" dirty="0"/>
              <a:t>à :Créer les répertoires de </a:t>
            </a:r>
            <a:r>
              <a:rPr lang="fr-FR" dirty="0" smtClean="0"/>
              <a:t>données. </a:t>
            </a:r>
          </a:p>
          <a:p>
            <a:pPr algn="just"/>
            <a:r>
              <a:rPr lang="fr-FR" dirty="0" smtClean="0"/>
              <a:t>-Lancer </a:t>
            </a:r>
            <a:r>
              <a:rPr lang="fr-FR" dirty="0"/>
              <a:t>le serveur de </a:t>
            </a:r>
            <a:r>
              <a:rPr lang="fr-FR" dirty="0" smtClean="0"/>
              <a:t>configuration.</a:t>
            </a:r>
          </a:p>
          <a:p>
            <a:pPr algn="just"/>
            <a:r>
              <a:rPr lang="fr-FR" dirty="0" smtClean="0"/>
              <a:t>-Lancer </a:t>
            </a:r>
            <a:r>
              <a:rPr lang="fr-FR" dirty="0"/>
              <a:t>et initialiser les </a:t>
            </a:r>
            <a:r>
              <a:rPr lang="fr-FR" dirty="0" err="1"/>
              <a:t>shards</a:t>
            </a:r>
            <a:r>
              <a:rPr lang="fr-FR" dirty="0"/>
              <a:t> pour Paris et </a:t>
            </a:r>
            <a:r>
              <a:rPr lang="fr-FR" dirty="0" smtClean="0"/>
              <a:t>Lyon. </a:t>
            </a:r>
          </a:p>
          <a:p>
            <a:pPr algn="just"/>
            <a:r>
              <a:rPr lang="fr-FR" dirty="0" smtClean="0"/>
              <a:t>-Créer </a:t>
            </a:r>
            <a:r>
              <a:rPr lang="fr-FR" dirty="0"/>
              <a:t>un fichier de clé pour la communication </a:t>
            </a:r>
            <a:r>
              <a:rPr lang="fr-FR" dirty="0" smtClean="0"/>
              <a:t>sécurisée.</a:t>
            </a:r>
          </a:p>
          <a:p>
            <a:pPr algn="just"/>
            <a:r>
              <a:rPr lang="fr-FR" dirty="0" smtClean="0"/>
              <a:t>-Lancer </a:t>
            </a:r>
            <a:r>
              <a:rPr lang="fr-FR" dirty="0"/>
              <a:t>le routeur mongos sur un port </a:t>
            </a:r>
            <a:r>
              <a:rPr lang="fr-FR" dirty="0" smtClean="0"/>
              <a:t>libre. </a:t>
            </a:r>
          </a:p>
          <a:p>
            <a:pPr algn="just"/>
            <a:r>
              <a:rPr lang="fr-FR" dirty="0"/>
              <a:t>-</a:t>
            </a:r>
            <a:r>
              <a:rPr lang="fr-FR" dirty="0" smtClean="0"/>
              <a:t>Me </a:t>
            </a:r>
            <a:r>
              <a:rPr lang="fr-FR" dirty="0"/>
              <a:t>connecter au </a:t>
            </a:r>
            <a:r>
              <a:rPr lang="fr-FR" dirty="0" smtClean="0"/>
              <a:t>routeur. </a:t>
            </a:r>
          </a:p>
          <a:p>
            <a:pPr algn="just"/>
            <a:endParaRPr lang="fr-FR" dirty="0" smtClean="0"/>
          </a:p>
          <a:p>
            <a:pPr algn="just"/>
            <a:r>
              <a:rPr lang="fr-FR" dirty="0" smtClean="0"/>
              <a:t>Maintenant, tout est enfin </a:t>
            </a:r>
            <a:r>
              <a:rPr lang="fr-FR" dirty="0"/>
              <a:t>prêt à ajouter les </a:t>
            </a:r>
            <a:r>
              <a:rPr lang="fr-FR" dirty="0" err="1"/>
              <a:t>shards</a:t>
            </a:r>
            <a:r>
              <a:rPr lang="fr-FR" dirty="0"/>
              <a:t> au </a:t>
            </a:r>
            <a:r>
              <a:rPr lang="fr-FR" dirty="0" smtClean="0"/>
              <a:t>cluster. </a:t>
            </a:r>
          </a:p>
          <a:p>
            <a:pPr algn="just"/>
            <a:endParaRPr lang="fr-FR" dirty="0"/>
          </a:p>
          <a:p>
            <a:pPr algn="just"/>
            <a:endParaRPr lang="fr-FR" dirty="0" smtClean="0"/>
          </a:p>
          <a:p>
            <a:pPr algn="just"/>
            <a:r>
              <a:rPr lang="fr-FR" dirty="0" smtClean="0"/>
              <a:t>Prochaine </a:t>
            </a:r>
            <a:r>
              <a:rPr lang="fr-FR" dirty="0"/>
              <a:t>é</a:t>
            </a:r>
            <a:r>
              <a:rPr lang="fr-FR" dirty="0" smtClean="0"/>
              <a:t>tape : </a:t>
            </a:r>
            <a:r>
              <a:rPr lang="fr-FR" dirty="0"/>
              <a:t>Ajout des </a:t>
            </a:r>
            <a:r>
              <a:rPr lang="fr-FR" dirty="0" err="1"/>
              <a:t>Shards</a:t>
            </a:r>
            <a:r>
              <a:rPr lang="fr-FR" dirty="0"/>
              <a:t> au Cluster</a:t>
            </a:r>
          </a:p>
        </p:txBody>
      </p:sp>
    </p:spTree>
    <p:extLst>
      <p:ext uri="{BB962C8B-B14F-4D97-AF65-F5344CB8AC3E}">
        <p14:creationId xmlns:p14="http://schemas.microsoft.com/office/powerpoint/2010/main" val="6643681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804068" cy="307777"/>
          </a:xfrm>
          <a:prstGeom prst="rect">
            <a:avLst/>
          </a:prstGeom>
        </p:spPr>
        <p:txBody>
          <a:bodyPr wrap="square">
            <a:spAutoFit/>
          </a:bodyPr>
          <a:lstStyle/>
          <a:p>
            <a:r>
              <a:rPr lang="fr-FR" dirty="0"/>
              <a:t> Ajout des </a:t>
            </a:r>
            <a:r>
              <a:rPr lang="fr-FR" dirty="0" err="1"/>
              <a:t>Shards</a:t>
            </a:r>
            <a:r>
              <a:rPr lang="fr-FR" dirty="0"/>
              <a:t> au Cluster</a:t>
            </a:r>
          </a:p>
        </p:txBody>
      </p:sp>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845" y="436282"/>
            <a:ext cx="6230219" cy="1943371"/>
          </a:xfrm>
          <a:prstGeom prst="rect">
            <a:avLst/>
          </a:prstGeom>
        </p:spPr>
      </p:pic>
      <p:pic>
        <p:nvPicPr>
          <p:cNvPr id="4" name="Image 3"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845" y="2508158"/>
            <a:ext cx="6878010" cy="1629002"/>
          </a:xfrm>
          <a:prstGeom prst="rect">
            <a:avLst/>
          </a:prstGeom>
        </p:spPr>
      </p:pic>
    </p:spTree>
    <p:extLst>
      <p:ext uri="{BB962C8B-B14F-4D97-AF65-F5344CB8AC3E}">
        <p14:creationId xmlns:p14="http://schemas.microsoft.com/office/powerpoint/2010/main" val="116299258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8967355" cy="4708981"/>
          </a:xfrm>
          <a:prstGeom prst="rect">
            <a:avLst/>
          </a:prstGeom>
        </p:spPr>
        <p:txBody>
          <a:bodyPr wrap="square">
            <a:spAutoFit/>
          </a:bodyPr>
          <a:lstStyle/>
          <a:p>
            <a:r>
              <a:rPr lang="fr-FR" dirty="0"/>
              <a:t>Le message { ok: 1, ... } pour les deux commandes </a:t>
            </a:r>
            <a:r>
              <a:rPr lang="fr-FR" dirty="0" err="1"/>
              <a:t>sh.addShard</a:t>
            </a:r>
            <a:r>
              <a:rPr lang="fr-FR" dirty="0"/>
              <a:t>() confirme que les </a:t>
            </a:r>
            <a:r>
              <a:rPr lang="fr-FR" dirty="0" err="1"/>
              <a:t>shards</a:t>
            </a:r>
            <a:r>
              <a:rPr lang="fr-FR" dirty="0"/>
              <a:t> de Paris et de Lyon ont été ajoutés avec succès à votre </a:t>
            </a:r>
            <a:r>
              <a:rPr lang="fr-FR" dirty="0" smtClean="0"/>
              <a:t>cluster </a:t>
            </a:r>
          </a:p>
          <a:p>
            <a:r>
              <a:rPr lang="fr-FR" dirty="0" smtClean="0"/>
              <a:t>Nous avons </a:t>
            </a:r>
            <a:r>
              <a:rPr lang="fr-FR" dirty="0"/>
              <a:t>maintenant un cluster </a:t>
            </a:r>
            <a:r>
              <a:rPr lang="fr-FR" dirty="0" err="1"/>
              <a:t>sharded</a:t>
            </a:r>
            <a:r>
              <a:rPr lang="fr-FR" dirty="0"/>
              <a:t> de deux </a:t>
            </a:r>
            <a:r>
              <a:rPr lang="fr-FR" dirty="0" err="1"/>
              <a:t>shards</a:t>
            </a:r>
            <a:r>
              <a:rPr lang="fr-FR" dirty="0"/>
              <a:t>, avec un routeur mongos pour gérer les requêtes</a:t>
            </a:r>
            <a:r>
              <a:rPr lang="fr-FR" dirty="0" smtClean="0"/>
              <a:t>.</a:t>
            </a:r>
          </a:p>
          <a:p>
            <a:r>
              <a:rPr lang="fr-FR" dirty="0" smtClean="0"/>
              <a:t>Pour </a:t>
            </a:r>
            <a:r>
              <a:rPr lang="fr-FR" dirty="0"/>
              <a:t>finaliser cette partie de la configuration, </a:t>
            </a:r>
            <a:r>
              <a:rPr lang="fr-FR" dirty="0" smtClean="0"/>
              <a:t>nous allons exécuter </a:t>
            </a:r>
            <a:r>
              <a:rPr lang="fr-FR" dirty="0"/>
              <a:t>la commande </a:t>
            </a:r>
            <a:r>
              <a:rPr lang="fr-FR" dirty="0" err="1"/>
              <a:t>sh.status</a:t>
            </a:r>
            <a:r>
              <a:rPr lang="fr-FR" dirty="0"/>
              <a:t>() pour obtenir un aperçu complet de l'état </a:t>
            </a:r>
            <a:r>
              <a:rPr lang="fr-FR" dirty="0" smtClean="0"/>
              <a:t>du cluster.</a:t>
            </a:r>
          </a:p>
          <a:p>
            <a:endParaRPr lang="fr-FR" dirty="0"/>
          </a:p>
          <a:p>
            <a:endParaRPr lang="fr-FR" dirty="0" smtClean="0"/>
          </a:p>
          <a:p>
            <a:endParaRPr lang="fr-FR" dirty="0"/>
          </a:p>
          <a:p>
            <a:endParaRPr lang="fr-FR" dirty="0" smtClean="0"/>
          </a:p>
          <a:p>
            <a:r>
              <a:rPr lang="fr-FR" dirty="0" smtClean="0"/>
              <a:t>La commande </a:t>
            </a:r>
            <a:r>
              <a:rPr lang="fr-FR" sz="2000" b="1" dirty="0" err="1" smtClean="0"/>
              <a:t>sh.status</a:t>
            </a:r>
            <a:r>
              <a:rPr lang="fr-FR" sz="2000" b="1" dirty="0" smtClean="0"/>
              <a:t>()  </a:t>
            </a:r>
            <a:r>
              <a:rPr lang="fr-FR" dirty="0" smtClean="0"/>
              <a:t>Cette </a:t>
            </a:r>
            <a:r>
              <a:rPr lang="fr-FR" dirty="0"/>
              <a:t>commande </a:t>
            </a:r>
            <a:r>
              <a:rPr lang="fr-FR" dirty="0" smtClean="0"/>
              <a:t>montrera </a:t>
            </a:r>
            <a:r>
              <a:rPr lang="fr-FR" dirty="0"/>
              <a:t>la liste des </a:t>
            </a:r>
            <a:r>
              <a:rPr lang="fr-FR" dirty="0" err="1"/>
              <a:t>shards</a:t>
            </a:r>
            <a:r>
              <a:rPr lang="fr-FR" dirty="0"/>
              <a:t>, les serveurs de configuration et les bases de données déjà </a:t>
            </a:r>
            <a:r>
              <a:rPr lang="fr-FR" dirty="0" err="1"/>
              <a:t>shardées</a:t>
            </a:r>
            <a:r>
              <a:rPr lang="fr-FR" dirty="0"/>
              <a:t>. Cela vous permettra de valider visuellement la configuration</a:t>
            </a:r>
            <a:r>
              <a:rPr lang="fr-FR" dirty="0" smtClean="0"/>
              <a:t>.</a:t>
            </a:r>
          </a:p>
          <a:p>
            <a:endParaRPr lang="fr-FR" dirty="0"/>
          </a:p>
          <a:p>
            <a:endParaRPr lang="fr-FR" dirty="0" smtClean="0"/>
          </a:p>
          <a:p>
            <a:endParaRPr lang="fr-FR" dirty="0"/>
          </a:p>
          <a:p>
            <a:r>
              <a:rPr lang="fr-FR" dirty="0"/>
              <a:t>Pour être précis, </a:t>
            </a:r>
            <a:r>
              <a:rPr lang="fr-FR" dirty="0" smtClean="0"/>
              <a:t>j’ai </a:t>
            </a:r>
          </a:p>
          <a:p>
            <a:r>
              <a:rPr lang="fr-FR" dirty="0" smtClean="0"/>
              <a:t>Créé </a:t>
            </a:r>
            <a:r>
              <a:rPr lang="fr-FR" dirty="0"/>
              <a:t>un cluster : L'ensemble de tous les composants (serveurs de configuration, </a:t>
            </a:r>
            <a:r>
              <a:rPr lang="fr-FR" dirty="0" err="1"/>
              <a:t>shards</a:t>
            </a:r>
            <a:r>
              <a:rPr lang="fr-FR" dirty="0"/>
              <a:t> et routeur mongos).Créé les </a:t>
            </a:r>
            <a:r>
              <a:rPr lang="fr-FR" dirty="0" err="1"/>
              <a:t>shards</a:t>
            </a:r>
            <a:r>
              <a:rPr lang="fr-FR" dirty="0"/>
              <a:t> : </a:t>
            </a:r>
            <a:r>
              <a:rPr lang="fr-FR" dirty="0" smtClean="0"/>
              <a:t>j’ai lancé </a:t>
            </a:r>
            <a:r>
              <a:rPr lang="fr-FR" dirty="0"/>
              <a:t>et initialisé deux </a:t>
            </a:r>
            <a:r>
              <a:rPr lang="fr-FR" dirty="0" err="1"/>
              <a:t>replica</a:t>
            </a:r>
            <a:r>
              <a:rPr lang="fr-FR" dirty="0"/>
              <a:t> sets, </a:t>
            </a:r>
            <a:r>
              <a:rPr lang="fr-FR" dirty="0" err="1"/>
              <a:t>parisReplSet</a:t>
            </a:r>
            <a:r>
              <a:rPr lang="fr-FR" dirty="0"/>
              <a:t> et </a:t>
            </a:r>
            <a:r>
              <a:rPr lang="fr-FR" dirty="0" err="1"/>
              <a:t>lyonReplSet</a:t>
            </a:r>
            <a:r>
              <a:rPr lang="fr-FR" dirty="0"/>
              <a:t>, qui servent de </a:t>
            </a:r>
            <a:r>
              <a:rPr lang="fr-FR" dirty="0" err="1"/>
              <a:t>shards</a:t>
            </a:r>
            <a:r>
              <a:rPr lang="fr-FR" dirty="0"/>
              <a:t> pour stocker </a:t>
            </a:r>
            <a:r>
              <a:rPr lang="fr-FR" dirty="0" smtClean="0"/>
              <a:t>les données Connecté </a:t>
            </a:r>
            <a:r>
              <a:rPr lang="fr-FR" dirty="0"/>
              <a:t>le tout </a:t>
            </a:r>
            <a:endParaRPr lang="fr-FR" dirty="0" smtClean="0"/>
          </a:p>
          <a:p>
            <a:r>
              <a:rPr lang="fr-FR" dirty="0" smtClean="0"/>
              <a:t> j’ai lancé </a:t>
            </a:r>
            <a:r>
              <a:rPr lang="fr-FR" dirty="0"/>
              <a:t>le routeur mongos et utilisé la commande </a:t>
            </a:r>
            <a:r>
              <a:rPr lang="fr-FR" dirty="0" err="1"/>
              <a:t>sh.addShard</a:t>
            </a:r>
            <a:r>
              <a:rPr lang="fr-FR" dirty="0"/>
              <a:t>() pour lier les </a:t>
            </a:r>
            <a:r>
              <a:rPr lang="fr-FR" dirty="0" err="1"/>
              <a:t>shards</a:t>
            </a:r>
            <a:r>
              <a:rPr lang="fr-FR" dirty="0"/>
              <a:t> au </a:t>
            </a:r>
            <a:r>
              <a:rPr lang="fr-FR" dirty="0" err="1"/>
              <a:t>cluster.Activé</a:t>
            </a:r>
            <a:r>
              <a:rPr lang="fr-FR" dirty="0"/>
              <a:t> l'authentification : </a:t>
            </a:r>
            <a:r>
              <a:rPr lang="fr-FR" dirty="0" smtClean="0"/>
              <a:t>j’ai configuré </a:t>
            </a:r>
            <a:r>
              <a:rPr lang="fr-FR" dirty="0"/>
              <a:t>l'authentification interne pour la communication entre les serveurs, et </a:t>
            </a:r>
            <a:r>
              <a:rPr lang="fr-FR" dirty="0" smtClean="0"/>
              <a:t>j’ai créé </a:t>
            </a:r>
            <a:r>
              <a:rPr lang="fr-FR" dirty="0"/>
              <a:t>un utilisateur administrateur pour vous connecter au cluster.</a:t>
            </a:r>
          </a:p>
        </p:txBody>
      </p:sp>
    </p:spTree>
    <p:extLst>
      <p:ext uri="{BB962C8B-B14F-4D97-AF65-F5344CB8AC3E}">
        <p14:creationId xmlns:p14="http://schemas.microsoft.com/office/powerpoint/2010/main" val="24258220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537341"/>
            <a:ext cx="9144000" cy="9356408"/>
          </a:xfrm>
          <a:prstGeom prst="rect">
            <a:avLst/>
          </a:prstGeom>
        </p:spPr>
        <p:txBody>
          <a:bodyPr wrap="square">
            <a:spAutoFit/>
          </a:bodyPr>
          <a:lstStyle/>
          <a:p>
            <a:endParaRPr lang="fr-FR" dirty="0"/>
          </a:p>
          <a:p>
            <a:r>
              <a:rPr lang="fr-FR" dirty="0"/>
              <a:t>  '</a:t>
            </a:r>
            <a:r>
              <a:rPr lang="fr-FR" dirty="0" err="1"/>
              <a:t>Currently</a:t>
            </a:r>
            <a:r>
              <a:rPr lang="fr-FR" dirty="0"/>
              <a:t> </a:t>
            </a:r>
            <a:r>
              <a:rPr lang="fr-FR" dirty="0" err="1"/>
              <a:t>enabled</a:t>
            </a:r>
            <a:r>
              <a:rPr lang="fr-FR" dirty="0"/>
              <a:t>': '</a:t>
            </a:r>
            <a:r>
              <a:rPr lang="fr-FR" dirty="0" err="1"/>
              <a:t>yes</a:t>
            </a:r>
            <a:r>
              <a:rPr lang="fr-FR" dirty="0"/>
              <a:t>',</a:t>
            </a:r>
          </a:p>
          <a:p>
            <a:r>
              <a:rPr lang="fr-FR" dirty="0"/>
              <a:t>  '</a:t>
            </a:r>
            <a:r>
              <a:rPr lang="fr-FR" dirty="0" err="1"/>
              <a:t>Failed</a:t>
            </a:r>
            <a:r>
              <a:rPr lang="fr-FR" dirty="0"/>
              <a:t> balancer rounds in last 5 </a:t>
            </a:r>
            <a:r>
              <a:rPr lang="fr-FR" dirty="0" err="1"/>
              <a:t>attempts</a:t>
            </a:r>
            <a:r>
              <a:rPr lang="fr-FR" dirty="0"/>
              <a:t>': 0,</a:t>
            </a:r>
          </a:p>
          <a:p>
            <a:r>
              <a:rPr lang="fr-FR" dirty="0"/>
              <a:t>  '</a:t>
            </a:r>
            <a:r>
              <a:rPr lang="fr-FR" dirty="0" err="1"/>
              <a:t>Currently</a:t>
            </a:r>
            <a:r>
              <a:rPr lang="fr-FR" dirty="0"/>
              <a:t> running': 'no',</a:t>
            </a:r>
          </a:p>
          <a:p>
            <a:r>
              <a:rPr lang="fr-FR" dirty="0"/>
              <a:t>  'Migration </a:t>
            </a:r>
            <a:r>
              <a:rPr lang="fr-FR" dirty="0" err="1"/>
              <a:t>Results</a:t>
            </a:r>
            <a:r>
              <a:rPr lang="fr-FR" dirty="0"/>
              <a:t> for the last 24 </a:t>
            </a:r>
            <a:r>
              <a:rPr lang="fr-FR" dirty="0" err="1"/>
              <a:t>hours</a:t>
            </a:r>
            <a:r>
              <a:rPr lang="fr-FR" dirty="0"/>
              <a:t>': 'No </a:t>
            </a:r>
            <a:r>
              <a:rPr lang="fr-FR" dirty="0" err="1"/>
              <a:t>recent</a:t>
            </a:r>
            <a:r>
              <a:rPr lang="fr-FR" dirty="0"/>
              <a:t> migrations'</a:t>
            </a:r>
          </a:p>
          <a:p>
            <a:r>
              <a:rPr lang="fr-FR" dirty="0"/>
              <a:t>}</a:t>
            </a:r>
          </a:p>
          <a:p>
            <a:r>
              <a:rPr lang="fr-FR" dirty="0"/>
              <a:t>---</a:t>
            </a:r>
          </a:p>
          <a:p>
            <a:r>
              <a:rPr lang="fr-FR" dirty="0" err="1"/>
              <a:t>shardedDataDistribution</a:t>
            </a:r>
            <a:endParaRPr lang="fr-FR" dirty="0"/>
          </a:p>
          <a:p>
            <a:r>
              <a:rPr lang="fr-FR" dirty="0"/>
              <a:t>[</a:t>
            </a:r>
          </a:p>
          <a:p>
            <a:r>
              <a:rPr lang="fr-FR" dirty="0"/>
              <a:t>  {</a:t>
            </a:r>
          </a:p>
          <a:p>
            <a:r>
              <a:rPr lang="fr-FR" dirty="0"/>
              <a:t>    ns: '</a:t>
            </a:r>
            <a:r>
              <a:rPr lang="fr-FR" dirty="0" err="1"/>
              <a:t>config.system.sessions</a:t>
            </a:r>
            <a:r>
              <a:rPr lang="fr-FR" dirty="0"/>
              <a:t>',</a:t>
            </a:r>
          </a:p>
          <a:p>
            <a:r>
              <a:rPr lang="fr-FR" dirty="0"/>
              <a:t>    </a:t>
            </a:r>
            <a:r>
              <a:rPr lang="fr-FR" dirty="0" err="1"/>
              <a:t>shards</a:t>
            </a:r>
            <a:r>
              <a:rPr lang="fr-FR" dirty="0"/>
              <a:t>: [</a:t>
            </a:r>
          </a:p>
          <a:p>
            <a:r>
              <a:rPr lang="fr-FR" dirty="0"/>
              <a:t>      {</a:t>
            </a:r>
          </a:p>
          <a:p>
            <a:r>
              <a:rPr lang="fr-FR" dirty="0"/>
              <a:t>        </a:t>
            </a:r>
            <a:r>
              <a:rPr lang="fr-FR" dirty="0" err="1"/>
              <a:t>shardName</a:t>
            </a:r>
            <a:r>
              <a:rPr lang="fr-FR" dirty="0"/>
              <a:t>: '</a:t>
            </a:r>
            <a:r>
              <a:rPr lang="fr-FR" dirty="0" err="1"/>
              <a:t>parisReplSet</a:t>
            </a:r>
            <a:r>
              <a:rPr lang="fr-FR" dirty="0"/>
              <a:t>',</a:t>
            </a:r>
          </a:p>
          <a:p>
            <a:r>
              <a:rPr lang="fr-FR" dirty="0"/>
              <a:t>        </a:t>
            </a:r>
            <a:r>
              <a:rPr lang="fr-FR" dirty="0" err="1"/>
              <a:t>numOrphanedDocs</a:t>
            </a:r>
            <a:r>
              <a:rPr lang="fr-FR" dirty="0"/>
              <a:t>: 0,</a:t>
            </a:r>
          </a:p>
          <a:p>
            <a:r>
              <a:rPr lang="fr-FR" dirty="0"/>
              <a:t>        </a:t>
            </a:r>
            <a:r>
              <a:rPr lang="fr-FR" dirty="0" err="1"/>
              <a:t>numOwnedDocuments</a:t>
            </a:r>
            <a:r>
              <a:rPr lang="fr-FR" dirty="0"/>
              <a:t>: 5,</a:t>
            </a:r>
          </a:p>
          <a:p>
            <a:r>
              <a:rPr lang="fr-FR" dirty="0"/>
              <a:t>        </a:t>
            </a:r>
            <a:r>
              <a:rPr lang="fr-FR" dirty="0" err="1"/>
              <a:t>ownedSizeBytes</a:t>
            </a:r>
            <a:r>
              <a:rPr lang="fr-FR" dirty="0"/>
              <a:t>: 675,</a:t>
            </a:r>
          </a:p>
          <a:p>
            <a:r>
              <a:rPr lang="fr-FR" dirty="0"/>
              <a:t>        </a:t>
            </a:r>
            <a:r>
              <a:rPr lang="fr-FR" dirty="0" err="1"/>
              <a:t>orphanedSizeBytes</a:t>
            </a:r>
            <a:r>
              <a:rPr lang="fr-FR" dirty="0"/>
              <a:t>: 0</a:t>
            </a:r>
          </a:p>
          <a:p>
            <a:r>
              <a:rPr lang="fr-FR" dirty="0"/>
              <a:t>      }</a:t>
            </a:r>
          </a:p>
          <a:p>
            <a:r>
              <a:rPr lang="fr-FR" dirty="0"/>
              <a:t>    ]</a:t>
            </a:r>
          </a:p>
          <a:p>
            <a:r>
              <a:rPr lang="fr-FR" dirty="0"/>
              <a:t>  }</a:t>
            </a:r>
          </a:p>
          <a:p>
            <a:r>
              <a:rPr lang="fr-FR" dirty="0"/>
              <a:t>]</a:t>
            </a:r>
          </a:p>
          <a:p>
            <a:r>
              <a:rPr lang="fr-FR" dirty="0"/>
              <a:t>---</a:t>
            </a:r>
          </a:p>
          <a:p>
            <a:r>
              <a:rPr lang="fr-FR" dirty="0" err="1"/>
              <a:t>databases</a:t>
            </a:r>
            <a:endParaRPr lang="fr-FR" dirty="0"/>
          </a:p>
          <a:p>
            <a:r>
              <a:rPr lang="fr-FR" dirty="0"/>
              <a:t>[</a:t>
            </a:r>
          </a:p>
          <a:p>
            <a:r>
              <a:rPr lang="fr-FR" dirty="0"/>
              <a:t>  {</a:t>
            </a:r>
          </a:p>
          <a:p>
            <a:r>
              <a:rPr lang="fr-FR" dirty="0"/>
              <a:t>    </a:t>
            </a:r>
            <a:r>
              <a:rPr lang="fr-FR" dirty="0" err="1"/>
              <a:t>database</a:t>
            </a:r>
            <a:r>
              <a:rPr lang="fr-FR" dirty="0"/>
              <a:t>: { _id: 'config', </a:t>
            </a:r>
            <a:r>
              <a:rPr lang="fr-FR" dirty="0" err="1"/>
              <a:t>primary</a:t>
            </a:r>
            <a:r>
              <a:rPr lang="fr-FR" dirty="0"/>
              <a:t>: 'config', </a:t>
            </a:r>
            <a:r>
              <a:rPr lang="fr-FR" dirty="0" err="1"/>
              <a:t>partitioned</a:t>
            </a:r>
            <a:r>
              <a:rPr lang="fr-FR" dirty="0"/>
              <a:t>: </a:t>
            </a:r>
            <a:r>
              <a:rPr lang="fr-FR" dirty="0" err="1"/>
              <a:t>true</a:t>
            </a:r>
            <a:r>
              <a:rPr lang="fr-FR" dirty="0"/>
              <a:t> },</a:t>
            </a:r>
          </a:p>
          <a:p>
            <a:r>
              <a:rPr lang="fr-FR" dirty="0"/>
              <a:t>    collections: {</a:t>
            </a:r>
          </a:p>
          <a:p>
            <a:r>
              <a:rPr lang="fr-FR" dirty="0"/>
              <a:t>      '</a:t>
            </a:r>
            <a:r>
              <a:rPr lang="fr-FR" dirty="0" err="1"/>
              <a:t>config.system.sessions</a:t>
            </a:r>
            <a:r>
              <a:rPr lang="fr-FR" dirty="0"/>
              <a:t>': {</a:t>
            </a:r>
          </a:p>
          <a:p>
            <a:r>
              <a:rPr lang="fr-FR" dirty="0"/>
              <a:t>        </a:t>
            </a:r>
            <a:r>
              <a:rPr lang="fr-FR" dirty="0" err="1"/>
              <a:t>shardKey</a:t>
            </a:r>
            <a:r>
              <a:rPr lang="fr-FR" dirty="0"/>
              <a:t>: { _id: 1 },</a:t>
            </a:r>
          </a:p>
          <a:p>
            <a:r>
              <a:rPr lang="fr-FR" dirty="0"/>
              <a:t>        unique: false,</a:t>
            </a:r>
          </a:p>
          <a:p>
            <a:r>
              <a:rPr lang="fr-FR" dirty="0"/>
              <a:t>        </a:t>
            </a:r>
            <a:r>
              <a:rPr lang="fr-FR" dirty="0" err="1"/>
              <a:t>balancing</a:t>
            </a:r>
            <a:r>
              <a:rPr lang="fr-FR" dirty="0"/>
              <a:t>: </a:t>
            </a:r>
            <a:r>
              <a:rPr lang="fr-FR" dirty="0" err="1"/>
              <a:t>true</a:t>
            </a:r>
            <a:r>
              <a:rPr lang="fr-FR" dirty="0"/>
              <a:t>,</a:t>
            </a:r>
          </a:p>
          <a:p>
            <a:r>
              <a:rPr lang="fr-FR" dirty="0"/>
              <a:t>        </a:t>
            </a:r>
            <a:r>
              <a:rPr lang="fr-FR" dirty="0" err="1"/>
              <a:t>chunkMetadata</a:t>
            </a:r>
            <a:r>
              <a:rPr lang="fr-FR" dirty="0"/>
              <a:t>: [ { </a:t>
            </a:r>
            <a:r>
              <a:rPr lang="fr-FR" dirty="0" err="1"/>
              <a:t>shard</a:t>
            </a:r>
            <a:r>
              <a:rPr lang="fr-FR" dirty="0"/>
              <a:t>: '</a:t>
            </a:r>
            <a:r>
              <a:rPr lang="fr-FR" dirty="0" err="1"/>
              <a:t>parisReplSet</a:t>
            </a:r>
            <a:r>
              <a:rPr lang="fr-FR" dirty="0"/>
              <a:t>', </a:t>
            </a:r>
            <a:r>
              <a:rPr lang="fr-FR" dirty="0" err="1"/>
              <a:t>nChunks</a:t>
            </a:r>
            <a:r>
              <a:rPr lang="fr-FR" dirty="0"/>
              <a:t>: 1 } ],</a:t>
            </a:r>
          </a:p>
          <a:p>
            <a:r>
              <a:rPr lang="fr-FR" dirty="0"/>
              <a:t>        </a:t>
            </a:r>
            <a:r>
              <a:rPr lang="fr-FR" dirty="0" err="1"/>
              <a:t>chunks</a:t>
            </a:r>
            <a:r>
              <a:rPr lang="fr-FR" dirty="0"/>
              <a:t>: [</a:t>
            </a:r>
          </a:p>
          <a:p>
            <a:r>
              <a:rPr lang="fr-FR" dirty="0"/>
              <a:t>          { min: { _id: </a:t>
            </a:r>
            <a:r>
              <a:rPr lang="fr-FR" dirty="0" err="1"/>
              <a:t>MinKey</a:t>
            </a:r>
            <a:r>
              <a:rPr lang="fr-FR" dirty="0"/>
              <a:t>() }, max: { _id: </a:t>
            </a:r>
            <a:r>
              <a:rPr lang="fr-FR" dirty="0" err="1"/>
              <a:t>MaxKey</a:t>
            </a:r>
            <a:r>
              <a:rPr lang="fr-FR" dirty="0"/>
              <a:t>() }, 'on </a:t>
            </a:r>
            <a:r>
              <a:rPr lang="fr-FR" dirty="0" err="1"/>
              <a:t>shard</a:t>
            </a:r>
            <a:r>
              <a:rPr lang="fr-FR" dirty="0"/>
              <a:t>': '</a:t>
            </a:r>
            <a:r>
              <a:rPr lang="fr-FR" dirty="0" err="1"/>
              <a:t>parisReplSet</a:t>
            </a:r>
            <a:r>
              <a:rPr lang="fr-FR" dirty="0"/>
              <a:t>', 'last </a:t>
            </a:r>
            <a:r>
              <a:rPr lang="fr-FR" dirty="0" err="1"/>
              <a:t>modified</a:t>
            </a:r>
            <a:r>
              <a:rPr lang="fr-FR" dirty="0"/>
              <a:t>': </a:t>
            </a:r>
            <a:r>
              <a:rPr lang="fr-FR" dirty="0" err="1"/>
              <a:t>Timestamp</a:t>
            </a:r>
            <a:r>
              <a:rPr lang="fr-FR" dirty="0"/>
              <a:t>({ t: 1, i: 0 }) }</a:t>
            </a:r>
          </a:p>
          <a:p>
            <a:r>
              <a:rPr lang="fr-FR" dirty="0"/>
              <a:t>        ],</a:t>
            </a:r>
          </a:p>
          <a:p>
            <a:r>
              <a:rPr lang="fr-FR" dirty="0"/>
              <a:t>        tags: []</a:t>
            </a:r>
          </a:p>
          <a:p>
            <a:r>
              <a:rPr lang="fr-FR" dirty="0"/>
              <a:t>      }</a:t>
            </a:r>
          </a:p>
          <a:p>
            <a:r>
              <a:rPr lang="fr-FR" dirty="0"/>
              <a:t>    }</a:t>
            </a:r>
          </a:p>
          <a:p>
            <a:r>
              <a:rPr lang="fr-FR" dirty="0"/>
              <a:t>  }</a:t>
            </a:r>
          </a:p>
          <a:p>
            <a:r>
              <a:rPr lang="fr-FR" dirty="0"/>
              <a:t>]</a:t>
            </a:r>
          </a:p>
          <a:p>
            <a:r>
              <a:rPr lang="fr-FR" dirty="0"/>
              <a:t>[direct: mongos] test&gt;</a:t>
            </a:r>
          </a:p>
        </p:txBody>
      </p:sp>
    </p:spTree>
    <p:extLst>
      <p:ext uri="{BB962C8B-B14F-4D97-AF65-F5344CB8AC3E}">
        <p14:creationId xmlns:p14="http://schemas.microsoft.com/office/powerpoint/2010/main" val="414420865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 y="0"/>
            <a:ext cx="8853055" cy="3323987"/>
          </a:xfrm>
          <a:prstGeom prst="rect">
            <a:avLst/>
          </a:prstGeom>
        </p:spPr>
        <p:txBody>
          <a:bodyPr wrap="square">
            <a:spAutoFit/>
          </a:bodyPr>
          <a:lstStyle/>
          <a:p>
            <a:r>
              <a:rPr lang="fr-FR" dirty="0"/>
              <a:t>Prochaine étape : La distribution des </a:t>
            </a:r>
            <a:r>
              <a:rPr lang="fr-FR" dirty="0" smtClean="0"/>
              <a:t>données</a:t>
            </a:r>
          </a:p>
          <a:p>
            <a:endParaRPr lang="fr-FR" dirty="0" smtClean="0"/>
          </a:p>
          <a:p>
            <a:r>
              <a:rPr lang="fr-FR" dirty="0" smtClean="0"/>
              <a:t>Maintenant </a:t>
            </a:r>
            <a:r>
              <a:rPr lang="fr-FR" dirty="0"/>
              <a:t>que le cluster est fonctionnel, </a:t>
            </a:r>
            <a:r>
              <a:rPr lang="fr-FR" dirty="0" smtClean="0"/>
              <a:t>passons à </a:t>
            </a:r>
            <a:r>
              <a:rPr lang="fr-FR" dirty="0"/>
              <a:t>l'objectif principal de votre projet : distribuer les données pour optimiser les performances des requêtes locales</a:t>
            </a:r>
            <a:r>
              <a:rPr lang="fr-FR" dirty="0" smtClean="0"/>
              <a:t>.</a:t>
            </a:r>
          </a:p>
          <a:p>
            <a:endParaRPr lang="fr-FR" dirty="0"/>
          </a:p>
          <a:p>
            <a:r>
              <a:rPr lang="fr-FR" dirty="0" smtClean="0"/>
              <a:t>C'est </a:t>
            </a:r>
            <a:r>
              <a:rPr lang="fr-FR" dirty="0"/>
              <a:t>là que </a:t>
            </a:r>
            <a:r>
              <a:rPr lang="fr-FR" dirty="0" smtClean="0"/>
              <a:t>nous allons mettre </a:t>
            </a:r>
            <a:r>
              <a:rPr lang="fr-FR" dirty="0"/>
              <a:t>en œuvre la stratégie de distribution </a:t>
            </a:r>
            <a:r>
              <a:rPr lang="fr-FR" dirty="0" smtClean="0"/>
              <a:t>qu’on a définie</a:t>
            </a:r>
            <a:r>
              <a:rPr lang="fr-FR" dirty="0"/>
              <a:t>. </a:t>
            </a:r>
            <a:r>
              <a:rPr lang="fr-FR" dirty="0" smtClean="0"/>
              <a:t>Nous allons dire </a:t>
            </a:r>
            <a:r>
              <a:rPr lang="fr-FR" dirty="0"/>
              <a:t>à </a:t>
            </a:r>
            <a:r>
              <a:rPr lang="fr-FR" dirty="0" err="1"/>
              <a:t>MongoDB</a:t>
            </a:r>
            <a:r>
              <a:rPr lang="fr-FR" dirty="0"/>
              <a:t> où placer les données en fonction de leur localisation</a:t>
            </a:r>
            <a:r>
              <a:rPr lang="fr-FR" dirty="0" smtClean="0"/>
              <a:t>.</a:t>
            </a:r>
          </a:p>
          <a:p>
            <a:endParaRPr lang="fr-FR" dirty="0"/>
          </a:p>
          <a:p>
            <a:r>
              <a:rPr lang="fr-FR" dirty="0" smtClean="0"/>
              <a:t>Pour </a:t>
            </a:r>
            <a:r>
              <a:rPr lang="fr-FR" dirty="0"/>
              <a:t>cela, </a:t>
            </a:r>
            <a:r>
              <a:rPr lang="fr-FR" dirty="0" smtClean="0"/>
              <a:t>vous </a:t>
            </a:r>
            <a:r>
              <a:rPr lang="fr-FR" dirty="0"/>
              <a:t>devez </a:t>
            </a:r>
            <a:r>
              <a:rPr lang="fr-FR" dirty="0" smtClean="0"/>
              <a:t>:</a:t>
            </a:r>
          </a:p>
          <a:p>
            <a:pPr marL="342900" indent="-342900">
              <a:buAutoNum type="arabicParenR"/>
            </a:pPr>
            <a:r>
              <a:rPr lang="fr-FR" dirty="0" smtClean="0"/>
              <a:t>Activer </a:t>
            </a:r>
            <a:r>
              <a:rPr lang="fr-FR" dirty="0"/>
              <a:t>le </a:t>
            </a:r>
            <a:r>
              <a:rPr lang="fr-FR" dirty="0" err="1"/>
              <a:t>sharding</a:t>
            </a:r>
            <a:r>
              <a:rPr lang="fr-FR" dirty="0"/>
              <a:t> pour la base de données</a:t>
            </a:r>
            <a:r>
              <a:rPr lang="fr-FR" dirty="0" smtClean="0"/>
              <a:t>.</a:t>
            </a:r>
          </a:p>
          <a:p>
            <a:pPr marL="342900" indent="-342900">
              <a:buAutoNum type="arabicParenR"/>
            </a:pPr>
            <a:r>
              <a:rPr lang="fr-FR" dirty="0"/>
              <a:t>Créer des zones ou des tags (Paris et Lyon</a:t>
            </a:r>
            <a:r>
              <a:rPr lang="fr-FR" dirty="0" smtClean="0"/>
              <a:t>).</a:t>
            </a:r>
          </a:p>
          <a:p>
            <a:pPr marL="342900" indent="-342900">
              <a:buAutoNum type="arabicParenR"/>
            </a:pPr>
            <a:r>
              <a:rPr lang="fr-FR" dirty="0"/>
              <a:t>Associer ces zones aux </a:t>
            </a:r>
            <a:r>
              <a:rPr lang="fr-FR" dirty="0" err="1"/>
              <a:t>shards</a:t>
            </a:r>
            <a:r>
              <a:rPr lang="fr-FR" dirty="0"/>
              <a:t> que </a:t>
            </a:r>
            <a:r>
              <a:rPr lang="fr-FR" dirty="0" smtClean="0"/>
              <a:t>nous avons créés.</a:t>
            </a:r>
          </a:p>
          <a:p>
            <a:pPr marL="342900" indent="-342900">
              <a:buAutoNum type="arabicParenR"/>
            </a:pPr>
            <a:r>
              <a:rPr lang="fr-FR" dirty="0"/>
              <a:t>Définir une clé de </a:t>
            </a:r>
            <a:r>
              <a:rPr lang="fr-FR" dirty="0" err="1"/>
              <a:t>sharding</a:t>
            </a:r>
            <a:r>
              <a:rPr lang="fr-FR" dirty="0"/>
              <a:t> sur votre collection pour que </a:t>
            </a:r>
            <a:r>
              <a:rPr lang="fr-FR" dirty="0" err="1"/>
              <a:t>MongoDB</a:t>
            </a:r>
            <a:r>
              <a:rPr lang="fr-FR" dirty="0"/>
              <a:t> sache comment distribuer les données</a:t>
            </a:r>
            <a:r>
              <a:rPr lang="fr-FR" dirty="0" smtClean="0"/>
              <a:t>.</a:t>
            </a:r>
          </a:p>
          <a:p>
            <a:pPr marL="342900" indent="-342900">
              <a:buAutoNum type="arabicParenR"/>
            </a:pPr>
            <a:r>
              <a:rPr lang="fr-FR" dirty="0"/>
              <a:t>Enfin, lancer la distribution de la collection.</a:t>
            </a:r>
          </a:p>
        </p:txBody>
      </p:sp>
    </p:spTree>
    <p:extLst>
      <p:ext uri="{BB962C8B-B14F-4D97-AF65-F5344CB8AC3E}">
        <p14:creationId xmlns:p14="http://schemas.microsoft.com/office/powerpoint/2010/main" val="23266083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040091" cy="2246769"/>
          </a:xfrm>
          <a:prstGeom prst="rect">
            <a:avLst/>
          </a:prstGeom>
        </p:spPr>
        <p:txBody>
          <a:bodyPr wrap="square">
            <a:spAutoFit/>
          </a:bodyPr>
          <a:lstStyle/>
          <a:p>
            <a:r>
              <a:rPr lang="fr-FR" dirty="0"/>
              <a:t>Étape 1 : Créer une base de données et une </a:t>
            </a:r>
            <a:r>
              <a:rPr lang="fr-FR" dirty="0" smtClean="0"/>
              <a:t>collection</a:t>
            </a:r>
          </a:p>
          <a:p>
            <a:endParaRPr lang="fr-FR" dirty="0" smtClean="0"/>
          </a:p>
          <a:p>
            <a:r>
              <a:rPr lang="fr-FR" dirty="0" smtClean="0"/>
              <a:t>Pour </a:t>
            </a:r>
            <a:r>
              <a:rPr lang="fr-FR" dirty="0"/>
              <a:t>commencer, nous allons créer une base de données et une collection de démonstration. </a:t>
            </a:r>
            <a:endParaRPr lang="fr-FR" dirty="0" smtClean="0"/>
          </a:p>
          <a:p>
            <a:r>
              <a:rPr lang="fr-FR" dirty="0" smtClean="0"/>
              <a:t>Pour </a:t>
            </a:r>
            <a:r>
              <a:rPr lang="fr-FR" dirty="0"/>
              <a:t>notre exemple, nous allons l'appeler </a:t>
            </a:r>
            <a:r>
              <a:rPr lang="fr-FR" dirty="0" err="1"/>
              <a:t>ventes_nationales</a:t>
            </a:r>
            <a:r>
              <a:rPr lang="fr-FR" dirty="0"/>
              <a:t> et la collection commandes</a:t>
            </a:r>
            <a:r>
              <a:rPr lang="fr-FR" dirty="0" smtClean="0"/>
              <a:t>.</a:t>
            </a:r>
          </a:p>
          <a:p>
            <a:r>
              <a:rPr lang="fr-FR" dirty="0" smtClean="0"/>
              <a:t>Dans </a:t>
            </a:r>
            <a:r>
              <a:rPr lang="fr-FR" dirty="0"/>
              <a:t>le terminal </a:t>
            </a:r>
            <a:r>
              <a:rPr lang="fr-FR" dirty="0" err="1"/>
              <a:t>mongosh</a:t>
            </a:r>
            <a:r>
              <a:rPr lang="fr-FR" dirty="0"/>
              <a:t>, exécutez les commandes suivantes </a:t>
            </a:r>
            <a:r>
              <a:rPr lang="fr-FR" dirty="0" smtClean="0"/>
              <a:t>:</a:t>
            </a:r>
          </a:p>
          <a:p>
            <a:r>
              <a:rPr lang="fr-FR" dirty="0" err="1" smtClean="0"/>
              <a:t>JavaScriptuse</a:t>
            </a:r>
            <a:r>
              <a:rPr lang="fr-FR" dirty="0" smtClean="0"/>
              <a:t> </a:t>
            </a:r>
            <a:r>
              <a:rPr lang="fr-FR" dirty="0" err="1"/>
              <a:t>ventes_nationales;db.commandes.insertOne</a:t>
            </a:r>
            <a:r>
              <a:rPr lang="fr-FR" dirty="0"/>
              <a:t>({ "ville": "Paris", "montant": 100 </a:t>
            </a:r>
            <a:r>
              <a:rPr lang="fr-FR" dirty="0" smtClean="0"/>
              <a:t>});</a:t>
            </a:r>
          </a:p>
          <a:p>
            <a:endParaRPr lang="fr-FR" dirty="0" smtClean="0"/>
          </a:p>
          <a:p>
            <a:r>
              <a:rPr lang="fr-FR" dirty="0" smtClean="0"/>
              <a:t>Étape </a:t>
            </a:r>
            <a:r>
              <a:rPr lang="fr-FR" dirty="0"/>
              <a:t>2 : Activer le </a:t>
            </a:r>
            <a:r>
              <a:rPr lang="fr-FR" dirty="0" err="1"/>
              <a:t>sharding</a:t>
            </a:r>
            <a:r>
              <a:rPr lang="fr-FR" dirty="0"/>
              <a:t> pour la base de </a:t>
            </a:r>
            <a:r>
              <a:rPr lang="fr-FR" dirty="0" smtClean="0"/>
              <a:t>données</a:t>
            </a:r>
          </a:p>
          <a:p>
            <a:r>
              <a:rPr lang="fr-FR" dirty="0" smtClean="0"/>
              <a:t>Vous </a:t>
            </a:r>
            <a:r>
              <a:rPr lang="fr-FR" dirty="0"/>
              <a:t>devez d'abord activer le </a:t>
            </a:r>
            <a:r>
              <a:rPr lang="fr-FR" dirty="0" err="1"/>
              <a:t>sharding</a:t>
            </a:r>
            <a:r>
              <a:rPr lang="fr-FR" dirty="0"/>
              <a:t> pour la base de données dans laquelle se trouve votre collection. Cela doit être fait une seule fois par base de </a:t>
            </a:r>
            <a:r>
              <a:rPr lang="fr-FR" dirty="0" err="1"/>
              <a:t>données.JavaScriptsh.enableSharding</a:t>
            </a:r>
            <a:r>
              <a:rPr lang="fr-FR" dirty="0"/>
              <a:t>("</a:t>
            </a:r>
            <a:r>
              <a:rPr lang="fr-FR" dirty="0" err="1"/>
              <a:t>ventes_nationales</a:t>
            </a:r>
            <a:r>
              <a:rPr lang="fr-FR" dirty="0"/>
              <a:t>");</a:t>
            </a:r>
          </a:p>
        </p:txBody>
      </p:sp>
    </p:spTree>
    <p:extLst>
      <p:ext uri="{BB962C8B-B14F-4D97-AF65-F5344CB8AC3E}">
        <p14:creationId xmlns:p14="http://schemas.microsoft.com/office/powerpoint/2010/main" val="9921095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518" y="77437"/>
            <a:ext cx="9144000" cy="2893100"/>
          </a:xfrm>
          <a:prstGeom prst="rect">
            <a:avLst/>
          </a:prstGeom>
        </p:spPr>
        <p:txBody>
          <a:bodyPr wrap="square">
            <a:spAutoFit/>
          </a:bodyPr>
          <a:lstStyle/>
          <a:p>
            <a:r>
              <a:rPr lang="fr-FR" dirty="0"/>
              <a:t>Étape 3 : Créer et associer des zones (tags) aux </a:t>
            </a:r>
            <a:r>
              <a:rPr lang="fr-FR" dirty="0" err="1" smtClean="0"/>
              <a:t>shards</a:t>
            </a:r>
            <a:endParaRPr lang="fr-FR" dirty="0" smtClean="0"/>
          </a:p>
          <a:p>
            <a:endParaRPr lang="fr-FR" dirty="0" smtClean="0"/>
          </a:p>
          <a:p>
            <a:r>
              <a:rPr lang="fr-FR" dirty="0" smtClean="0"/>
              <a:t>C'est </a:t>
            </a:r>
            <a:r>
              <a:rPr lang="fr-FR" dirty="0"/>
              <a:t>ici que nous mettons en œuvre notre stratégie de distribution géographique. </a:t>
            </a:r>
            <a:endParaRPr lang="fr-FR" dirty="0" smtClean="0"/>
          </a:p>
          <a:p>
            <a:r>
              <a:rPr lang="fr-FR" dirty="0" smtClean="0"/>
              <a:t>Nous </a:t>
            </a:r>
            <a:r>
              <a:rPr lang="fr-FR" dirty="0"/>
              <a:t>allons créer des zones (Paris et Lyon) et les associer aux </a:t>
            </a:r>
            <a:r>
              <a:rPr lang="fr-FR" dirty="0" err="1"/>
              <a:t>shards</a:t>
            </a:r>
            <a:r>
              <a:rPr lang="fr-FR" dirty="0"/>
              <a:t> correspondants</a:t>
            </a:r>
            <a:r>
              <a:rPr lang="fr-FR" dirty="0" smtClean="0"/>
              <a:t>.</a:t>
            </a:r>
          </a:p>
          <a:p>
            <a:r>
              <a:rPr lang="fr-FR" dirty="0" smtClean="0"/>
              <a:t>Attention </a:t>
            </a:r>
            <a:r>
              <a:rPr lang="fr-FR" dirty="0"/>
              <a:t>: Assurez-vous d'utiliser les noms de </a:t>
            </a:r>
            <a:r>
              <a:rPr lang="fr-FR" dirty="0" err="1"/>
              <a:t>replica</a:t>
            </a:r>
            <a:r>
              <a:rPr lang="fr-FR" dirty="0"/>
              <a:t> sets corrects que vous avez créés (</a:t>
            </a:r>
            <a:r>
              <a:rPr lang="fr-FR" dirty="0" err="1"/>
              <a:t>parisReplSet</a:t>
            </a:r>
            <a:r>
              <a:rPr lang="fr-FR" dirty="0"/>
              <a:t> et </a:t>
            </a:r>
            <a:r>
              <a:rPr lang="fr-FR" dirty="0" err="1"/>
              <a:t>lyonReplSet</a:t>
            </a:r>
            <a:r>
              <a:rPr lang="fr-FR" dirty="0"/>
              <a:t>).[direct: mongos] </a:t>
            </a:r>
            <a:r>
              <a:rPr lang="fr-FR" dirty="0" err="1"/>
              <a:t>ventes_nationales</a:t>
            </a:r>
            <a:r>
              <a:rPr lang="fr-FR" dirty="0"/>
              <a:t>&gt;</a:t>
            </a:r>
            <a:r>
              <a:rPr lang="fr-FR" dirty="0" err="1"/>
              <a:t>JavaScriptsh.addShardTag</a:t>
            </a:r>
            <a:r>
              <a:rPr lang="fr-FR" dirty="0"/>
              <a:t>("</a:t>
            </a:r>
            <a:r>
              <a:rPr lang="fr-FR" dirty="0" err="1"/>
              <a:t>parisReplSet</a:t>
            </a:r>
            <a:r>
              <a:rPr lang="fr-FR" dirty="0"/>
              <a:t>", "Paris");</a:t>
            </a:r>
            <a:r>
              <a:rPr lang="fr-FR" dirty="0" err="1"/>
              <a:t>sh.addShardTag</a:t>
            </a:r>
            <a:r>
              <a:rPr lang="fr-FR" dirty="0"/>
              <a:t>("</a:t>
            </a:r>
            <a:r>
              <a:rPr lang="fr-FR" dirty="0" err="1"/>
              <a:t>lyonReplSet</a:t>
            </a:r>
            <a:r>
              <a:rPr lang="fr-FR" dirty="0"/>
              <a:t>", "Lyon</a:t>
            </a:r>
            <a:r>
              <a:rPr lang="fr-FR" dirty="0" smtClean="0"/>
              <a:t>");</a:t>
            </a:r>
          </a:p>
          <a:p>
            <a:endParaRPr lang="fr-FR" dirty="0"/>
          </a:p>
          <a:p>
            <a:r>
              <a:rPr lang="fr-FR" dirty="0" smtClean="0"/>
              <a:t>Étape </a:t>
            </a:r>
            <a:r>
              <a:rPr lang="fr-FR" dirty="0"/>
              <a:t>4 : Définir la clé de </a:t>
            </a:r>
            <a:r>
              <a:rPr lang="fr-FR" dirty="0" err="1"/>
              <a:t>sharding</a:t>
            </a:r>
            <a:r>
              <a:rPr lang="fr-FR" dirty="0"/>
              <a:t> pour la </a:t>
            </a:r>
            <a:r>
              <a:rPr lang="fr-FR" dirty="0" smtClean="0"/>
              <a:t>collection</a:t>
            </a:r>
          </a:p>
          <a:p>
            <a:r>
              <a:rPr lang="fr-FR" dirty="0" smtClean="0"/>
              <a:t>La </a:t>
            </a:r>
            <a:r>
              <a:rPr lang="fr-FR" dirty="0"/>
              <a:t>clé de </a:t>
            </a:r>
            <a:r>
              <a:rPr lang="fr-FR" dirty="0" err="1"/>
              <a:t>sharding</a:t>
            </a:r>
            <a:r>
              <a:rPr lang="fr-FR" dirty="0"/>
              <a:t> est un champ dans vos documents qui sera utilisé pour décider sur quel </a:t>
            </a:r>
            <a:r>
              <a:rPr lang="fr-FR" dirty="0" err="1"/>
              <a:t>shard</a:t>
            </a:r>
            <a:r>
              <a:rPr lang="fr-FR" dirty="0"/>
              <a:t> le document sera stocké. Pour notre stratégie de localisation, nous utiliserons le champ ville</a:t>
            </a:r>
            <a:r>
              <a:rPr lang="fr-FR" dirty="0" smtClean="0"/>
              <a:t>.</a:t>
            </a:r>
          </a:p>
          <a:p>
            <a:r>
              <a:rPr lang="fr-FR" dirty="0" smtClean="0"/>
              <a:t>Nous </a:t>
            </a:r>
            <a:r>
              <a:rPr lang="fr-FR" dirty="0"/>
              <a:t>allons utiliser le </a:t>
            </a:r>
            <a:r>
              <a:rPr lang="fr-FR" dirty="0" err="1"/>
              <a:t>sharding</a:t>
            </a:r>
            <a:r>
              <a:rPr lang="fr-FR" dirty="0"/>
              <a:t> sur le champ ville ({ "ville": 1 }).</a:t>
            </a:r>
            <a:r>
              <a:rPr lang="fr-FR" dirty="0" err="1"/>
              <a:t>JavaScriptsh.shardCollection</a:t>
            </a:r>
            <a:r>
              <a:rPr lang="fr-FR" dirty="0"/>
              <a:t>("</a:t>
            </a:r>
            <a:r>
              <a:rPr lang="fr-FR" dirty="0" err="1"/>
              <a:t>ventes_nationales.commandes</a:t>
            </a:r>
            <a:r>
              <a:rPr lang="fr-FR" dirty="0"/>
              <a:t>", { "ville": 1 });</a:t>
            </a:r>
          </a:p>
        </p:txBody>
      </p:sp>
    </p:spTree>
    <p:extLst>
      <p:ext uri="{BB962C8B-B14F-4D97-AF65-F5344CB8AC3E}">
        <p14:creationId xmlns:p14="http://schemas.microsoft.com/office/powerpoint/2010/main" val="13511615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4672"/>
            <a:ext cx="8988136" cy="2893100"/>
          </a:xfrm>
          <a:prstGeom prst="rect">
            <a:avLst/>
          </a:prstGeom>
        </p:spPr>
        <p:txBody>
          <a:bodyPr wrap="square">
            <a:spAutoFit/>
          </a:bodyPr>
          <a:lstStyle/>
          <a:p>
            <a:r>
              <a:rPr lang="fr-FR" dirty="0"/>
              <a:t>Étape 5 : Définir les plages de </a:t>
            </a:r>
            <a:r>
              <a:rPr lang="fr-FR" dirty="0" err="1"/>
              <a:t>sharding</a:t>
            </a:r>
            <a:r>
              <a:rPr lang="fr-FR" dirty="0"/>
              <a:t> pour les </a:t>
            </a:r>
            <a:r>
              <a:rPr lang="fr-FR" dirty="0" smtClean="0"/>
              <a:t>zones</a:t>
            </a:r>
          </a:p>
          <a:p>
            <a:endParaRPr lang="fr-FR" dirty="0" smtClean="0"/>
          </a:p>
          <a:p>
            <a:r>
              <a:rPr lang="fr-FR" dirty="0" smtClean="0"/>
              <a:t>Maintenant</a:t>
            </a:r>
            <a:r>
              <a:rPr lang="fr-FR" dirty="0"/>
              <a:t>, nous allons lier les zones de données (Paris et Lyon) aux tags que nous avons créés</a:t>
            </a:r>
            <a:r>
              <a:rPr lang="fr-FR" dirty="0" smtClean="0"/>
              <a:t>.</a:t>
            </a:r>
          </a:p>
          <a:p>
            <a:r>
              <a:rPr lang="fr-FR" dirty="0" smtClean="0"/>
              <a:t> </a:t>
            </a:r>
            <a:r>
              <a:rPr lang="fr-FR" dirty="0"/>
              <a:t>Cela indique à </a:t>
            </a:r>
            <a:r>
              <a:rPr lang="fr-FR" dirty="0" err="1"/>
              <a:t>MongoDB</a:t>
            </a:r>
            <a:r>
              <a:rPr lang="fr-FR" dirty="0"/>
              <a:t> où stocker les documents en fonction de la valeur de leur champ ville</a:t>
            </a:r>
            <a:r>
              <a:rPr lang="fr-FR" dirty="0" smtClean="0"/>
              <a:t>.</a:t>
            </a:r>
          </a:p>
          <a:p>
            <a:r>
              <a:rPr lang="fr-FR" dirty="0" smtClean="0"/>
              <a:t>La </a:t>
            </a:r>
            <a:r>
              <a:rPr lang="fr-FR" dirty="0"/>
              <a:t>commande </a:t>
            </a:r>
            <a:r>
              <a:rPr lang="fr-FR" dirty="0" err="1"/>
              <a:t>addTagRange</a:t>
            </a:r>
            <a:r>
              <a:rPr lang="fr-FR" dirty="0"/>
              <a:t> définit une plage de valeurs de la clé de </a:t>
            </a:r>
            <a:r>
              <a:rPr lang="fr-FR" dirty="0" err="1"/>
              <a:t>sharding</a:t>
            </a:r>
            <a:r>
              <a:rPr lang="fr-FR" dirty="0"/>
              <a:t> (ici, ville) qui sera routée vers une zone spécifique.[direct: mongos] </a:t>
            </a:r>
            <a:endParaRPr lang="fr-FR" dirty="0" smtClean="0"/>
          </a:p>
          <a:p>
            <a:endParaRPr lang="fr-FR" dirty="0" smtClean="0"/>
          </a:p>
          <a:p>
            <a:r>
              <a:rPr lang="fr-FR" dirty="0" err="1" smtClean="0"/>
              <a:t>ventes_nationales</a:t>
            </a:r>
            <a:r>
              <a:rPr lang="fr-FR" dirty="0" smtClean="0"/>
              <a:t>&gt;</a:t>
            </a:r>
            <a:r>
              <a:rPr lang="fr-FR" dirty="0" err="1" smtClean="0"/>
              <a:t>JavaScriptsh.addTagRange</a:t>
            </a:r>
            <a:r>
              <a:rPr lang="fr-FR" dirty="0"/>
              <a:t>("</a:t>
            </a:r>
            <a:r>
              <a:rPr lang="fr-FR" dirty="0" err="1"/>
              <a:t>ventes_nationales.commandes</a:t>
            </a:r>
            <a:r>
              <a:rPr lang="fr-FR" dirty="0"/>
              <a:t>", { "ville" : "Paris" </a:t>
            </a:r>
            <a:r>
              <a:rPr lang="fr-FR" dirty="0" smtClean="0"/>
              <a:t>},</a:t>
            </a:r>
          </a:p>
          <a:p>
            <a:r>
              <a:rPr lang="fr-FR" dirty="0" smtClean="0"/>
              <a:t> </a:t>
            </a:r>
            <a:r>
              <a:rPr lang="fr-FR" dirty="0"/>
              <a:t>{ "ville" : "Paris\</a:t>
            </a:r>
            <a:r>
              <a:rPr lang="fr-FR" dirty="0" err="1"/>
              <a:t>uFFFF</a:t>
            </a:r>
            <a:r>
              <a:rPr lang="fr-FR" dirty="0"/>
              <a:t>" }, "Paris");</a:t>
            </a:r>
            <a:r>
              <a:rPr lang="fr-FR" dirty="0" err="1"/>
              <a:t>sh.addTagRange</a:t>
            </a:r>
            <a:r>
              <a:rPr lang="fr-FR" dirty="0"/>
              <a:t>("</a:t>
            </a:r>
            <a:r>
              <a:rPr lang="fr-FR" dirty="0" err="1"/>
              <a:t>ventes_nationales.commandes</a:t>
            </a:r>
            <a:r>
              <a:rPr lang="fr-FR" dirty="0" smtClean="0"/>
              <a:t>",</a:t>
            </a:r>
          </a:p>
          <a:p>
            <a:r>
              <a:rPr lang="fr-FR" dirty="0" smtClean="0"/>
              <a:t> </a:t>
            </a:r>
            <a:r>
              <a:rPr lang="fr-FR" dirty="0"/>
              <a:t>{ "ville" : "Lyon" }, { "ville" : "Lyon\</a:t>
            </a:r>
            <a:r>
              <a:rPr lang="fr-FR" dirty="0" err="1"/>
              <a:t>uFFFF</a:t>
            </a:r>
            <a:r>
              <a:rPr lang="fr-FR" dirty="0"/>
              <a:t>" }, "Lyon</a:t>
            </a:r>
            <a:r>
              <a:rPr lang="fr-FR" dirty="0" smtClean="0"/>
              <a:t>");</a:t>
            </a:r>
          </a:p>
          <a:p>
            <a:endParaRPr lang="fr-FR" dirty="0" smtClean="0"/>
          </a:p>
          <a:p>
            <a:r>
              <a:rPr lang="fr-FR" dirty="0" smtClean="0"/>
              <a:t>Le </a:t>
            </a:r>
            <a:r>
              <a:rPr lang="fr-FR" dirty="0"/>
              <a:t>caractère \</a:t>
            </a:r>
            <a:r>
              <a:rPr lang="fr-FR" dirty="0" err="1"/>
              <a:t>uFFFF</a:t>
            </a:r>
            <a:r>
              <a:rPr lang="fr-FR" dirty="0"/>
              <a:t> est un caractère Unicode spécial qui garantit que la plage inclut toutes les chaînes de caractères commençant par "Paris".</a:t>
            </a:r>
          </a:p>
        </p:txBody>
      </p:sp>
    </p:spTree>
    <p:extLst>
      <p:ext uri="{BB962C8B-B14F-4D97-AF65-F5344CB8AC3E}">
        <p14:creationId xmlns:p14="http://schemas.microsoft.com/office/powerpoint/2010/main" val="389858119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3539430"/>
          </a:xfrm>
          <a:prstGeom prst="rect">
            <a:avLst/>
          </a:prstGeom>
        </p:spPr>
        <p:txBody>
          <a:bodyPr wrap="square">
            <a:spAutoFit/>
          </a:bodyPr>
          <a:lstStyle/>
          <a:p>
            <a:r>
              <a:rPr lang="fr-FR" dirty="0"/>
              <a:t>Étape 6 : Vérifier la </a:t>
            </a:r>
            <a:r>
              <a:rPr lang="fr-FR" dirty="0" smtClean="0"/>
              <a:t>distribution</a:t>
            </a:r>
          </a:p>
          <a:p>
            <a:endParaRPr lang="fr-FR" dirty="0"/>
          </a:p>
          <a:p>
            <a:r>
              <a:rPr lang="fr-FR" dirty="0" smtClean="0"/>
              <a:t>Pour </a:t>
            </a:r>
            <a:r>
              <a:rPr lang="fr-FR" dirty="0"/>
              <a:t>vérifier que tout a été configuré correctement, insérez quelques données de test et vérifiez où elles sont stockées</a:t>
            </a:r>
            <a:r>
              <a:rPr lang="fr-FR" dirty="0" smtClean="0"/>
              <a:t>.</a:t>
            </a:r>
          </a:p>
          <a:p>
            <a:r>
              <a:rPr lang="fr-FR" dirty="0" err="1" smtClean="0"/>
              <a:t>JavaScriptdb.commandes.insertMany</a:t>
            </a:r>
            <a:r>
              <a:rPr lang="fr-FR" dirty="0"/>
              <a:t>([  { "ville": "Paris", "article": "Produit A", "client": "Jean Dupont" }, </a:t>
            </a:r>
            <a:endParaRPr lang="fr-FR" dirty="0" smtClean="0"/>
          </a:p>
          <a:p>
            <a:r>
              <a:rPr lang="fr-FR" dirty="0" smtClean="0"/>
              <a:t> </a:t>
            </a:r>
            <a:r>
              <a:rPr lang="fr-FR" dirty="0"/>
              <a:t>{ "ville": "Lyon", "article": "Produit B", "client": "Marie </a:t>
            </a:r>
            <a:r>
              <a:rPr lang="fr-FR" dirty="0" err="1"/>
              <a:t>Lefevre</a:t>
            </a:r>
            <a:r>
              <a:rPr lang="fr-FR" dirty="0"/>
              <a:t>" }, </a:t>
            </a:r>
            <a:endParaRPr lang="fr-FR" dirty="0" smtClean="0"/>
          </a:p>
          <a:p>
            <a:r>
              <a:rPr lang="fr-FR" dirty="0" smtClean="0"/>
              <a:t> </a:t>
            </a:r>
            <a:r>
              <a:rPr lang="fr-FR" dirty="0"/>
              <a:t>{ "ville": "Paris", "article": "Produit C", "client": "Pierre Martin" }, </a:t>
            </a:r>
            <a:endParaRPr lang="fr-FR" dirty="0" smtClean="0"/>
          </a:p>
          <a:p>
            <a:r>
              <a:rPr lang="fr-FR" dirty="0" smtClean="0"/>
              <a:t> </a:t>
            </a:r>
            <a:r>
              <a:rPr lang="fr-FR" dirty="0"/>
              <a:t>{ "ville": "Lyon", "article": "Produit D", "client": "Sophie Bernard" </a:t>
            </a:r>
            <a:r>
              <a:rPr lang="fr-FR" dirty="0" smtClean="0"/>
              <a:t>}]);</a:t>
            </a:r>
          </a:p>
          <a:p>
            <a:r>
              <a:rPr lang="fr-FR" dirty="0" smtClean="0"/>
              <a:t>Maintenant</a:t>
            </a:r>
            <a:r>
              <a:rPr lang="fr-FR" dirty="0"/>
              <a:t>, </a:t>
            </a:r>
            <a:endParaRPr lang="fr-FR" dirty="0" smtClean="0"/>
          </a:p>
          <a:p>
            <a:r>
              <a:rPr lang="fr-FR" dirty="0" smtClean="0"/>
              <a:t>exécutez </a:t>
            </a:r>
            <a:r>
              <a:rPr lang="fr-FR" dirty="0" err="1"/>
              <a:t>sh.status</a:t>
            </a:r>
            <a:r>
              <a:rPr lang="fr-FR" dirty="0"/>
              <a:t>() pour voir la distribution des "</a:t>
            </a:r>
            <a:r>
              <a:rPr lang="fr-FR" dirty="0" err="1"/>
              <a:t>chunks</a:t>
            </a:r>
            <a:r>
              <a:rPr lang="fr-FR" dirty="0"/>
              <a:t>" :</a:t>
            </a:r>
            <a:r>
              <a:rPr lang="fr-FR" dirty="0" err="1"/>
              <a:t>JavaScriptsh.status</a:t>
            </a:r>
            <a:r>
              <a:rPr lang="fr-FR" dirty="0" smtClean="0"/>
              <a:t>();</a:t>
            </a:r>
          </a:p>
          <a:p>
            <a:r>
              <a:rPr lang="fr-FR" dirty="0" smtClean="0"/>
              <a:t>Dans </a:t>
            </a:r>
            <a:r>
              <a:rPr lang="fr-FR" dirty="0"/>
              <a:t>la sortie, vous devriez voir la collection </a:t>
            </a:r>
            <a:r>
              <a:rPr lang="fr-FR" dirty="0" err="1"/>
              <a:t>ventes_nationales.commandes</a:t>
            </a:r>
            <a:r>
              <a:rPr lang="fr-FR" dirty="0"/>
              <a:t> avec des "</a:t>
            </a:r>
            <a:r>
              <a:rPr lang="fr-FR" dirty="0" err="1"/>
              <a:t>chunks</a:t>
            </a:r>
            <a:r>
              <a:rPr lang="fr-FR" dirty="0"/>
              <a:t>" qui pointent vers le </a:t>
            </a:r>
            <a:r>
              <a:rPr lang="fr-FR" dirty="0" err="1"/>
              <a:t>shard</a:t>
            </a:r>
            <a:r>
              <a:rPr lang="fr-FR" dirty="0"/>
              <a:t> de Paris et le </a:t>
            </a:r>
            <a:r>
              <a:rPr lang="fr-FR" dirty="0" err="1"/>
              <a:t>shard</a:t>
            </a:r>
            <a:r>
              <a:rPr lang="fr-FR" dirty="0"/>
              <a:t> de Lyon</a:t>
            </a:r>
            <a:r>
              <a:rPr lang="fr-FR" dirty="0" smtClean="0"/>
              <a:t>.</a:t>
            </a:r>
          </a:p>
          <a:p>
            <a:r>
              <a:rPr lang="fr-FR" dirty="0" smtClean="0"/>
              <a:t>Les </a:t>
            </a:r>
            <a:r>
              <a:rPr lang="fr-FR" dirty="0"/>
              <a:t>documents insérés avec "ville": "Paris" se trouveront sur le </a:t>
            </a:r>
            <a:r>
              <a:rPr lang="fr-FR" dirty="0" err="1"/>
              <a:t>shard</a:t>
            </a:r>
            <a:r>
              <a:rPr lang="fr-FR" dirty="0"/>
              <a:t> </a:t>
            </a:r>
            <a:r>
              <a:rPr lang="fr-FR" dirty="0" err="1"/>
              <a:t>parisReplSet</a:t>
            </a:r>
            <a:r>
              <a:rPr lang="fr-FR" dirty="0"/>
              <a:t>, et ceux avec "ville": "Lyon" se trouveront sur le </a:t>
            </a:r>
            <a:r>
              <a:rPr lang="fr-FR" dirty="0" err="1"/>
              <a:t>shard</a:t>
            </a:r>
            <a:r>
              <a:rPr lang="fr-FR" dirty="0"/>
              <a:t> </a:t>
            </a:r>
            <a:r>
              <a:rPr lang="fr-FR" dirty="0" err="1"/>
              <a:t>lyonReplSet</a:t>
            </a:r>
            <a:r>
              <a:rPr lang="fr-FR" dirty="0" smtClean="0"/>
              <a:t>.</a:t>
            </a:r>
          </a:p>
          <a:p>
            <a:endParaRPr lang="fr-FR" dirty="0" smtClean="0"/>
          </a:p>
          <a:p>
            <a:r>
              <a:rPr lang="fr-FR" dirty="0" smtClean="0"/>
              <a:t>Ceci </a:t>
            </a:r>
            <a:r>
              <a:rPr lang="fr-FR" dirty="0"/>
              <a:t>conclut la distribution de la base de </a:t>
            </a:r>
            <a:r>
              <a:rPr lang="fr-FR" dirty="0" smtClean="0"/>
              <a:t>données, le cluster </a:t>
            </a:r>
            <a:r>
              <a:rPr lang="fr-FR" dirty="0"/>
              <a:t>est maintenant prêt à optimiser les requêtes locales.</a:t>
            </a:r>
          </a:p>
        </p:txBody>
      </p:sp>
    </p:spTree>
    <p:extLst>
      <p:ext uri="{BB962C8B-B14F-4D97-AF65-F5344CB8AC3E}">
        <p14:creationId xmlns:p14="http://schemas.microsoft.com/office/powerpoint/2010/main" val="4303312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37" y="0"/>
            <a:ext cx="7578900" cy="5143500"/>
          </a:xfrm>
          <a:prstGeom prst="rect">
            <a:avLst/>
          </a:prstGeom>
        </p:spPr>
      </p:pic>
    </p:spTree>
    <p:extLst>
      <p:ext uri="{BB962C8B-B14F-4D97-AF65-F5344CB8AC3E}">
        <p14:creationId xmlns:p14="http://schemas.microsoft.com/office/powerpoint/2010/main" val="13362649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736" y="-93518"/>
            <a:ext cx="6930736" cy="1384995"/>
          </a:xfrm>
          <a:prstGeom prst="rect">
            <a:avLst/>
          </a:prstGeom>
        </p:spPr>
        <p:txBody>
          <a:bodyPr wrap="square">
            <a:spAutoFit/>
          </a:bodyPr>
          <a:lstStyle/>
          <a:p>
            <a:r>
              <a:rPr lang="fr-FR" dirty="0"/>
              <a:t>Le message </a:t>
            </a:r>
            <a:r>
              <a:rPr lang="fr-FR" dirty="0" err="1"/>
              <a:t>acknowledged</a:t>
            </a:r>
            <a:r>
              <a:rPr lang="fr-FR" dirty="0"/>
              <a:t>: </a:t>
            </a:r>
            <a:r>
              <a:rPr lang="fr-FR" dirty="0" err="1"/>
              <a:t>true</a:t>
            </a:r>
            <a:r>
              <a:rPr lang="fr-FR" dirty="0"/>
              <a:t> et la liste des </a:t>
            </a:r>
            <a:r>
              <a:rPr lang="fr-FR" dirty="0" err="1"/>
              <a:t>insertedIds</a:t>
            </a:r>
            <a:r>
              <a:rPr lang="fr-FR" dirty="0"/>
              <a:t> confirment que les documents ont bien été insérés. </a:t>
            </a:r>
            <a:endParaRPr lang="fr-FR" dirty="0" smtClean="0"/>
          </a:p>
          <a:p>
            <a:endParaRPr lang="fr-FR" dirty="0" smtClean="0"/>
          </a:p>
          <a:p>
            <a:r>
              <a:rPr lang="fr-FR" dirty="0" smtClean="0"/>
              <a:t>Le cluster </a:t>
            </a:r>
            <a:r>
              <a:rPr lang="fr-FR" dirty="0"/>
              <a:t>est maintenant configuré, et </a:t>
            </a:r>
            <a:r>
              <a:rPr lang="fr-FR" dirty="0" smtClean="0"/>
              <a:t>les </a:t>
            </a:r>
            <a:r>
              <a:rPr lang="fr-FR" dirty="0"/>
              <a:t>données sont insérées selon la stratégie de distribution </a:t>
            </a:r>
            <a:r>
              <a:rPr lang="fr-FR" dirty="0" smtClean="0"/>
              <a:t>qu’on a définie.</a:t>
            </a:r>
          </a:p>
          <a:p>
            <a:r>
              <a:rPr lang="fr-FR" dirty="0" smtClean="0"/>
              <a:t>Il </a:t>
            </a:r>
            <a:r>
              <a:rPr lang="fr-FR" dirty="0"/>
              <a:t>ne vous reste plus qu'une dernière étape pour valider </a:t>
            </a:r>
            <a:r>
              <a:rPr lang="fr-FR" dirty="0" smtClean="0"/>
              <a:t>le </a:t>
            </a:r>
            <a:r>
              <a:rPr lang="fr-FR" dirty="0"/>
              <a:t>travail.</a:t>
            </a:r>
          </a:p>
        </p:txBody>
      </p:sp>
    </p:spTree>
    <p:extLst>
      <p:ext uri="{BB962C8B-B14F-4D97-AF65-F5344CB8AC3E}">
        <p14:creationId xmlns:p14="http://schemas.microsoft.com/office/powerpoint/2010/main" val="41989054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994" y="2566987"/>
            <a:ext cx="7602011" cy="9526"/>
          </a:xfrm>
          <a:prstGeom prst="rect">
            <a:avLst/>
          </a:prstGeom>
        </p:spPr>
      </p:pic>
      <p:pic>
        <p:nvPicPr>
          <p:cNvPr id="3" name="Image 2" descr="Capture d’écra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1613"/>
            <a:ext cx="9144000" cy="4260273"/>
          </a:xfrm>
          <a:prstGeom prst="rect">
            <a:avLst/>
          </a:prstGeom>
        </p:spPr>
      </p:pic>
    </p:spTree>
    <p:extLst>
      <p:ext uri="{BB962C8B-B14F-4D97-AF65-F5344CB8AC3E}">
        <p14:creationId xmlns:p14="http://schemas.microsoft.com/office/powerpoint/2010/main" val="256376186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11727"/>
            <a:ext cx="6858000" cy="523220"/>
          </a:xfrm>
          <a:prstGeom prst="rect">
            <a:avLst/>
          </a:prstGeom>
        </p:spPr>
        <p:txBody>
          <a:bodyPr wrap="square">
            <a:spAutoFit/>
          </a:bodyPr>
          <a:lstStyle/>
          <a:p>
            <a:r>
              <a:rPr lang="fr-FR" dirty="0" smtClean="0"/>
              <a:t>On obtient la </a:t>
            </a:r>
            <a:r>
              <a:rPr lang="fr-FR" dirty="0"/>
              <a:t>confirmation visuelle </a:t>
            </a:r>
            <a:r>
              <a:rPr lang="fr-FR" dirty="0" smtClean="0"/>
              <a:t>que les données </a:t>
            </a:r>
            <a:r>
              <a:rPr lang="fr-FR" dirty="0"/>
              <a:t>de Paris sont sur un </a:t>
            </a:r>
            <a:r>
              <a:rPr lang="fr-FR" dirty="0" err="1"/>
              <a:t>shard</a:t>
            </a:r>
            <a:r>
              <a:rPr lang="fr-FR" dirty="0"/>
              <a:t>, et celles de Lyon sur l'autre, ce qui valide la réussite </a:t>
            </a:r>
            <a:r>
              <a:rPr lang="fr-FR" dirty="0" smtClean="0"/>
              <a:t>du projet</a:t>
            </a:r>
            <a:r>
              <a:rPr lang="fr-FR" dirty="0"/>
              <a:t>.</a:t>
            </a:r>
          </a:p>
        </p:txBody>
      </p:sp>
    </p:spTree>
    <p:extLst>
      <p:ext uri="{BB962C8B-B14F-4D97-AF65-F5344CB8AC3E}">
        <p14:creationId xmlns:p14="http://schemas.microsoft.com/office/powerpoint/2010/main" val="40826788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2606" y="1337207"/>
            <a:ext cx="5775940" cy="400110"/>
          </a:xfrm>
          <a:prstGeom prst="rect">
            <a:avLst/>
          </a:prstGeom>
        </p:spPr>
        <p:txBody>
          <a:bodyPr wrap="none">
            <a:spAutoFit/>
          </a:bodyPr>
          <a:lstStyle/>
          <a:p>
            <a:r>
              <a:rPr lang="fr-FR" sz="2000" dirty="0"/>
              <a:t>Preuve 1 : Le statut global du cluster (</a:t>
            </a:r>
            <a:r>
              <a:rPr lang="fr-FR" sz="2000" dirty="0" err="1"/>
              <a:t>sh.status</a:t>
            </a:r>
            <a:r>
              <a:rPr lang="fr-FR" sz="2000" dirty="0"/>
              <a:t>())</a:t>
            </a:r>
          </a:p>
        </p:txBody>
      </p:sp>
    </p:spTree>
    <p:extLst>
      <p:ext uri="{BB962C8B-B14F-4D97-AF65-F5344CB8AC3E}">
        <p14:creationId xmlns:p14="http://schemas.microsoft.com/office/powerpoint/2010/main" val="18433753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3127"/>
            <a:ext cx="6858000" cy="4401205"/>
          </a:xfrm>
          <a:prstGeom prst="rect">
            <a:avLst/>
          </a:prstGeom>
        </p:spPr>
        <p:txBody>
          <a:bodyPr wrap="square">
            <a:spAutoFit/>
          </a:bodyPr>
          <a:lstStyle/>
          <a:p>
            <a:r>
              <a:rPr lang="fr-FR" dirty="0"/>
              <a:t>C'est la commande la plus complète pour montrer que les </a:t>
            </a:r>
            <a:r>
              <a:rPr lang="fr-FR" dirty="0" err="1"/>
              <a:t>shards</a:t>
            </a:r>
            <a:r>
              <a:rPr lang="fr-FR" dirty="0"/>
              <a:t> sont liés et que la base de données est </a:t>
            </a:r>
            <a:r>
              <a:rPr lang="fr-FR" dirty="0" smtClean="0"/>
              <a:t>partitionnée</a:t>
            </a:r>
          </a:p>
          <a:p>
            <a:endParaRPr lang="fr-FR" dirty="0"/>
          </a:p>
          <a:p>
            <a:r>
              <a:rPr lang="fr-FR" dirty="0"/>
              <a:t>Exécutez la commande </a:t>
            </a:r>
            <a:r>
              <a:rPr lang="fr-FR" dirty="0" err="1"/>
              <a:t>sh.status</a:t>
            </a:r>
            <a:r>
              <a:rPr lang="fr-FR" dirty="0"/>
              <a:t>() en étant authentifié avec le rôle </a:t>
            </a:r>
            <a:r>
              <a:rPr lang="fr-FR" dirty="0" err="1"/>
              <a:t>clusterAdmin</a:t>
            </a:r>
            <a:r>
              <a:rPr lang="fr-FR" dirty="0"/>
              <a:t> pour éviter les erreurs d'autorisation</a:t>
            </a:r>
            <a:r>
              <a:rPr lang="fr-FR" dirty="0" smtClean="0"/>
              <a:t>.</a:t>
            </a:r>
          </a:p>
          <a:p>
            <a:endParaRPr lang="fr-FR" dirty="0"/>
          </a:p>
          <a:p>
            <a:r>
              <a:rPr lang="en-US" dirty="0"/>
              <a:t>use admin;</a:t>
            </a:r>
          </a:p>
          <a:p>
            <a:r>
              <a:rPr lang="en-US" dirty="0" err="1"/>
              <a:t>db.auth</a:t>
            </a:r>
            <a:r>
              <a:rPr lang="en-US" dirty="0"/>
              <a:t>('</a:t>
            </a:r>
            <a:r>
              <a:rPr lang="en-US" dirty="0" err="1"/>
              <a:t>clusterAdmin</a:t>
            </a:r>
            <a:r>
              <a:rPr lang="en-US" dirty="0"/>
              <a:t>', 'Yaounde0123@');</a:t>
            </a:r>
          </a:p>
          <a:p>
            <a:r>
              <a:rPr lang="en-US" dirty="0" err="1"/>
              <a:t>sh.status</a:t>
            </a:r>
            <a:r>
              <a:rPr lang="en-US" dirty="0" smtClean="0"/>
              <a:t>();</a:t>
            </a:r>
          </a:p>
          <a:p>
            <a:endParaRPr lang="en-US" dirty="0"/>
          </a:p>
          <a:p>
            <a:r>
              <a:rPr lang="fr-FR" dirty="0"/>
              <a:t>Ce qu'il faut montrer </a:t>
            </a:r>
            <a:r>
              <a:rPr lang="fr-FR" dirty="0" smtClean="0"/>
              <a:t>:</a:t>
            </a:r>
          </a:p>
          <a:p>
            <a:r>
              <a:rPr lang="fr-FR" dirty="0" smtClean="0"/>
              <a:t>Dans </a:t>
            </a:r>
            <a:r>
              <a:rPr lang="fr-FR" dirty="0"/>
              <a:t>la section </a:t>
            </a:r>
            <a:r>
              <a:rPr lang="fr-FR" dirty="0" err="1"/>
              <a:t>shards</a:t>
            </a:r>
            <a:r>
              <a:rPr lang="fr-FR" dirty="0"/>
              <a:t>, vous verrez que les deux </a:t>
            </a:r>
            <a:r>
              <a:rPr lang="fr-FR" dirty="0" err="1"/>
              <a:t>shards</a:t>
            </a:r>
            <a:r>
              <a:rPr lang="fr-FR" dirty="0"/>
              <a:t> (</a:t>
            </a:r>
            <a:r>
              <a:rPr lang="fr-FR" dirty="0" err="1"/>
              <a:t>parisReplSet</a:t>
            </a:r>
            <a:r>
              <a:rPr lang="fr-FR" dirty="0"/>
              <a:t> et </a:t>
            </a:r>
            <a:r>
              <a:rPr lang="fr-FR" dirty="0" err="1"/>
              <a:t>lyonReplSet</a:t>
            </a:r>
            <a:r>
              <a:rPr lang="fr-FR" dirty="0"/>
              <a:t>) sont listés. Cela prouve qu'ils sont bien reconnus par le cluster</a:t>
            </a:r>
            <a:r>
              <a:rPr lang="fr-FR" dirty="0" smtClean="0"/>
              <a:t>.</a:t>
            </a:r>
          </a:p>
          <a:p>
            <a:endParaRPr lang="fr-FR" dirty="0"/>
          </a:p>
          <a:p>
            <a:r>
              <a:rPr lang="fr-FR" dirty="0" smtClean="0"/>
              <a:t>Dans </a:t>
            </a:r>
            <a:r>
              <a:rPr lang="fr-FR" dirty="0"/>
              <a:t>la section </a:t>
            </a:r>
            <a:r>
              <a:rPr lang="fr-FR" dirty="0" err="1"/>
              <a:t>databases</a:t>
            </a:r>
            <a:r>
              <a:rPr lang="fr-FR" dirty="0"/>
              <a:t>, vous verrez que la base de données </a:t>
            </a:r>
            <a:r>
              <a:rPr lang="fr-FR" dirty="0" err="1"/>
              <a:t>ventes_nationales</a:t>
            </a:r>
            <a:r>
              <a:rPr lang="fr-FR" dirty="0"/>
              <a:t> est listée avec l'attribut </a:t>
            </a:r>
            <a:r>
              <a:rPr lang="fr-FR" dirty="0" err="1"/>
              <a:t>partitioned</a:t>
            </a:r>
            <a:r>
              <a:rPr lang="fr-FR" dirty="0"/>
              <a:t>: </a:t>
            </a:r>
            <a:r>
              <a:rPr lang="fr-FR" dirty="0" err="1"/>
              <a:t>true</a:t>
            </a:r>
            <a:r>
              <a:rPr lang="fr-FR" dirty="0"/>
              <a:t>. Cela prouve que le </a:t>
            </a:r>
            <a:r>
              <a:rPr lang="fr-FR" dirty="0" err="1"/>
              <a:t>sharding</a:t>
            </a:r>
            <a:r>
              <a:rPr lang="fr-FR" dirty="0"/>
              <a:t> est activé</a:t>
            </a:r>
            <a:r>
              <a:rPr lang="fr-FR" dirty="0" smtClean="0"/>
              <a:t>.</a:t>
            </a:r>
          </a:p>
          <a:p>
            <a:endParaRPr lang="fr-FR" dirty="0"/>
          </a:p>
          <a:p>
            <a:r>
              <a:rPr lang="fr-FR" dirty="0" smtClean="0"/>
              <a:t>Dans </a:t>
            </a:r>
            <a:r>
              <a:rPr lang="fr-FR" dirty="0"/>
              <a:t>la section collections, vous verrez votre collection commandes et ses "</a:t>
            </a:r>
            <a:r>
              <a:rPr lang="fr-FR" dirty="0" err="1"/>
              <a:t>chunks</a:t>
            </a:r>
            <a:r>
              <a:rPr lang="fr-FR" dirty="0"/>
              <a:t>" (morceaux de données) avec l'attribut 'on </a:t>
            </a:r>
            <a:r>
              <a:rPr lang="fr-FR" dirty="0" err="1"/>
              <a:t>shard</a:t>
            </a:r>
            <a:r>
              <a:rPr lang="fr-FR" dirty="0"/>
              <a:t>'. C'est la preuve visuelle que les données sont réparties sur les deux serveurs.</a:t>
            </a:r>
          </a:p>
        </p:txBody>
      </p:sp>
    </p:spTree>
    <p:extLst>
      <p:ext uri="{BB962C8B-B14F-4D97-AF65-F5344CB8AC3E}">
        <p14:creationId xmlns:p14="http://schemas.microsoft.com/office/powerpoint/2010/main" val="161012816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8042564" cy="5262979"/>
          </a:xfrm>
          <a:prstGeom prst="rect">
            <a:avLst/>
          </a:prstGeom>
        </p:spPr>
        <p:txBody>
          <a:bodyPr wrap="square">
            <a:spAutoFit/>
          </a:bodyPr>
          <a:lstStyle/>
          <a:p>
            <a:r>
              <a:rPr lang="fr-FR" dirty="0"/>
              <a:t>Preuve 2 : La distribution de la collection (</a:t>
            </a:r>
            <a:r>
              <a:rPr lang="fr-FR" dirty="0" err="1"/>
              <a:t>getShardDistribution</a:t>
            </a:r>
            <a:r>
              <a:rPr lang="fr-FR" dirty="0" smtClean="0"/>
              <a:t>())</a:t>
            </a:r>
          </a:p>
          <a:p>
            <a:endParaRPr lang="fr-FR" dirty="0"/>
          </a:p>
          <a:p>
            <a:r>
              <a:rPr lang="fr-FR" dirty="0" smtClean="0"/>
              <a:t>Cette </a:t>
            </a:r>
            <a:r>
              <a:rPr lang="fr-FR" dirty="0"/>
              <a:t>commande est plus spécifique et montre la répartition des données d'une seule </a:t>
            </a:r>
            <a:r>
              <a:rPr lang="fr-FR" dirty="0" smtClean="0"/>
              <a:t>collection</a:t>
            </a:r>
          </a:p>
          <a:p>
            <a:r>
              <a:rPr lang="fr-FR" dirty="0" smtClean="0"/>
              <a:t>.</a:t>
            </a:r>
          </a:p>
          <a:p>
            <a:r>
              <a:rPr lang="fr-FR" dirty="0" smtClean="0"/>
              <a:t> Basculez </a:t>
            </a:r>
            <a:r>
              <a:rPr lang="fr-FR" dirty="0"/>
              <a:t>vers la base de données </a:t>
            </a:r>
            <a:r>
              <a:rPr lang="fr-FR" dirty="0" err="1"/>
              <a:t>ventes_nationales</a:t>
            </a:r>
            <a:r>
              <a:rPr lang="fr-FR" dirty="0"/>
              <a:t> et exécutez la commande </a:t>
            </a:r>
            <a:r>
              <a:rPr lang="fr-FR" dirty="0" err="1"/>
              <a:t>getShardDistribution</a:t>
            </a:r>
            <a:r>
              <a:rPr lang="fr-FR" dirty="0"/>
              <a:t>() sur la collection commandes</a:t>
            </a:r>
            <a:r>
              <a:rPr lang="fr-FR" dirty="0" smtClean="0"/>
              <a:t>.</a:t>
            </a:r>
          </a:p>
          <a:p>
            <a:r>
              <a:rPr lang="fr-FR" dirty="0"/>
              <a:t>use </a:t>
            </a:r>
            <a:r>
              <a:rPr lang="fr-FR" dirty="0" err="1"/>
              <a:t>ventes_nationales</a:t>
            </a:r>
            <a:r>
              <a:rPr lang="fr-FR" dirty="0"/>
              <a:t>;</a:t>
            </a:r>
          </a:p>
          <a:p>
            <a:r>
              <a:rPr lang="fr-FR" dirty="0" err="1"/>
              <a:t>db.commandes.getShardDistribution</a:t>
            </a:r>
            <a:r>
              <a:rPr lang="fr-FR" dirty="0" smtClean="0"/>
              <a:t>();</a:t>
            </a:r>
          </a:p>
          <a:p>
            <a:endParaRPr lang="fr-FR" dirty="0"/>
          </a:p>
          <a:p>
            <a:r>
              <a:rPr lang="fr-FR" dirty="0"/>
              <a:t>La sortie affichera la taille totale de la collection et le nombre de "</a:t>
            </a:r>
            <a:r>
              <a:rPr lang="fr-FR" dirty="0" err="1"/>
              <a:t>chunks</a:t>
            </a:r>
            <a:r>
              <a:rPr lang="fr-FR" dirty="0"/>
              <a:t>" sur chaque </a:t>
            </a:r>
            <a:r>
              <a:rPr lang="fr-FR" dirty="0" err="1"/>
              <a:t>shard.Vous</a:t>
            </a:r>
            <a:r>
              <a:rPr lang="fr-FR" dirty="0"/>
              <a:t> verrez que les </a:t>
            </a:r>
            <a:r>
              <a:rPr lang="fr-FR" dirty="0" err="1"/>
              <a:t>chunks</a:t>
            </a:r>
            <a:r>
              <a:rPr lang="fr-FR" dirty="0"/>
              <a:t> de la collection sont bien distribués sur les deux </a:t>
            </a:r>
            <a:r>
              <a:rPr lang="fr-FR" dirty="0" err="1"/>
              <a:t>shards</a:t>
            </a:r>
            <a:r>
              <a:rPr lang="fr-FR" dirty="0"/>
              <a:t>. Cela prouve que le </a:t>
            </a:r>
            <a:r>
              <a:rPr lang="fr-FR" dirty="0" err="1"/>
              <a:t>sharding</a:t>
            </a:r>
            <a:r>
              <a:rPr lang="fr-FR" dirty="0"/>
              <a:t> </a:t>
            </a:r>
            <a:r>
              <a:rPr lang="fr-FR" dirty="0" smtClean="0"/>
              <a:t>fonctionne</a:t>
            </a:r>
          </a:p>
          <a:p>
            <a:endParaRPr lang="fr-FR" dirty="0"/>
          </a:p>
          <a:p>
            <a:r>
              <a:rPr lang="fr-FR" dirty="0"/>
              <a:t>Preuve 3 : La requête ciblée (</a:t>
            </a:r>
            <a:r>
              <a:rPr lang="fr-FR" dirty="0" err="1"/>
              <a:t>explain</a:t>
            </a:r>
            <a:r>
              <a:rPr lang="fr-FR" dirty="0" smtClean="0"/>
              <a:t>()</a:t>
            </a:r>
          </a:p>
          <a:p>
            <a:endParaRPr lang="fr-FR" dirty="0"/>
          </a:p>
          <a:p>
            <a:r>
              <a:rPr lang="fr-FR" dirty="0"/>
              <a:t>Exécutez une requête sur une ville spécifique et utilisez </a:t>
            </a:r>
            <a:r>
              <a:rPr lang="fr-FR" dirty="0" err="1"/>
              <a:t>explain</a:t>
            </a:r>
            <a:r>
              <a:rPr lang="fr-FR" dirty="0"/>
              <a:t>("</a:t>
            </a:r>
            <a:r>
              <a:rPr lang="fr-FR" dirty="0" err="1"/>
              <a:t>executionStats</a:t>
            </a:r>
            <a:r>
              <a:rPr lang="fr-FR" dirty="0"/>
              <a:t>") pour voir comment </a:t>
            </a:r>
            <a:r>
              <a:rPr lang="fr-FR" dirty="0" err="1"/>
              <a:t>MongoDB</a:t>
            </a:r>
            <a:r>
              <a:rPr lang="fr-FR" dirty="0"/>
              <a:t> l'exécute</a:t>
            </a:r>
            <a:r>
              <a:rPr lang="fr-FR" dirty="0" smtClean="0"/>
              <a:t>.</a:t>
            </a:r>
          </a:p>
          <a:p>
            <a:r>
              <a:rPr lang="fr-FR" dirty="0" err="1"/>
              <a:t>db.commandes.find</a:t>
            </a:r>
            <a:r>
              <a:rPr lang="fr-FR" dirty="0"/>
              <a:t>({ "ville": "Paris" }).</a:t>
            </a:r>
            <a:r>
              <a:rPr lang="fr-FR" dirty="0" err="1"/>
              <a:t>explain</a:t>
            </a:r>
            <a:r>
              <a:rPr lang="fr-FR" dirty="0"/>
              <a:t>("</a:t>
            </a:r>
            <a:r>
              <a:rPr lang="fr-FR" dirty="0" err="1"/>
              <a:t>executionStats</a:t>
            </a:r>
            <a:r>
              <a:rPr lang="fr-FR" dirty="0" smtClean="0"/>
              <a:t>");</a:t>
            </a:r>
          </a:p>
          <a:p>
            <a:endParaRPr lang="fr-FR" dirty="0"/>
          </a:p>
          <a:p>
            <a:r>
              <a:rPr lang="fr-FR" dirty="0"/>
              <a:t>Dans la sortie, cherchez la section </a:t>
            </a:r>
            <a:r>
              <a:rPr lang="fr-FR" dirty="0" err="1"/>
              <a:t>shards</a:t>
            </a:r>
            <a:r>
              <a:rPr lang="fr-FR" dirty="0"/>
              <a:t>. Vous verrez que seule l'entrée pour </a:t>
            </a:r>
            <a:r>
              <a:rPr lang="fr-FR" dirty="0" err="1"/>
              <a:t>parisReplSet</a:t>
            </a:r>
            <a:r>
              <a:rPr lang="fr-FR" dirty="0"/>
              <a:t> est listée, avec un </a:t>
            </a:r>
            <a:r>
              <a:rPr lang="fr-FR" dirty="0" err="1"/>
              <a:t>executionTimeMillis</a:t>
            </a:r>
            <a:r>
              <a:rPr lang="fr-FR" dirty="0"/>
              <a:t> (temps d'exécution). L'entrée pour </a:t>
            </a:r>
            <a:r>
              <a:rPr lang="fr-FR" dirty="0" err="1"/>
              <a:t>lyonReplSet</a:t>
            </a:r>
            <a:r>
              <a:rPr lang="fr-FR" dirty="0"/>
              <a:t> sera absente ou affichera un temps de 0.Cette preuve démontre que </a:t>
            </a:r>
            <a:r>
              <a:rPr lang="fr-FR" dirty="0" err="1"/>
              <a:t>MongoDB</a:t>
            </a:r>
            <a:r>
              <a:rPr lang="fr-FR" dirty="0"/>
              <a:t> a immédiatement su que les données de Paris se trouvaient sur le serveur de Paris et n'a pas eu besoin d'interroger le serveur de Lyon. Cela illustre parfaitement l'optimisation que vous avez réalisée.</a:t>
            </a:r>
          </a:p>
        </p:txBody>
      </p:sp>
    </p:spTree>
    <p:extLst>
      <p:ext uri="{BB962C8B-B14F-4D97-AF65-F5344CB8AC3E}">
        <p14:creationId xmlns:p14="http://schemas.microsoft.com/office/powerpoint/2010/main" val="386413662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400" y="111080"/>
            <a:ext cx="7954422" cy="1077218"/>
          </a:xfrm>
          <a:prstGeom prst="rect">
            <a:avLst/>
          </a:prstGeom>
        </p:spPr>
        <p:txBody>
          <a:bodyPr wrap="none">
            <a:spAutoFit/>
          </a:bodyPr>
          <a:lstStyle/>
          <a:p>
            <a:r>
              <a:rPr lang="fr-FR" sz="1600" dirty="0"/>
              <a:t>montrer </a:t>
            </a:r>
            <a:r>
              <a:rPr lang="fr-FR" sz="1600" dirty="0" smtClean="0"/>
              <a:t>la </a:t>
            </a:r>
            <a:r>
              <a:rPr lang="fr-FR" sz="1600" dirty="0"/>
              <a:t>réussite </a:t>
            </a:r>
            <a:r>
              <a:rPr lang="fr-FR" sz="1600" dirty="0" smtClean="0"/>
              <a:t>de la </a:t>
            </a:r>
            <a:r>
              <a:rPr lang="fr-FR" sz="1600" dirty="0" err="1" smtClean="0"/>
              <a:t>creation</a:t>
            </a:r>
            <a:r>
              <a:rPr lang="fr-FR" sz="1600" dirty="0" smtClean="0"/>
              <a:t> des clusters et des </a:t>
            </a:r>
            <a:r>
              <a:rPr lang="fr-FR" sz="1600" dirty="0" err="1" smtClean="0"/>
              <a:t>shards</a:t>
            </a:r>
            <a:r>
              <a:rPr lang="fr-FR" sz="1600" dirty="0" smtClean="0"/>
              <a:t> dans </a:t>
            </a:r>
            <a:r>
              <a:rPr lang="fr-FR" sz="1600" dirty="0" err="1" smtClean="0"/>
              <a:t>mongodb</a:t>
            </a:r>
            <a:r>
              <a:rPr lang="fr-FR" sz="1600" dirty="0" smtClean="0"/>
              <a:t> </a:t>
            </a:r>
            <a:r>
              <a:rPr lang="fr-FR" sz="1600" dirty="0" err="1" smtClean="0"/>
              <a:t>Compass</a:t>
            </a:r>
            <a:endParaRPr lang="fr-FR" sz="1600" dirty="0" smtClean="0"/>
          </a:p>
          <a:p>
            <a:endParaRPr lang="fr-FR" sz="1600" dirty="0"/>
          </a:p>
          <a:p>
            <a:endParaRPr lang="fr-FR" sz="1600" dirty="0" smtClean="0"/>
          </a:p>
          <a:p>
            <a:endParaRPr lang="fr-FR" sz="1600" dirty="0"/>
          </a:p>
        </p:txBody>
      </p:sp>
    </p:spTree>
    <p:extLst>
      <p:ext uri="{BB962C8B-B14F-4D97-AF65-F5344CB8AC3E}">
        <p14:creationId xmlns:p14="http://schemas.microsoft.com/office/powerpoint/2010/main" val="403228465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2737"/>
            <a:ext cx="6858000" cy="3754874"/>
          </a:xfrm>
          <a:prstGeom prst="rect">
            <a:avLst/>
          </a:prstGeom>
        </p:spPr>
        <p:txBody>
          <a:bodyPr wrap="square">
            <a:spAutoFit/>
          </a:bodyPr>
          <a:lstStyle/>
          <a:p>
            <a:r>
              <a:rPr lang="fr-FR" dirty="0"/>
              <a:t>Étape 1 : Connexion au </a:t>
            </a:r>
            <a:r>
              <a:rPr lang="fr-FR" dirty="0" smtClean="0"/>
              <a:t>Cluster</a:t>
            </a:r>
          </a:p>
          <a:p>
            <a:endParaRPr lang="fr-FR" dirty="0" smtClean="0"/>
          </a:p>
          <a:p>
            <a:r>
              <a:rPr lang="fr-FR" dirty="0" smtClean="0"/>
              <a:t>Ouvrez </a:t>
            </a:r>
            <a:r>
              <a:rPr lang="fr-FR" dirty="0" err="1"/>
              <a:t>MongoDB</a:t>
            </a:r>
            <a:r>
              <a:rPr lang="fr-FR" dirty="0"/>
              <a:t> </a:t>
            </a:r>
            <a:r>
              <a:rPr lang="fr-FR" dirty="0" err="1"/>
              <a:t>Compass.Cliquez</a:t>
            </a:r>
            <a:r>
              <a:rPr lang="fr-FR" dirty="0"/>
              <a:t> sur le bouton "New Connection</a:t>
            </a:r>
            <a:r>
              <a:rPr lang="fr-FR" dirty="0" smtClean="0"/>
              <a:t>".</a:t>
            </a:r>
          </a:p>
          <a:p>
            <a:r>
              <a:rPr lang="fr-FR" dirty="0" smtClean="0"/>
              <a:t>Dans </a:t>
            </a:r>
            <a:r>
              <a:rPr lang="fr-FR" dirty="0"/>
              <a:t>l'URI de connexion, utilisez l'adresse de votre routeur mongos et le port que vous avez </a:t>
            </a:r>
            <a:r>
              <a:rPr lang="fr-FR" dirty="0" smtClean="0"/>
              <a:t>configuré : </a:t>
            </a:r>
          </a:p>
          <a:p>
            <a:r>
              <a:rPr lang="fr-FR" dirty="0" smtClean="0"/>
              <a:t>mongodb</a:t>
            </a:r>
            <a:r>
              <a:rPr lang="fr-FR" dirty="0"/>
              <a:t>://localhost:27022</a:t>
            </a:r>
            <a:r>
              <a:rPr lang="fr-FR" dirty="0" smtClean="0"/>
              <a:t>/</a:t>
            </a:r>
          </a:p>
          <a:p>
            <a:endParaRPr lang="fr-FR" dirty="0" smtClean="0"/>
          </a:p>
          <a:p>
            <a:r>
              <a:rPr lang="fr-FR" dirty="0"/>
              <a:t>Allez dans l'onglet "</a:t>
            </a:r>
            <a:r>
              <a:rPr lang="fr-FR" dirty="0" err="1"/>
              <a:t>Authentication</a:t>
            </a:r>
            <a:r>
              <a:rPr lang="fr-FR" dirty="0"/>
              <a:t>" et sélectionnez "</a:t>
            </a:r>
            <a:r>
              <a:rPr lang="fr-FR" dirty="0" err="1"/>
              <a:t>Username</a:t>
            </a:r>
            <a:r>
              <a:rPr lang="fr-FR" dirty="0"/>
              <a:t> / </a:t>
            </a:r>
            <a:r>
              <a:rPr lang="fr-FR" dirty="0" err="1" smtClean="0"/>
              <a:t>Password</a:t>
            </a:r>
            <a:r>
              <a:rPr lang="fr-FR" dirty="0" smtClean="0"/>
              <a:t>« </a:t>
            </a:r>
          </a:p>
          <a:p>
            <a:endParaRPr lang="fr-FR" dirty="0"/>
          </a:p>
          <a:p>
            <a:r>
              <a:rPr lang="fr-FR" dirty="0"/>
              <a:t>Entrez les informations de votre utilisateur administrateur </a:t>
            </a:r>
            <a:r>
              <a:rPr lang="fr-FR" dirty="0" smtClean="0"/>
              <a:t>:</a:t>
            </a:r>
          </a:p>
          <a:p>
            <a:r>
              <a:rPr lang="fr-FR" dirty="0" err="1" smtClean="0"/>
              <a:t>Username</a:t>
            </a:r>
            <a:r>
              <a:rPr lang="fr-FR" dirty="0" smtClean="0"/>
              <a:t> </a:t>
            </a:r>
            <a:r>
              <a:rPr lang="fr-FR" dirty="0"/>
              <a:t>: </a:t>
            </a:r>
            <a:r>
              <a:rPr lang="fr-FR" dirty="0" err="1" smtClean="0"/>
              <a:t>clusterAdmin</a:t>
            </a:r>
            <a:endParaRPr lang="fr-FR" dirty="0" smtClean="0"/>
          </a:p>
          <a:p>
            <a:r>
              <a:rPr lang="fr-FR" dirty="0" err="1" smtClean="0"/>
              <a:t>Password</a:t>
            </a:r>
            <a:r>
              <a:rPr lang="fr-FR" dirty="0" smtClean="0"/>
              <a:t> </a:t>
            </a:r>
            <a:r>
              <a:rPr lang="fr-FR" dirty="0"/>
              <a:t>: Yaounde0123</a:t>
            </a:r>
            <a:r>
              <a:rPr lang="fr-FR" dirty="0" smtClean="0"/>
              <a:t>@</a:t>
            </a:r>
          </a:p>
          <a:p>
            <a:r>
              <a:rPr lang="fr-FR" dirty="0" err="1" smtClean="0"/>
              <a:t>Authentication</a:t>
            </a:r>
            <a:r>
              <a:rPr lang="fr-FR" dirty="0" smtClean="0"/>
              <a:t> </a:t>
            </a:r>
            <a:r>
              <a:rPr lang="fr-FR" dirty="0" err="1"/>
              <a:t>Database</a:t>
            </a:r>
            <a:r>
              <a:rPr lang="fr-FR" dirty="0"/>
              <a:t> : </a:t>
            </a:r>
            <a:r>
              <a:rPr lang="fr-FR" dirty="0" smtClean="0"/>
              <a:t>admin</a:t>
            </a:r>
          </a:p>
          <a:p>
            <a:r>
              <a:rPr lang="fr-FR" dirty="0" smtClean="0"/>
              <a:t>Cliquez </a:t>
            </a:r>
            <a:r>
              <a:rPr lang="fr-FR" dirty="0"/>
              <a:t>sur "</a:t>
            </a:r>
            <a:r>
              <a:rPr lang="fr-FR" dirty="0" err="1"/>
              <a:t>Connect</a:t>
            </a:r>
            <a:endParaRPr lang="fr-FR" dirty="0"/>
          </a:p>
          <a:p>
            <a:endParaRPr lang="fr-FR" dirty="0" smtClean="0"/>
          </a:p>
          <a:p>
            <a:endParaRPr lang="fr-FR" dirty="0"/>
          </a:p>
          <a:p>
            <a:r>
              <a:rPr lang="fr-FR" dirty="0" smtClean="0"/>
              <a:t> </a:t>
            </a:r>
            <a:endParaRPr lang="fr-FR" dirty="0"/>
          </a:p>
        </p:txBody>
      </p:sp>
    </p:spTree>
    <p:extLst>
      <p:ext uri="{BB962C8B-B14F-4D97-AF65-F5344CB8AC3E}">
        <p14:creationId xmlns:p14="http://schemas.microsoft.com/office/powerpoint/2010/main" val="42957866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287846" cy="2215991"/>
          </a:xfrm>
          <a:prstGeom prst="rect">
            <a:avLst/>
          </a:prstGeom>
        </p:spPr>
        <p:txBody>
          <a:bodyPr wrap="none">
            <a:spAutoFit/>
          </a:bodyPr>
          <a:lstStyle/>
          <a:p>
            <a:r>
              <a:rPr lang="fr-FR" sz="2000" dirty="0"/>
              <a:t>Étape 2 : Visualiser le statut du </a:t>
            </a:r>
            <a:r>
              <a:rPr lang="fr-FR" sz="2000" dirty="0" smtClean="0"/>
              <a:t>cluster</a:t>
            </a:r>
          </a:p>
          <a:p>
            <a:endParaRPr lang="fr-FR" sz="2000" dirty="0"/>
          </a:p>
          <a:p>
            <a:r>
              <a:rPr lang="fr-FR" dirty="0"/>
              <a:t>Une fois connecté, </a:t>
            </a:r>
            <a:r>
              <a:rPr lang="fr-FR" dirty="0" err="1"/>
              <a:t>Compass</a:t>
            </a:r>
            <a:r>
              <a:rPr lang="fr-FR" dirty="0"/>
              <a:t> reconnaîtra automatiquement qu'il est connecté à un cluster </a:t>
            </a:r>
            <a:r>
              <a:rPr lang="fr-FR" dirty="0" err="1" smtClean="0"/>
              <a:t>sharded</a:t>
            </a:r>
            <a:endParaRPr lang="fr-FR" dirty="0" smtClean="0"/>
          </a:p>
          <a:p>
            <a:endParaRPr lang="fr-FR" dirty="0" smtClean="0"/>
          </a:p>
          <a:p>
            <a:r>
              <a:rPr lang="fr-FR" dirty="0"/>
              <a:t>Dans le volet de gauche, vous verrez l'onglet "</a:t>
            </a:r>
            <a:r>
              <a:rPr lang="fr-FR" dirty="0" err="1"/>
              <a:t>Sharded</a:t>
            </a:r>
            <a:r>
              <a:rPr lang="fr-FR" dirty="0"/>
              <a:t> Cluster". Cliquez dessus</a:t>
            </a:r>
            <a:r>
              <a:rPr lang="fr-FR" dirty="0" smtClean="0"/>
              <a:t>.</a:t>
            </a:r>
          </a:p>
          <a:p>
            <a:endParaRPr lang="fr-FR" dirty="0" smtClean="0"/>
          </a:p>
          <a:p>
            <a:r>
              <a:rPr lang="fr-FR" dirty="0" smtClean="0"/>
              <a:t>Cet </a:t>
            </a:r>
            <a:r>
              <a:rPr lang="fr-FR" dirty="0"/>
              <a:t>onglet vous donnera un aperçu graphique de votre cluster, montrant les serveurs de configuration </a:t>
            </a:r>
            <a:endParaRPr lang="fr-FR" dirty="0" smtClean="0"/>
          </a:p>
          <a:p>
            <a:r>
              <a:rPr lang="fr-FR" dirty="0" smtClean="0"/>
              <a:t>et </a:t>
            </a:r>
            <a:r>
              <a:rPr lang="fr-FR" dirty="0"/>
              <a:t>les </a:t>
            </a:r>
            <a:r>
              <a:rPr lang="fr-FR" dirty="0" err="1"/>
              <a:t>shards</a:t>
            </a:r>
            <a:r>
              <a:rPr lang="fr-FR" dirty="0"/>
              <a:t> qui le composent (</a:t>
            </a:r>
            <a:r>
              <a:rPr lang="fr-FR" dirty="0" err="1"/>
              <a:t>parisReplSet</a:t>
            </a:r>
            <a:r>
              <a:rPr lang="fr-FR" dirty="0"/>
              <a:t> et </a:t>
            </a:r>
            <a:r>
              <a:rPr lang="fr-FR" dirty="0" err="1"/>
              <a:t>lyonReplSet</a:t>
            </a:r>
            <a:r>
              <a:rPr lang="fr-FR" dirty="0"/>
              <a:t>). </a:t>
            </a:r>
            <a:endParaRPr lang="fr-FR" dirty="0" smtClean="0"/>
          </a:p>
          <a:p>
            <a:r>
              <a:rPr lang="fr-FR" dirty="0" smtClean="0"/>
              <a:t>C'est </a:t>
            </a:r>
            <a:r>
              <a:rPr lang="fr-FR" dirty="0"/>
              <a:t>l'équivalent visuel de la commande </a:t>
            </a:r>
            <a:r>
              <a:rPr lang="fr-FR" dirty="0" err="1"/>
              <a:t>sh.status</a:t>
            </a:r>
            <a:r>
              <a:rPr lang="fr-FR" dirty="0"/>
              <a:t>()</a:t>
            </a:r>
          </a:p>
        </p:txBody>
      </p:sp>
    </p:spTree>
    <p:extLst>
      <p:ext uri="{BB962C8B-B14F-4D97-AF65-F5344CB8AC3E}">
        <p14:creationId xmlns:p14="http://schemas.microsoft.com/office/powerpoint/2010/main" val="372960501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94996" y="1067043"/>
            <a:ext cx="4647426" cy="307777"/>
          </a:xfrm>
          <a:prstGeom prst="rect">
            <a:avLst/>
          </a:prstGeom>
        </p:spPr>
        <p:txBody>
          <a:bodyPr wrap="none">
            <a:spAutoFit/>
          </a:bodyPr>
          <a:lstStyle/>
          <a:p>
            <a:r>
              <a:rPr lang="fr-FR" dirty="0"/>
              <a:t>CLUSTERS ET SHARDS DANS MONGODB COMPAS </a:t>
            </a:r>
          </a:p>
        </p:txBody>
      </p:sp>
    </p:spTree>
    <p:extLst>
      <p:ext uri="{BB962C8B-B14F-4D97-AF65-F5344CB8AC3E}">
        <p14:creationId xmlns:p14="http://schemas.microsoft.com/office/powerpoint/2010/main" val="201974977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370" y="0"/>
            <a:ext cx="7668695" cy="2638793"/>
          </a:xfrm>
          <a:prstGeom prst="rect">
            <a:avLst/>
          </a:prstGeom>
        </p:spPr>
      </p:pic>
    </p:spTree>
    <p:extLst>
      <p:ext uri="{BB962C8B-B14F-4D97-AF65-F5344CB8AC3E}">
        <p14:creationId xmlns:p14="http://schemas.microsoft.com/office/powerpoint/2010/main" val="15424763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750"/>
            <a:ext cx="8478433" cy="4963218"/>
          </a:xfrm>
          <a:prstGeom prst="rect">
            <a:avLst/>
          </a:prstGeom>
        </p:spPr>
      </p:pic>
    </p:spTree>
    <p:extLst>
      <p:ext uri="{BB962C8B-B14F-4D97-AF65-F5344CB8AC3E}">
        <p14:creationId xmlns:p14="http://schemas.microsoft.com/office/powerpoint/2010/main" val="47058155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3132928"/>
          </a:xfrm>
          <a:prstGeom prst="rect">
            <a:avLst/>
          </a:prstGeom>
        </p:spPr>
      </p:pic>
    </p:spTree>
    <p:extLst>
      <p:ext uri="{BB962C8B-B14F-4D97-AF65-F5344CB8AC3E}">
        <p14:creationId xmlns:p14="http://schemas.microsoft.com/office/powerpoint/2010/main" val="32640093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04" y="0"/>
            <a:ext cx="8535591" cy="3934374"/>
          </a:xfrm>
          <a:prstGeom prst="rect">
            <a:avLst/>
          </a:prstGeom>
        </p:spPr>
      </p:pic>
    </p:spTree>
    <p:extLst>
      <p:ext uri="{BB962C8B-B14F-4D97-AF65-F5344CB8AC3E}">
        <p14:creationId xmlns:p14="http://schemas.microsoft.com/office/powerpoint/2010/main" val="68110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apture d’écra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134" y="122698"/>
            <a:ext cx="7659169" cy="3734321"/>
          </a:xfrm>
          <a:prstGeom prst="rect">
            <a:avLst/>
          </a:prstGeom>
        </p:spPr>
      </p:pic>
    </p:spTree>
    <p:extLst>
      <p:ext uri="{BB962C8B-B14F-4D97-AF65-F5344CB8AC3E}">
        <p14:creationId xmlns:p14="http://schemas.microsoft.com/office/powerpoint/2010/main" val="36746610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18544</TotalTime>
  <Words>5285</Words>
  <Application>Microsoft Office PowerPoint</Application>
  <PresentationFormat>Affichage à l'écran (16:9)</PresentationFormat>
  <Paragraphs>446</Paragraphs>
  <Slides>123</Slides>
  <Notes>5</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123</vt:i4>
      </vt:variant>
    </vt:vector>
  </HeadingPairs>
  <TitlesOfParts>
    <vt:vector size="126" baseType="lpstr">
      <vt:lpstr>Inter</vt:lpstr>
      <vt:lpstr>Arial</vt:lpstr>
      <vt:lpstr>Simple Light</vt:lpstr>
      <vt:lpstr>Template de présentation du projet 7</vt:lpstr>
      <vt:lpstr>Présentation PowerPoint</vt:lpstr>
      <vt:lpstr>Contexte du projet et importation des données</vt:lpstr>
      <vt:lpstr>Présentation PowerPoint</vt:lpstr>
      <vt:lpstr>Présentation PowerPoint</vt:lpstr>
      <vt:lpstr>Partie 1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Partie 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Partie 3</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de présentation du projet 7</dc:title>
  <dc:creator>User</dc:creator>
  <cp:lastModifiedBy>User</cp:lastModifiedBy>
  <cp:revision>151</cp:revision>
  <dcterms:modified xsi:type="dcterms:W3CDTF">2025-11-05T21:53:07Z</dcterms:modified>
</cp:coreProperties>
</file>