
<file path=[Content_Types].xml><?xml version="1.0" encoding="utf-8"?>
<Types xmlns="http://schemas.openxmlformats.org/package/2006/content-types">
  <Default Extension="png" ContentType="image/png"/>
  <Default Extension="tmp" ContentType="image/pn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04"/>
  </p:notesMasterIdLst>
  <p:sldIdLst>
    <p:sldId id="256" r:id="rId2"/>
    <p:sldId id="257" r:id="rId3"/>
    <p:sldId id="259" r:id="rId4"/>
    <p:sldId id="260" r:id="rId5"/>
    <p:sldId id="284" r:id="rId6"/>
    <p:sldId id="285" r:id="rId7"/>
    <p:sldId id="286" r:id="rId8"/>
    <p:sldId id="287" r:id="rId9"/>
    <p:sldId id="337" r:id="rId10"/>
    <p:sldId id="338" r:id="rId11"/>
    <p:sldId id="283" r:id="rId12"/>
    <p:sldId id="272" r:id="rId13"/>
    <p:sldId id="273" r:id="rId14"/>
    <p:sldId id="276" r:id="rId15"/>
    <p:sldId id="275" r:id="rId16"/>
    <p:sldId id="274" r:id="rId17"/>
    <p:sldId id="261" r:id="rId18"/>
    <p:sldId id="262" r:id="rId19"/>
    <p:sldId id="263" r:id="rId20"/>
    <p:sldId id="278" r:id="rId21"/>
    <p:sldId id="264" r:id="rId22"/>
    <p:sldId id="279" r:id="rId23"/>
    <p:sldId id="280" r:id="rId24"/>
    <p:sldId id="281" r:id="rId25"/>
    <p:sldId id="282" r:id="rId26"/>
    <p:sldId id="265" r:id="rId27"/>
    <p:sldId id="289" r:id="rId28"/>
    <p:sldId id="290" r:id="rId29"/>
    <p:sldId id="291" r:id="rId30"/>
    <p:sldId id="292" r:id="rId31"/>
    <p:sldId id="293" r:id="rId32"/>
    <p:sldId id="294" r:id="rId33"/>
    <p:sldId id="295" r:id="rId34"/>
    <p:sldId id="296" r:id="rId35"/>
    <p:sldId id="297" r:id="rId36"/>
    <p:sldId id="299" r:id="rId37"/>
    <p:sldId id="300" r:id="rId38"/>
    <p:sldId id="298" r:id="rId39"/>
    <p:sldId id="301" r:id="rId40"/>
    <p:sldId id="302" r:id="rId41"/>
    <p:sldId id="339" r:id="rId42"/>
    <p:sldId id="340" r:id="rId43"/>
    <p:sldId id="341" r:id="rId44"/>
    <p:sldId id="342" r:id="rId45"/>
    <p:sldId id="343" r:id="rId46"/>
    <p:sldId id="344" r:id="rId47"/>
    <p:sldId id="345" r:id="rId48"/>
    <p:sldId id="346" r:id="rId49"/>
    <p:sldId id="347" r:id="rId50"/>
    <p:sldId id="348" r:id="rId51"/>
    <p:sldId id="349" r:id="rId52"/>
    <p:sldId id="351" r:id="rId53"/>
    <p:sldId id="350" r:id="rId54"/>
    <p:sldId id="352" r:id="rId55"/>
    <p:sldId id="354" r:id="rId56"/>
    <p:sldId id="355" r:id="rId57"/>
    <p:sldId id="353" r:id="rId58"/>
    <p:sldId id="357" r:id="rId59"/>
    <p:sldId id="358" r:id="rId60"/>
    <p:sldId id="356" r:id="rId61"/>
    <p:sldId id="392" r:id="rId62"/>
    <p:sldId id="393" r:id="rId63"/>
    <p:sldId id="394" r:id="rId64"/>
    <p:sldId id="395" r:id="rId65"/>
    <p:sldId id="396" r:id="rId66"/>
    <p:sldId id="267" r:id="rId67"/>
    <p:sldId id="359" r:id="rId68"/>
    <p:sldId id="360" r:id="rId69"/>
    <p:sldId id="361" r:id="rId70"/>
    <p:sldId id="363" r:id="rId71"/>
    <p:sldId id="364" r:id="rId72"/>
    <p:sldId id="365" r:id="rId73"/>
    <p:sldId id="366" r:id="rId74"/>
    <p:sldId id="367" r:id="rId75"/>
    <p:sldId id="368" r:id="rId76"/>
    <p:sldId id="369" r:id="rId77"/>
    <p:sldId id="268" r:id="rId78"/>
    <p:sldId id="370" r:id="rId79"/>
    <p:sldId id="371" r:id="rId80"/>
    <p:sldId id="372" r:id="rId81"/>
    <p:sldId id="373" r:id="rId82"/>
    <p:sldId id="374" r:id="rId83"/>
    <p:sldId id="375" r:id="rId84"/>
    <p:sldId id="269" r:id="rId85"/>
    <p:sldId id="376" r:id="rId86"/>
    <p:sldId id="377" r:id="rId87"/>
    <p:sldId id="378" r:id="rId88"/>
    <p:sldId id="379" r:id="rId89"/>
    <p:sldId id="270" r:id="rId90"/>
    <p:sldId id="380" r:id="rId91"/>
    <p:sldId id="381" r:id="rId92"/>
    <p:sldId id="382" r:id="rId93"/>
    <p:sldId id="383" r:id="rId94"/>
    <p:sldId id="384" r:id="rId95"/>
    <p:sldId id="386" r:id="rId96"/>
    <p:sldId id="387" r:id="rId97"/>
    <p:sldId id="385" r:id="rId98"/>
    <p:sldId id="271" r:id="rId99"/>
    <p:sldId id="388" r:id="rId100"/>
    <p:sldId id="389" r:id="rId101"/>
    <p:sldId id="390" r:id="rId102"/>
    <p:sldId id="391" r:id="rId103"/>
  </p:sldIdLst>
  <p:sldSz cx="9144000" cy="5143500" type="screen16x9"/>
  <p:notesSz cx="6858000" cy="9144000"/>
  <p:embeddedFontLst>
    <p:embeddedFont>
      <p:font typeface="Calibri" panose="020F0502020204030204" pitchFamily="34" charset="0"/>
      <p:regular r:id="rId105"/>
      <p:bold r:id="rId106"/>
      <p:italic r:id="rId107"/>
      <p:boldItalic r:id="rId108"/>
    </p:embeddedFont>
    <p:embeddedFont>
      <p:font typeface="Wingdings 3" panose="05040102010807070707" pitchFamily="18" charset="2"/>
      <p:regular r:id="rId109"/>
    </p:embeddedFont>
    <p:embeddedFont>
      <p:font typeface="Trebuchet MS" panose="020B0603020202020204" pitchFamily="34" charset="0"/>
      <p:regular r:id="rId110"/>
      <p:bold r:id="rId111"/>
      <p:italic r:id="rId112"/>
      <p:boldItalic r:id="rId1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75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8.fntdata"/><Relationship Id="rId16" Type="http://schemas.openxmlformats.org/officeDocument/2006/relationships/slide" Target="slides/slide15.xml"/><Relationship Id="rId107" Type="http://schemas.openxmlformats.org/officeDocument/2006/relationships/font" Target="fonts/font3.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9.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font" Target="fonts/font4.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5.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6.fntdata"/><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7.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efd6a1ad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efd6a1ad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fadf635cc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fadf635cc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efd6a1ad4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fd6a1ad4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fd948d0ee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fd948d0ee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245a1bb278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245a1bb278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245a1bb278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245a1bb278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245a1bb278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245a1bb278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efd6a1ad4f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fd6a1ad4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fadf635ccc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fadf635ccc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efd6a1ad4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efd6a1ad4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fadf635ccc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fadf635ccc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efd6a1ad4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efd6a1ad4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fadf635ccc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fadf635ccc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fr-FR" smtClean="0"/>
              <a:t>Modifiez le style du titre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81590806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52120446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fr-FR" smtClean="0"/>
              <a:t>Modifiez le style du titre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61940462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6258282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smtClean="0"/>
              <a:t>Modifier les styles du texte du masque</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smtClean="0"/>
              <a:t>Modifier les styles du texte du masque</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14761396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71370247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84306678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fr-FR" smtClean="0"/>
              <a:t>Modifiez le style du titre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42A54C80-263E-416B-A8E0-580EDEADCBDC}" type="datetimeFigureOut">
              <a:rPr lang="en-US" dirty="0"/>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81620624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65630366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fr-FR" smtClean="0"/>
              <a:t>Modifiez le style du titre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9574800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050" dirty="0">
              <a:solidFill>
                <a:schemeClr val="accent1">
                  <a:lumMod val="60000"/>
                  <a:lumOff val="40000"/>
                </a:schemeClr>
              </a:solidFill>
              <a:latin typeface="Arial"/>
            </a:endParaRPr>
          </a:p>
        </p:txBody>
      </p:sp>
    </p:spTree>
    <p:extLst>
      <p:ext uri="{BB962C8B-B14F-4D97-AF65-F5344CB8AC3E}">
        <p14:creationId xmlns:p14="http://schemas.microsoft.com/office/powerpoint/2010/main" val="241161966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fr-FR" smtClean="0"/>
              <a:t>Modifiez le style du titre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00604953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3208241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fr-FR" smtClean="0"/>
              <a:t>Modifiez le style du titre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fr-FR" smtClean="0"/>
              <a:t>Modifier les styles du texte du masque</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77599222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20895116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fr-FR" smtClean="0"/>
              <a:t>Modifiez le style du titre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60916944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1"/>
        <p:cNvGrpSpPr/>
        <p:nvPr/>
      </p:nvGrpSpPr>
      <p:grpSpPr>
        <a:xfrm>
          <a:off x="0" y="0"/>
          <a:ext cx="0" cy="0"/>
          <a:chOff x="0" y="0"/>
          <a:chExt cx="0" cy="0"/>
        </a:xfrm>
      </p:grpSpPr>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7307800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3717208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fr-FR" smtClean="0"/>
              <a:t>Modifiez le style du titre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dirty="0"/>
              <a:pPr/>
              <a:t>11/5/2025</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7964303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tmp"/><Relationship Id="rId1" Type="http://schemas.openxmlformats.org/officeDocument/2006/relationships/slideLayout" Target="../slideLayouts/slideLayout7.xml"/><Relationship Id="rId4" Type="http://schemas.openxmlformats.org/officeDocument/2006/relationships/image" Target="../media/image5.tmp"/></Relationships>
</file>

<file path=ppt/slides/_rels/slide6.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7.xml"/><Relationship Id="rId4" Type="http://schemas.openxmlformats.org/officeDocument/2006/relationships/image" Target="../media/image10.tm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5.tmp"/><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8.tmp"/><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9.tmp"/><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0.tmp"/><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1.tmp"/><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46.tmp"/><Relationship Id="rId2" Type="http://schemas.openxmlformats.org/officeDocument/2006/relationships/image" Target="../media/image45.tmp"/><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48.tmp"/><Relationship Id="rId2" Type="http://schemas.openxmlformats.org/officeDocument/2006/relationships/image" Target="../media/image47.tmp"/><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50.tmp"/><Relationship Id="rId2" Type="http://schemas.openxmlformats.org/officeDocument/2006/relationships/image" Target="../media/image49.tmp"/><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prstGeom prst="rect">
            <a:avLst/>
          </a:prstGeom>
        </p:spPr>
        <p:txBody>
          <a:bodyPr spcFirstLastPara="1" wrap="square" lIns="91425" tIns="91425" rIns="91425" bIns="91425" anchor="t" anchorCtr="0">
            <a:normAutofit fontScale="90000"/>
          </a:bodyPr>
          <a:lstStyle/>
          <a:p>
            <a:pPr lvl="0" algn="l">
              <a:spcBef>
                <a:spcPts val="0"/>
              </a:spcBef>
            </a:pPr>
            <a:r>
              <a:rPr lang="fr" dirty="0"/>
              <a:t>AUDIT : </a:t>
            </a:r>
            <a:br>
              <a:rPr lang="fr" dirty="0"/>
            </a:br>
            <a:r>
              <a:rPr lang="fr-FR" dirty="0" err="1"/>
              <a:t>SuperSmartMarket</a:t>
            </a:r>
            <a:endParaRPr dirty="0"/>
          </a:p>
        </p:txBody>
      </p:sp>
      <p:pic>
        <p:nvPicPr>
          <p:cNvPr id="135" name="Google Shape;135;p13"/>
          <p:cNvPicPr preferRelativeResize="0"/>
          <p:nvPr/>
        </p:nvPicPr>
        <p:blipFill>
          <a:blip r:embed="rId3">
            <a:alphaModFix/>
          </a:blip>
          <a:stretch>
            <a:fillRect/>
          </a:stretch>
        </p:blipFill>
        <p:spPr>
          <a:xfrm>
            <a:off x="7196750" y="3514725"/>
            <a:ext cx="1733550" cy="1381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Présentation de la mission</a:t>
            </a:r>
            <a:endParaRPr/>
          </a:p>
        </p:txBody>
      </p:sp>
      <p:sp>
        <p:nvSpPr>
          <p:cNvPr id="141" name="Google Shape;141;p14"/>
          <p:cNvSpPr txBox="1">
            <a:spLocks noGrp="1"/>
          </p:cNvSpPr>
          <p:nvPr>
            <p:ph type="body" idx="1"/>
          </p:nvPr>
        </p:nvSpPr>
        <p:spPr>
          <a:xfrm>
            <a:off x="187036" y="1307850"/>
            <a:ext cx="7263246" cy="3170900"/>
          </a:xfrm>
          <a:prstGeom prst="rect">
            <a:avLst/>
          </a:prstGeom>
        </p:spPr>
        <p:txBody>
          <a:bodyPr spcFirstLastPara="1" wrap="square" lIns="91425" tIns="91425" rIns="91425" bIns="91425" anchor="t" anchorCtr="0">
            <a:normAutofit/>
          </a:bodyPr>
          <a:lstStyle/>
          <a:p>
            <a:r>
              <a:rPr lang="fr-FR"/>
              <a:t>J’ai été recruter comme data engeneer dans la societe SuperSmartMarket qui est une chaîne de supermarchés en plein développement en France afin de réaliser un audit de leur base de données OLAP</a:t>
            </a:r>
          </a:p>
          <a:p>
            <a:r>
              <a:rPr lang="fr-FR" dirty="0"/>
              <a:t>En effet, leurs données de chiffre d’affaire ne sont pas stables et varient parfois d’un jour a l’autre et évolue des fois à la hausse et parfois à la baisse</a:t>
            </a:r>
          </a:p>
          <a:p>
            <a:r>
              <a:rPr lang="fr-FR" dirty="0"/>
              <a:t>A l’exemple du chiffre d’affaires du lundi 14 août qui était de 275 186,59 €. Le lendemain, c’était le 15 août et tous leurs magasins étaient fermés. Pourtant, quand ils sont retournés sur </a:t>
            </a:r>
            <a:r>
              <a:rPr lang="fr-FR" dirty="0" err="1"/>
              <a:t>PowerBI</a:t>
            </a:r>
            <a:r>
              <a:rPr lang="fr-FR" dirty="0"/>
              <a:t> le 16 Août, le chiffre d’affaires du 14 août était de 284 243,88 €.</a:t>
            </a:r>
          </a:p>
          <a:p>
            <a:r>
              <a:rPr lang="fr-FR" dirty="0"/>
              <a:t>Ma mission alors était d’étudier leur base de donnée, réaliser un dictionnaire de donnée, puis un schéma relationnel et afin faire des requêtes SQL pour trouver le bon chiffre d’affaire de la journée du 14 aout et répondre a d’autres problématiques</a:t>
            </a:r>
          </a:p>
          <a:p>
            <a:pPr marL="0" lvl="0" indent="0" algn="l" rtl="0">
              <a:spcBef>
                <a:spcPts val="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Analyse de la base de données</a:t>
            </a:r>
            <a:endParaRPr/>
          </a:p>
          <a:p>
            <a:pPr marL="0" lvl="0" indent="0" algn="l" rtl="0">
              <a:spcBef>
                <a:spcPts val="0"/>
              </a:spcBef>
              <a:spcAft>
                <a:spcPts val="0"/>
              </a:spcAft>
              <a:buNone/>
            </a:pPr>
            <a:r>
              <a:rPr lang="fr" sz="1888"/>
              <a:t>Architecture de l’entreprise</a:t>
            </a:r>
            <a:endParaRPr sz="1888"/>
          </a:p>
        </p:txBody>
      </p:sp>
      <p:sp>
        <p:nvSpPr>
          <p:cNvPr id="153" name="Google Shape;153;p16"/>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marR="152400" lvl="0" indent="-285750" algn="l" rtl="0">
              <a:spcBef>
                <a:spcPts val="0"/>
              </a:spcBef>
              <a:spcAft>
                <a:spcPts val="0"/>
              </a:spcAft>
              <a:buClr>
                <a:srgbClr val="999999"/>
              </a:buClr>
              <a:buSzPts val="900"/>
              <a:buFont typeface="Inter"/>
              <a:buChar char="●"/>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1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Analyse de la base de données</a:t>
            </a:r>
            <a:endParaRPr/>
          </a:p>
          <a:p>
            <a:pPr marL="0" lvl="0" indent="0" algn="l" rtl="0">
              <a:spcBef>
                <a:spcPts val="0"/>
              </a:spcBef>
              <a:spcAft>
                <a:spcPts val="0"/>
              </a:spcAft>
              <a:buNone/>
            </a:pPr>
            <a:r>
              <a:rPr lang="fr" sz="1888"/>
              <a:t>Dictionnaire des données du fichier OLAP et schéma relationnel</a:t>
            </a:r>
            <a:endParaRPr sz="1888"/>
          </a:p>
        </p:txBody>
      </p:sp>
      <p:sp>
        <p:nvSpPr>
          <p:cNvPr id="158" name="Google Shape;158;p17"/>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marR="152400" lvl="0" indent="-285750" algn="l" rtl="0">
              <a:spcBef>
                <a:spcPts val="0"/>
              </a:spcBef>
              <a:spcAft>
                <a:spcPts val="0"/>
              </a:spcAft>
              <a:buClr>
                <a:srgbClr val="999999"/>
              </a:buClr>
              <a:buSzPts val="900"/>
              <a:buFont typeface="Inter"/>
              <a:buChar char="●"/>
            </a:pPr>
            <a:endParaRPr dirty="0"/>
          </a:p>
        </p:txBody>
      </p:sp>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918" y="1567550"/>
            <a:ext cx="6336500" cy="28108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994" y="2566987"/>
            <a:ext cx="7602011" cy="9526"/>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4368" y="2566987"/>
            <a:ext cx="95263" cy="9526"/>
          </a:xfrm>
          <a:prstGeom prst="rect">
            <a:avLst/>
          </a:prstGeom>
        </p:spPr>
      </p:pic>
      <p:pic>
        <p:nvPicPr>
          <p:cNvPr id="4" name="Image 3" descr="Capture d’écra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995" y="685800"/>
            <a:ext cx="6132924" cy="3345873"/>
          </a:xfrm>
          <a:prstGeom prst="rect">
            <a:avLst/>
          </a:prstGeom>
        </p:spPr>
      </p:pic>
    </p:spTree>
    <p:extLst>
      <p:ext uri="{BB962C8B-B14F-4D97-AF65-F5344CB8AC3E}">
        <p14:creationId xmlns:p14="http://schemas.microsoft.com/office/powerpoint/2010/main" val="2539658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37" y="748145"/>
            <a:ext cx="6608618" cy="3532910"/>
          </a:xfrm>
          <a:prstGeom prst="rect">
            <a:avLst/>
          </a:prstGeom>
        </p:spPr>
      </p:pic>
    </p:spTree>
    <p:extLst>
      <p:ext uri="{BB962C8B-B14F-4D97-AF65-F5344CB8AC3E}">
        <p14:creationId xmlns:p14="http://schemas.microsoft.com/office/powerpoint/2010/main" val="1421226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941" y="467591"/>
            <a:ext cx="7012741" cy="3543299"/>
          </a:xfrm>
          <a:prstGeom prst="rect">
            <a:avLst/>
          </a:prstGeom>
        </p:spPr>
      </p:pic>
    </p:spTree>
    <p:extLst>
      <p:ext uri="{BB962C8B-B14F-4D97-AF65-F5344CB8AC3E}">
        <p14:creationId xmlns:p14="http://schemas.microsoft.com/office/powerpoint/2010/main" val="4205470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231" y="2566987"/>
            <a:ext cx="7249537" cy="9526"/>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705" y="2566987"/>
            <a:ext cx="7268589" cy="9526"/>
          </a:xfrm>
          <a:prstGeom prst="rect">
            <a:avLst/>
          </a:prstGeom>
        </p:spPr>
      </p:pic>
      <p:pic>
        <p:nvPicPr>
          <p:cNvPr id="4" name="Image 3" descr="Capture d’écra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994" y="810491"/>
            <a:ext cx="6253261" cy="3127664"/>
          </a:xfrm>
          <a:prstGeom prst="rect">
            <a:avLst/>
          </a:prstGeom>
        </p:spPr>
      </p:pic>
    </p:spTree>
    <p:extLst>
      <p:ext uri="{BB962C8B-B14F-4D97-AF65-F5344CB8AC3E}">
        <p14:creationId xmlns:p14="http://schemas.microsoft.com/office/powerpoint/2010/main" val="1865291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3455" y="914400"/>
            <a:ext cx="6234545" cy="750975"/>
          </a:xfrm>
          <a:prstGeom prst="rect">
            <a:avLst/>
          </a:prstGeom>
        </p:spPr>
        <p:txBody>
          <a:bodyPr wrap="square">
            <a:spAutoFit/>
          </a:bodyPr>
          <a:lstStyle/>
          <a:p>
            <a:pPr>
              <a:lnSpc>
                <a:spcPct val="107000"/>
              </a:lnSpc>
              <a:spcAft>
                <a:spcPts val="800"/>
              </a:spcAft>
            </a:pPr>
            <a:r>
              <a:rPr lang="fr-FR" sz="4000" b="1" dirty="0" smtClean="0">
                <a:latin typeface="Calibri" panose="020F0502020204030204" pitchFamily="34" charset="0"/>
                <a:ea typeface="Calibri" panose="020F0502020204030204" pitchFamily="34" charset="0"/>
                <a:cs typeface="Times New Roman" panose="02020603050405020304" pitchFamily="18" charset="0"/>
              </a:rPr>
              <a:t> </a:t>
            </a:r>
            <a:r>
              <a:rPr lang="fr-FR" sz="4000" b="1" dirty="0">
                <a:latin typeface="Calibri" panose="020F0502020204030204" pitchFamily="34" charset="0"/>
                <a:ea typeface="Calibri" panose="020F0502020204030204" pitchFamily="34" charset="0"/>
                <a:cs typeface="Times New Roman" panose="02020603050405020304" pitchFamily="18" charset="0"/>
              </a:rPr>
              <a:t>le schéma relationnel </a:t>
            </a:r>
            <a:endParaRPr lang="fr-FR"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26567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6725"/>
            <a:ext cx="9144000" cy="4770050"/>
          </a:xfrm>
          <a:prstGeom prst="rect">
            <a:avLst/>
          </a:prstGeom>
        </p:spPr>
      </p:pic>
    </p:spTree>
    <p:extLst>
      <p:ext uri="{BB962C8B-B14F-4D97-AF65-F5344CB8AC3E}">
        <p14:creationId xmlns:p14="http://schemas.microsoft.com/office/powerpoint/2010/main" val="2356938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20982" y="1295760"/>
            <a:ext cx="5237018" cy="2782428"/>
          </a:xfrm>
          <a:prstGeom prst="rect">
            <a:avLst/>
          </a:prstGeom>
        </p:spPr>
        <p:txBody>
          <a:bodyPr wrap="square">
            <a:spAutoFit/>
          </a:bodyPr>
          <a:lstStyle/>
          <a:p>
            <a:pPr>
              <a:lnSpc>
                <a:spcPct val="107000"/>
              </a:lnSpc>
              <a:spcAft>
                <a:spcPts val="800"/>
              </a:spcAft>
            </a:pPr>
            <a:r>
              <a:rPr lang="fr-FR" b="1" dirty="0" smtClean="0">
                <a:latin typeface="Calibri" panose="020F0502020204030204" pitchFamily="34" charset="0"/>
                <a:ea typeface="Calibri" panose="020F0502020204030204" pitchFamily="34" charset="0"/>
                <a:cs typeface="Times New Roman" panose="02020603050405020304" pitchFamily="18" charset="0"/>
              </a:rPr>
              <a:t>différentes </a:t>
            </a:r>
            <a:r>
              <a:rPr lang="fr-FR" b="1" dirty="0">
                <a:latin typeface="Calibri" panose="020F0502020204030204" pitchFamily="34" charset="0"/>
                <a:ea typeface="Calibri" panose="020F0502020204030204" pitchFamily="34" charset="0"/>
                <a:cs typeface="Times New Roman" panose="02020603050405020304" pitchFamily="18" charset="0"/>
              </a:rPr>
              <a:t>tables avec les données chargées</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b="1" dirty="0">
                <a:latin typeface="Calibri" panose="020F0502020204030204" pitchFamily="34" charset="0"/>
                <a:ea typeface="Calibri" panose="020F0502020204030204" pitchFamily="34" charset="0"/>
                <a:cs typeface="Times New Roman" panose="02020603050405020304" pitchFamily="18" charset="0"/>
              </a:rPr>
              <a:t>L’ordre de présentation sera la suivante :</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b="1" dirty="0">
                <a:latin typeface="Calibri" panose="020F0502020204030204" pitchFamily="34" charset="0"/>
                <a:ea typeface="Calibri" panose="020F0502020204030204" pitchFamily="34" charset="0"/>
                <a:cs typeface="Times New Roman" panose="02020603050405020304" pitchFamily="18" charset="0"/>
              </a:rPr>
              <a:t>Table calendrier</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b="1" dirty="0">
                <a:latin typeface="Calibri" panose="020F0502020204030204" pitchFamily="34" charset="0"/>
                <a:ea typeface="Calibri" panose="020F0502020204030204" pitchFamily="34" charset="0"/>
                <a:cs typeface="Times New Roman" panose="02020603050405020304" pitchFamily="18" charset="0"/>
              </a:rPr>
              <a:t>Table client</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b="1" dirty="0">
                <a:latin typeface="Calibri" panose="020F0502020204030204" pitchFamily="34" charset="0"/>
                <a:ea typeface="Calibri" panose="020F0502020204030204" pitchFamily="34" charset="0"/>
                <a:cs typeface="Times New Roman" panose="02020603050405020304" pitchFamily="18" charset="0"/>
              </a:rPr>
              <a:t>Table </a:t>
            </a:r>
            <a:r>
              <a:rPr lang="fr-FR" b="1" dirty="0" err="1">
                <a:latin typeface="Calibri" panose="020F0502020204030204" pitchFamily="34" charset="0"/>
                <a:ea typeface="Calibri" panose="020F0502020204030204" pitchFamily="34" charset="0"/>
                <a:cs typeface="Times New Roman" panose="02020603050405020304" pitchFamily="18" charset="0"/>
              </a:rPr>
              <a:t>employe</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b="1" dirty="0">
                <a:latin typeface="Calibri" panose="020F0502020204030204" pitchFamily="34" charset="0"/>
                <a:ea typeface="Calibri" panose="020F0502020204030204" pitchFamily="34" charset="0"/>
                <a:cs typeface="Times New Roman" panose="02020603050405020304" pitchFamily="18" charset="0"/>
              </a:rPr>
              <a:t>Table produit</a:t>
            </a:r>
            <a:endParaRPr lang="fr-F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b="1" dirty="0">
                <a:latin typeface="Calibri" panose="020F0502020204030204" pitchFamily="34" charset="0"/>
                <a:ea typeface="Calibri" panose="020F0502020204030204" pitchFamily="34" charset="0"/>
                <a:cs typeface="Times New Roman" panose="02020603050405020304" pitchFamily="18" charset="0"/>
              </a:rPr>
              <a:t>Table vente</a:t>
            </a:r>
            <a:endParaRPr lang="fr-FR"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76356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7905"/>
            <a:ext cx="9144000" cy="4767689"/>
          </a:xfrm>
          <a:prstGeom prst="rect">
            <a:avLst/>
          </a:prstGeom>
        </p:spPr>
      </p:pic>
    </p:spTree>
    <p:extLst>
      <p:ext uri="{BB962C8B-B14F-4D97-AF65-F5344CB8AC3E}">
        <p14:creationId xmlns:p14="http://schemas.microsoft.com/office/powerpoint/2010/main" val="2796277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4316"/>
            <a:ext cx="9144000" cy="4974868"/>
          </a:xfrm>
          <a:prstGeom prst="rect">
            <a:avLst/>
          </a:prstGeom>
        </p:spPr>
      </p:pic>
    </p:spTree>
    <p:extLst>
      <p:ext uri="{BB962C8B-B14F-4D97-AF65-F5344CB8AC3E}">
        <p14:creationId xmlns:p14="http://schemas.microsoft.com/office/powerpoint/2010/main" val="2277568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6406"/>
            <a:ext cx="9144000" cy="4530687"/>
          </a:xfrm>
          <a:prstGeom prst="rect">
            <a:avLst/>
          </a:prstGeom>
        </p:spPr>
      </p:pic>
    </p:spTree>
    <p:extLst>
      <p:ext uri="{BB962C8B-B14F-4D97-AF65-F5344CB8AC3E}">
        <p14:creationId xmlns:p14="http://schemas.microsoft.com/office/powerpoint/2010/main" val="658993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5060"/>
            <a:ext cx="9144000" cy="4653379"/>
          </a:xfrm>
          <a:prstGeom prst="rect">
            <a:avLst/>
          </a:prstGeom>
        </p:spPr>
      </p:pic>
    </p:spTree>
    <p:extLst>
      <p:ext uri="{BB962C8B-B14F-4D97-AF65-F5344CB8AC3E}">
        <p14:creationId xmlns:p14="http://schemas.microsoft.com/office/powerpoint/2010/main" val="674798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0078" y="0"/>
            <a:ext cx="6143844" cy="5143500"/>
          </a:xfrm>
          <a:prstGeom prst="rect">
            <a:avLst/>
          </a:prstGeom>
        </p:spPr>
      </p:pic>
    </p:spTree>
    <p:extLst>
      <p:ext uri="{BB962C8B-B14F-4D97-AF65-F5344CB8AC3E}">
        <p14:creationId xmlns:p14="http://schemas.microsoft.com/office/powerpoint/2010/main" val="624957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8"/>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Présentation du prototype de BDD</a:t>
            </a:r>
            <a:endParaRPr/>
          </a:p>
          <a:p>
            <a:pPr marL="0" lvl="0" indent="0" algn="l" rtl="0">
              <a:spcBef>
                <a:spcPts val="0"/>
              </a:spcBef>
              <a:spcAft>
                <a:spcPts val="0"/>
              </a:spcAft>
              <a:buNone/>
            </a:pPr>
            <a:r>
              <a:rPr lang="fr" sz="1888"/>
              <a:t>Explication de la base de données</a:t>
            </a:r>
            <a:endParaRPr sz="1888"/>
          </a:p>
        </p:txBody>
      </p:sp>
      <p:sp>
        <p:nvSpPr>
          <p:cNvPr id="165" name="Google Shape;165;p18"/>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marR="152400" lvl="0" indent="-285750" algn="l" rtl="0">
              <a:spcBef>
                <a:spcPts val="0"/>
              </a:spcBef>
              <a:spcAft>
                <a:spcPts val="0"/>
              </a:spcAft>
              <a:buClr>
                <a:srgbClr val="999999"/>
              </a:buClr>
              <a:buSzPts val="900"/>
              <a:buFont typeface="Inter"/>
              <a:buChar char="●"/>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19"/>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Résultat des requêtes SQL</a:t>
            </a:r>
            <a:endParaRPr/>
          </a:p>
          <a:p>
            <a:pPr marL="0" lvl="0" indent="0" algn="l" rtl="0">
              <a:spcBef>
                <a:spcPts val="0"/>
              </a:spcBef>
              <a:spcAft>
                <a:spcPts val="0"/>
              </a:spcAft>
              <a:buNone/>
            </a:pPr>
            <a:r>
              <a:rPr lang="fr" sz="1888"/>
              <a:t>Le chiffre d’affaires total pour le 14 Août</a:t>
            </a:r>
            <a:endParaRPr sz="1888"/>
          </a:p>
        </p:txBody>
      </p:sp>
      <p:sp>
        <p:nvSpPr>
          <p:cNvPr id="170" name="Google Shape;170;p19"/>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marR="152400" lvl="0" indent="-285750" algn="l" rtl="0">
              <a:spcBef>
                <a:spcPts val="0"/>
              </a:spcBef>
              <a:spcAft>
                <a:spcPts val="0"/>
              </a:spcAft>
              <a:buClr>
                <a:srgbClr val="999999"/>
              </a:buClr>
              <a:buSzPts val="900"/>
              <a:buFont typeface="Inter"/>
              <a:buChar char="●"/>
            </a:pPr>
            <a:endParaRPr/>
          </a:p>
        </p:txBody>
      </p:sp>
      <p:pic>
        <p:nvPicPr>
          <p:cNvPr id="2" name="Image 1"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3164" y="1567550"/>
            <a:ext cx="4983128" cy="2911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7" name="Google Shape;177;p20"/>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Résultat des requêtes SQL</a:t>
            </a:r>
            <a:endParaRPr/>
          </a:p>
          <a:p>
            <a:pPr marL="0" lvl="0" indent="0" algn="l" rtl="0">
              <a:spcBef>
                <a:spcPts val="0"/>
              </a:spcBef>
              <a:spcAft>
                <a:spcPts val="0"/>
              </a:spcAft>
              <a:buNone/>
            </a:pPr>
            <a:r>
              <a:rPr lang="fr" sz="1888"/>
              <a:t>Le chiffre d’affaires par client pour le top 10 des clients</a:t>
            </a:r>
            <a:endParaRPr sz="1888"/>
          </a:p>
        </p:txBody>
      </p:sp>
      <p:sp>
        <p:nvSpPr>
          <p:cNvPr id="176" name="Google Shape;176;p20"/>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marR="152400" lvl="0" indent="-285750" algn="l" rtl="0">
              <a:spcBef>
                <a:spcPts val="0"/>
              </a:spcBef>
              <a:spcAft>
                <a:spcPts val="0"/>
              </a:spcAft>
              <a:buClr>
                <a:srgbClr val="999999"/>
              </a:buClr>
              <a:buSzPts val="900"/>
              <a:buFont typeface="Inter"/>
              <a:buChar char="●"/>
            </a:pPr>
            <a:endParaRPr/>
          </a:p>
        </p:txBody>
      </p:sp>
      <p:pic>
        <p:nvPicPr>
          <p:cNvPr id="2" name="Image 1"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7500" y="1567551"/>
            <a:ext cx="5168027" cy="29111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2936" y="623456"/>
            <a:ext cx="4599514" cy="3353428"/>
          </a:xfrm>
          <a:prstGeom prst="rect">
            <a:avLst/>
          </a:prstGeom>
        </p:spPr>
      </p:pic>
    </p:spTree>
    <p:extLst>
      <p:ext uri="{BB962C8B-B14F-4D97-AF65-F5344CB8AC3E}">
        <p14:creationId xmlns:p14="http://schemas.microsoft.com/office/powerpoint/2010/main" val="48807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3" name="Google Shape;183;p21"/>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fr"/>
              <a:t>Résultat des requêtes SQL</a:t>
            </a:r>
            <a:endParaRPr/>
          </a:p>
          <a:p>
            <a:pPr marL="0" lvl="0" indent="0" algn="l" rtl="0">
              <a:spcBef>
                <a:spcPts val="0"/>
              </a:spcBef>
              <a:spcAft>
                <a:spcPts val="0"/>
              </a:spcAft>
              <a:buSzPts val="990"/>
              <a:buNone/>
            </a:pPr>
            <a:r>
              <a:rPr lang="fr" sz="1850"/>
              <a:t>Le chiffre d’affaires encaissé par employé</a:t>
            </a:r>
            <a:endParaRPr sz="1850"/>
          </a:p>
          <a:p>
            <a:pPr marL="0" lvl="0" indent="0" algn="l" rtl="0">
              <a:spcBef>
                <a:spcPts val="0"/>
              </a:spcBef>
              <a:spcAft>
                <a:spcPts val="0"/>
              </a:spcAft>
              <a:buSzPts val="990"/>
              <a:buNone/>
            </a:pPr>
            <a:endParaRPr/>
          </a:p>
        </p:txBody>
      </p:sp>
      <p:sp>
        <p:nvSpPr>
          <p:cNvPr id="182" name="Google Shape;182;p21"/>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marR="152400" lvl="0" indent="-285750" algn="l" rtl="0">
              <a:spcBef>
                <a:spcPts val="0"/>
              </a:spcBef>
              <a:spcAft>
                <a:spcPts val="0"/>
              </a:spcAft>
              <a:buClr>
                <a:srgbClr val="999999"/>
              </a:buClr>
              <a:buSzPts val="900"/>
              <a:buFont typeface="Inter"/>
              <a:buChar char="●"/>
            </a:pPr>
            <a:endParaRPr/>
          </a:p>
        </p:txBody>
      </p:sp>
      <p:pic>
        <p:nvPicPr>
          <p:cNvPr id="2" name="Image 1"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7500" y="1567550"/>
            <a:ext cx="5080985" cy="2911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784" y="342589"/>
            <a:ext cx="7392432" cy="4458322"/>
          </a:xfrm>
          <a:prstGeom prst="rect">
            <a:avLst/>
          </a:prstGeom>
        </p:spPr>
      </p:pic>
    </p:spTree>
    <p:extLst>
      <p:ext uri="{BB962C8B-B14F-4D97-AF65-F5344CB8AC3E}">
        <p14:creationId xmlns:p14="http://schemas.microsoft.com/office/powerpoint/2010/main" val="3745921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7237" y="2566987"/>
            <a:ext cx="9526" cy="9526"/>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126" y="405246"/>
            <a:ext cx="7325747" cy="4062244"/>
          </a:xfrm>
          <a:prstGeom prst="rect">
            <a:avLst/>
          </a:prstGeom>
        </p:spPr>
      </p:pic>
    </p:spTree>
    <p:extLst>
      <p:ext uri="{BB962C8B-B14F-4D97-AF65-F5344CB8AC3E}">
        <p14:creationId xmlns:p14="http://schemas.microsoft.com/office/powerpoint/2010/main" val="733640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7237" y="2566987"/>
            <a:ext cx="9526" cy="9526"/>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415" y="556931"/>
            <a:ext cx="7659169" cy="4029637"/>
          </a:xfrm>
          <a:prstGeom prst="rect">
            <a:avLst/>
          </a:prstGeom>
        </p:spPr>
      </p:pic>
    </p:spTree>
    <p:extLst>
      <p:ext uri="{BB962C8B-B14F-4D97-AF65-F5344CB8AC3E}">
        <p14:creationId xmlns:p14="http://schemas.microsoft.com/office/powerpoint/2010/main" val="3455663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027" y="914401"/>
            <a:ext cx="7942215" cy="2771930"/>
          </a:xfrm>
          <a:prstGeom prst="rect">
            <a:avLst/>
          </a:prstGeom>
        </p:spPr>
      </p:pic>
    </p:spTree>
    <p:extLst>
      <p:ext uri="{BB962C8B-B14F-4D97-AF65-F5344CB8AC3E}">
        <p14:creationId xmlns:p14="http://schemas.microsoft.com/office/powerpoint/2010/main" val="2084720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2"/>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Analyse des logs</a:t>
            </a:r>
            <a:endParaRPr/>
          </a:p>
          <a:p>
            <a:pPr marL="0" lvl="0" indent="0" algn="l" rtl="0">
              <a:spcBef>
                <a:spcPts val="0"/>
              </a:spcBef>
              <a:spcAft>
                <a:spcPts val="0"/>
              </a:spcAft>
              <a:buNone/>
            </a:pPr>
            <a:r>
              <a:rPr lang="fr"/>
              <a:t>Dictionnaire des données et explications</a:t>
            </a:r>
            <a:endParaRPr/>
          </a:p>
        </p:txBody>
      </p:sp>
      <p:sp>
        <p:nvSpPr>
          <p:cNvPr id="189" name="Google Shape;189;p22"/>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Nombre de logs</a:t>
            </a:r>
            <a:endParaRPr/>
          </a:p>
          <a:p>
            <a:pPr marL="0" lvl="0" indent="0" algn="l" rtl="0">
              <a:spcBef>
                <a:spcPts val="1200"/>
              </a:spcBef>
              <a:spcAft>
                <a:spcPts val="0"/>
              </a:spcAft>
              <a:buNone/>
            </a:pPr>
            <a:r>
              <a:rPr lang="fr"/>
              <a:t>Nombre de logs par action</a:t>
            </a:r>
            <a:endParaRPr/>
          </a:p>
          <a:p>
            <a:pPr marL="0" lvl="0" indent="0" algn="l" rtl="0">
              <a:spcBef>
                <a:spcPts val="1200"/>
              </a:spcBef>
              <a:spcAft>
                <a:spcPts val="0"/>
              </a:spcAft>
              <a:buNone/>
            </a:pPr>
            <a:r>
              <a:rPr lang="fr"/>
              <a:t>Explication des logs (quelle table, quelle modification…)</a:t>
            </a:r>
            <a:endParaRPr/>
          </a:p>
          <a:p>
            <a:pPr marL="0" lvl="0" indent="0" algn="l" rtl="0">
              <a:spcBef>
                <a:spcPts val="1200"/>
              </a:spcBef>
              <a:spcAft>
                <a:spcPts val="120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7237" y="2566987"/>
            <a:ext cx="9526" cy="9526"/>
          </a:xfrm>
          <a:prstGeom prst="rect">
            <a:avLst/>
          </a:prstGeom>
        </p:spPr>
      </p:pic>
      <p:pic>
        <p:nvPicPr>
          <p:cNvPr id="4" name="Image 3"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074" y="748145"/>
            <a:ext cx="6113400" cy="3564082"/>
          </a:xfrm>
          <a:prstGeom prst="rect">
            <a:avLst/>
          </a:prstGeom>
        </p:spPr>
      </p:pic>
    </p:spTree>
    <p:extLst>
      <p:ext uri="{BB962C8B-B14F-4D97-AF65-F5344CB8AC3E}">
        <p14:creationId xmlns:p14="http://schemas.microsoft.com/office/powerpoint/2010/main" val="1856448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8601"/>
            <a:ext cx="9144000" cy="4520044"/>
          </a:xfrm>
          <a:prstGeom prst="rect">
            <a:avLst/>
          </a:prstGeom>
        </p:spPr>
      </p:pic>
    </p:spTree>
    <p:extLst>
      <p:ext uri="{BB962C8B-B14F-4D97-AF65-F5344CB8AC3E}">
        <p14:creationId xmlns:p14="http://schemas.microsoft.com/office/powerpoint/2010/main" val="3950705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1018310" y="592282"/>
            <a:ext cx="6434598" cy="3875809"/>
          </a:xfrm>
          <a:prstGeom prst="rect">
            <a:avLst/>
          </a:prstGeom>
        </p:spPr>
      </p:pic>
    </p:spTree>
    <p:extLst>
      <p:ext uri="{BB962C8B-B14F-4D97-AF65-F5344CB8AC3E}">
        <p14:creationId xmlns:p14="http://schemas.microsoft.com/office/powerpoint/2010/main" val="1672087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4791" y="852055"/>
            <a:ext cx="5933209" cy="1077218"/>
          </a:xfrm>
          <a:prstGeom prst="rect">
            <a:avLst/>
          </a:prstGeom>
        </p:spPr>
        <p:txBody>
          <a:bodyPr wrap="square">
            <a:spAutoFit/>
          </a:bodyPr>
          <a:lstStyle/>
          <a:p>
            <a:r>
              <a:rPr lang="fr-FR" sz="3200" dirty="0" smtClean="0">
                <a:latin typeface="Calibri" panose="020F0502020204030204" pitchFamily="34" charset="0"/>
                <a:ea typeface="Calibri" panose="020F0502020204030204" pitchFamily="34" charset="0"/>
                <a:cs typeface="Times New Roman" panose="02020603050405020304" pitchFamily="18" charset="0"/>
              </a:rPr>
              <a:t>A présent ,les </a:t>
            </a:r>
            <a:r>
              <a:rPr lang="fr-FR" sz="3200" dirty="0">
                <a:latin typeface="Calibri" panose="020F0502020204030204" pitchFamily="34" charset="0"/>
                <a:ea typeface="Calibri" panose="020F0502020204030204" pitchFamily="34" charset="0"/>
                <a:cs typeface="Times New Roman" panose="02020603050405020304" pitchFamily="18" charset="0"/>
              </a:rPr>
              <a:t>requêtes SQL utilisées pour comprendre vos logs</a:t>
            </a:r>
            <a:endParaRPr lang="fr-FR" sz="3200" dirty="0"/>
          </a:p>
        </p:txBody>
      </p:sp>
    </p:spTree>
    <p:extLst>
      <p:ext uri="{BB962C8B-B14F-4D97-AF65-F5344CB8AC3E}">
        <p14:creationId xmlns:p14="http://schemas.microsoft.com/office/powerpoint/2010/main" val="2221596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2013264"/>
            <a:ext cx="4572000" cy="1116972"/>
          </a:xfrm>
          <a:prstGeom prst="rect">
            <a:avLst/>
          </a:prstGeom>
        </p:spPr>
        <p:txBody>
          <a:bodyPr>
            <a:spAutoFit/>
          </a:bodyPr>
          <a:lstStyle/>
          <a:p>
            <a:pPr>
              <a:lnSpc>
                <a:spcPct val="107000"/>
              </a:lnSpc>
              <a:spcAft>
                <a:spcPts val="800"/>
              </a:spcAft>
            </a:pPr>
            <a:r>
              <a:rPr lang="fr-FR" sz="2000" b="1" dirty="0">
                <a:latin typeface="Times New Roman" panose="02020603050405020304" pitchFamily="18" charset="0"/>
                <a:ea typeface="Times New Roman" panose="02020603050405020304" pitchFamily="18" charset="0"/>
                <a:cs typeface="Times New Roman" panose="02020603050405020304" pitchFamily="18" charset="0"/>
              </a:rPr>
              <a:t>1. Nombre total d'actions</a:t>
            </a:r>
            <a:endParaRPr lang="fr-FR"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dirty="0">
                <a:latin typeface="Times New Roman" panose="02020603050405020304" pitchFamily="18" charset="0"/>
                <a:ea typeface="Times New Roman" panose="02020603050405020304" pitchFamily="18" charset="0"/>
                <a:cs typeface="Times New Roman" panose="02020603050405020304" pitchFamily="18" charset="0"/>
              </a:rPr>
              <a:t>Cette requête va nous donner un aperçu du nombre total d'entrées dans le fichier de logs.</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22371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682" y="390220"/>
            <a:ext cx="6806045" cy="4363059"/>
          </a:xfrm>
          <a:prstGeom prst="rect">
            <a:avLst/>
          </a:prstGeom>
        </p:spPr>
      </p:pic>
    </p:spTree>
    <p:extLst>
      <p:ext uri="{BB962C8B-B14F-4D97-AF65-F5344CB8AC3E}">
        <p14:creationId xmlns:p14="http://schemas.microsoft.com/office/powerpoint/2010/main" val="2024961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7136" y="1694587"/>
            <a:ext cx="5870864" cy="1754326"/>
          </a:xfrm>
          <a:prstGeom prst="rect">
            <a:avLst/>
          </a:prstGeom>
        </p:spPr>
        <p:txBody>
          <a:bodyPr wrap="square">
            <a:spAutoFit/>
          </a:bodyPr>
          <a:lstStyle/>
          <a:p>
            <a:r>
              <a:rPr lang="fr-FR" dirty="0"/>
              <a:t>2. Nombre d'actions par type (INSERT, UPDATE, DELETE)</a:t>
            </a:r>
          </a:p>
          <a:p>
            <a:endParaRPr lang="fr-FR" dirty="0"/>
          </a:p>
          <a:p>
            <a:r>
              <a:rPr lang="fr-FR" dirty="0"/>
              <a:t>Cette requête est essentielle pour comprendre la répartition des actions effectuées sur votre base de données.</a:t>
            </a:r>
          </a:p>
        </p:txBody>
      </p:sp>
    </p:spTree>
    <p:extLst>
      <p:ext uri="{BB962C8B-B14F-4D97-AF65-F5344CB8AC3E}">
        <p14:creationId xmlns:p14="http://schemas.microsoft.com/office/powerpoint/2010/main" val="28336604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073" y="199694"/>
            <a:ext cx="6941127" cy="4744112"/>
          </a:xfrm>
          <a:prstGeom prst="rect">
            <a:avLst/>
          </a:prstGeom>
        </p:spPr>
      </p:pic>
    </p:spTree>
    <p:extLst>
      <p:ext uri="{BB962C8B-B14F-4D97-AF65-F5344CB8AC3E}">
        <p14:creationId xmlns:p14="http://schemas.microsoft.com/office/powerpoint/2010/main" val="31207683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1436" y="1833086"/>
            <a:ext cx="5756564" cy="1200329"/>
          </a:xfrm>
          <a:prstGeom prst="rect">
            <a:avLst/>
          </a:prstGeom>
        </p:spPr>
        <p:txBody>
          <a:bodyPr wrap="square">
            <a:spAutoFit/>
          </a:bodyPr>
          <a:lstStyle/>
          <a:p>
            <a:r>
              <a:rPr lang="fr-FR" b="1" dirty="0"/>
              <a:t>3. Activité par utilisateur</a:t>
            </a:r>
          </a:p>
          <a:p>
            <a:r>
              <a:rPr lang="fr-FR" dirty="0"/>
              <a:t>Cette requête vous montre le nombre d'actions effectuées par chaque utilisateur, ce qui peut être utile pour l'audit et la sécurité.</a:t>
            </a:r>
          </a:p>
        </p:txBody>
      </p:sp>
    </p:spTree>
    <p:extLst>
      <p:ext uri="{BB962C8B-B14F-4D97-AF65-F5344CB8AC3E}">
        <p14:creationId xmlns:p14="http://schemas.microsoft.com/office/powerpoint/2010/main" val="3084153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891" y="394855"/>
            <a:ext cx="6385981" cy="3453423"/>
          </a:xfrm>
          <a:prstGeom prst="rect">
            <a:avLst/>
          </a:prstGeom>
        </p:spPr>
      </p:pic>
    </p:spTree>
    <p:extLst>
      <p:ext uri="{BB962C8B-B14F-4D97-AF65-F5344CB8AC3E}">
        <p14:creationId xmlns:p14="http://schemas.microsoft.com/office/powerpoint/2010/main" val="4025483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4955" y="152062"/>
            <a:ext cx="6134917" cy="4839375"/>
          </a:xfrm>
          <a:prstGeom prst="rect">
            <a:avLst/>
          </a:prstGeom>
        </p:spPr>
      </p:pic>
    </p:spTree>
    <p:extLst>
      <p:ext uri="{BB962C8B-B14F-4D97-AF65-F5344CB8AC3E}">
        <p14:creationId xmlns:p14="http://schemas.microsoft.com/office/powerpoint/2010/main" val="18398451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191" y="1454727"/>
            <a:ext cx="6624155" cy="1817208"/>
          </a:xfrm>
          <a:prstGeom prst="rect">
            <a:avLst/>
          </a:prstGeom>
        </p:spPr>
      </p:pic>
    </p:spTree>
    <p:extLst>
      <p:ext uri="{BB962C8B-B14F-4D97-AF65-F5344CB8AC3E}">
        <p14:creationId xmlns:p14="http://schemas.microsoft.com/office/powerpoint/2010/main" val="20991286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2218" y="2110085"/>
            <a:ext cx="5735782" cy="923330"/>
          </a:xfrm>
          <a:prstGeom prst="rect">
            <a:avLst/>
          </a:prstGeom>
        </p:spPr>
        <p:txBody>
          <a:bodyPr wrap="square">
            <a:spAutoFit/>
          </a:bodyPr>
          <a:lstStyle/>
          <a:p>
            <a:r>
              <a:rPr lang="fr-FR" b="1" dirty="0"/>
              <a:t>4. Actions par table modifiée</a:t>
            </a:r>
          </a:p>
          <a:p>
            <a:r>
              <a:rPr lang="fr-FR" dirty="0"/>
              <a:t>Cette requête identifie les tables sur lesquelles les utilisateurs ont le plus agi.</a:t>
            </a:r>
          </a:p>
        </p:txBody>
      </p:sp>
    </p:spTree>
    <p:extLst>
      <p:ext uri="{BB962C8B-B14F-4D97-AF65-F5344CB8AC3E}">
        <p14:creationId xmlns:p14="http://schemas.microsoft.com/office/powerpoint/2010/main" val="12168016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791" y="152062"/>
            <a:ext cx="6257423" cy="4839375"/>
          </a:xfrm>
          <a:prstGeom prst="rect">
            <a:avLst/>
          </a:prstGeom>
        </p:spPr>
      </p:pic>
    </p:spTree>
    <p:extLst>
      <p:ext uri="{BB962C8B-B14F-4D97-AF65-F5344CB8AC3E}">
        <p14:creationId xmlns:p14="http://schemas.microsoft.com/office/powerpoint/2010/main" val="4159934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 y="935182"/>
            <a:ext cx="5829300" cy="923330"/>
          </a:xfrm>
          <a:prstGeom prst="rect">
            <a:avLst/>
          </a:prstGeom>
        </p:spPr>
        <p:txBody>
          <a:bodyPr wrap="square">
            <a:spAutoFit/>
          </a:bodyPr>
          <a:lstStyle/>
          <a:p>
            <a:r>
              <a:rPr lang="fr-FR" dirty="0"/>
              <a:t>Voici la requête SQL qui vous permettra de voir toutes les mises à jour des prix des produits qui ont eu lieu le 14 août (date 45518)</a:t>
            </a:r>
          </a:p>
        </p:txBody>
      </p:sp>
    </p:spTree>
    <p:extLst>
      <p:ext uri="{BB962C8B-B14F-4D97-AF65-F5344CB8AC3E}">
        <p14:creationId xmlns:p14="http://schemas.microsoft.com/office/powerpoint/2010/main" val="40058020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4657430"/>
          </a:xfrm>
          <a:prstGeom prst="rect">
            <a:avLst/>
          </a:prstGeom>
        </p:spPr>
      </p:pic>
    </p:spTree>
    <p:extLst>
      <p:ext uri="{BB962C8B-B14F-4D97-AF65-F5344CB8AC3E}">
        <p14:creationId xmlns:p14="http://schemas.microsoft.com/office/powerpoint/2010/main" val="6745845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9936" y="685800"/>
            <a:ext cx="6328064" cy="3970318"/>
          </a:xfrm>
          <a:prstGeom prst="rect">
            <a:avLst/>
          </a:prstGeom>
        </p:spPr>
        <p:txBody>
          <a:bodyPr wrap="square">
            <a:spAutoFit/>
          </a:bodyPr>
          <a:lstStyle/>
          <a:p>
            <a:r>
              <a:rPr lang="fr-FR" dirty="0"/>
              <a:t>La requête suivante va nous montrer si parmi les produits donc les prix ont étés modifies le 14 aout, certains ont </a:t>
            </a:r>
            <a:r>
              <a:rPr lang="fr-FR" dirty="0" smtClean="0"/>
              <a:t>été vendus </a:t>
            </a:r>
            <a:r>
              <a:rPr lang="fr-FR" dirty="0"/>
              <a:t>ou pas </a:t>
            </a:r>
            <a:endParaRPr lang="fr-FR" dirty="0" smtClean="0"/>
          </a:p>
          <a:p>
            <a:endParaRPr lang="fr-FR" dirty="0"/>
          </a:p>
          <a:p>
            <a:endParaRPr lang="fr-FR" dirty="0" smtClean="0"/>
          </a:p>
          <a:p>
            <a:r>
              <a:rPr lang="fr-FR" dirty="0" smtClean="0"/>
              <a:t>et</a:t>
            </a:r>
          </a:p>
          <a:p>
            <a:endParaRPr lang="fr-FR" dirty="0"/>
          </a:p>
          <a:p>
            <a:endParaRPr lang="fr-FR" dirty="0" smtClean="0"/>
          </a:p>
          <a:p>
            <a:endParaRPr lang="fr-FR" dirty="0"/>
          </a:p>
          <a:p>
            <a:endParaRPr lang="fr-FR" dirty="0" smtClean="0"/>
          </a:p>
          <a:p>
            <a:r>
              <a:rPr lang="fr-FR" dirty="0"/>
              <a:t>Si cette requête renvoie des résultats, cela signifie que les produits dont le prix a été modifié ont bien été vendus, ce qui confirme que la modification des prix est la cause de l'incohérence du chiffre d'affaires.</a:t>
            </a:r>
          </a:p>
        </p:txBody>
      </p:sp>
    </p:spTree>
    <p:extLst>
      <p:ext uri="{BB962C8B-B14F-4D97-AF65-F5344CB8AC3E}">
        <p14:creationId xmlns:p14="http://schemas.microsoft.com/office/powerpoint/2010/main" val="11275066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516274" cy="4143953"/>
          </a:xfrm>
          <a:prstGeom prst="rect">
            <a:avLst/>
          </a:prstGeom>
        </p:spPr>
      </p:pic>
    </p:spTree>
    <p:extLst>
      <p:ext uri="{BB962C8B-B14F-4D97-AF65-F5344CB8AC3E}">
        <p14:creationId xmlns:p14="http://schemas.microsoft.com/office/powerpoint/2010/main" val="21807093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7237" y="2566987"/>
            <a:ext cx="9526" cy="9526"/>
          </a:xfrm>
          <a:prstGeom prst="rect">
            <a:avLst/>
          </a:prstGeom>
        </p:spPr>
      </p:pic>
      <p:pic>
        <p:nvPicPr>
          <p:cNvPr id="4" name="Image 3"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763"/>
            <a:ext cx="7363716" cy="5143500"/>
          </a:xfrm>
          <a:prstGeom prst="rect">
            <a:avLst/>
          </a:prstGeom>
        </p:spPr>
      </p:pic>
    </p:spTree>
    <p:extLst>
      <p:ext uri="{BB962C8B-B14F-4D97-AF65-F5344CB8AC3E}">
        <p14:creationId xmlns:p14="http://schemas.microsoft.com/office/powerpoint/2010/main" val="23613594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737" y="83127"/>
            <a:ext cx="6785264" cy="2308324"/>
          </a:xfrm>
          <a:prstGeom prst="rect">
            <a:avLst/>
          </a:prstGeom>
        </p:spPr>
        <p:txBody>
          <a:bodyPr wrap="square">
            <a:spAutoFit/>
          </a:bodyPr>
          <a:lstStyle/>
          <a:p>
            <a:r>
              <a:rPr lang="fr-FR" dirty="0"/>
              <a:t>Ce résultat confirme que :</a:t>
            </a:r>
          </a:p>
          <a:p>
            <a:endParaRPr lang="fr-FR" dirty="0"/>
          </a:p>
          <a:p>
            <a:r>
              <a:rPr lang="fr-FR" dirty="0"/>
              <a:t>    Les produits dont les prix ont été modifiés le 14 août (date 45518) ont bien été vendus le 14 août.</a:t>
            </a:r>
          </a:p>
          <a:p>
            <a:endParaRPr lang="fr-FR" dirty="0"/>
          </a:p>
          <a:p>
            <a:r>
              <a:rPr lang="fr-FR" dirty="0"/>
              <a:t>    Les colonnes </a:t>
            </a:r>
            <a:r>
              <a:rPr lang="fr-FR" dirty="0" err="1"/>
              <a:t>ean</a:t>
            </a:r>
            <a:r>
              <a:rPr lang="fr-FR" dirty="0"/>
              <a:t>, </a:t>
            </a:r>
            <a:r>
              <a:rPr lang="fr-FR" dirty="0" err="1"/>
              <a:t>date_achat</a:t>
            </a:r>
            <a:r>
              <a:rPr lang="fr-FR" dirty="0"/>
              <a:t> et </a:t>
            </a:r>
            <a:r>
              <a:rPr lang="fr-FR" dirty="0" err="1"/>
              <a:t>id_ticket</a:t>
            </a:r>
            <a:r>
              <a:rPr lang="fr-FR" dirty="0"/>
              <a:t> montrent que ces ventes ont eu lieu à la même date que la modification des prix.</a:t>
            </a:r>
          </a:p>
          <a:p>
            <a:endParaRPr lang="fr-FR" dirty="0"/>
          </a:p>
        </p:txBody>
      </p:sp>
    </p:spTree>
    <p:extLst>
      <p:ext uri="{BB962C8B-B14F-4D97-AF65-F5344CB8AC3E}">
        <p14:creationId xmlns:p14="http://schemas.microsoft.com/office/powerpoint/2010/main" val="9541779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0555" y="863590"/>
            <a:ext cx="6577445" cy="2585323"/>
          </a:xfrm>
          <a:prstGeom prst="rect">
            <a:avLst/>
          </a:prstGeom>
        </p:spPr>
        <p:txBody>
          <a:bodyPr wrap="square">
            <a:spAutoFit/>
          </a:bodyPr>
          <a:lstStyle/>
          <a:p>
            <a:endParaRPr lang="fr-FR" dirty="0"/>
          </a:p>
          <a:p>
            <a:r>
              <a:rPr lang="fr-FR" dirty="0" smtClean="0"/>
              <a:t>Maintenant déterminons </a:t>
            </a:r>
            <a:r>
              <a:rPr lang="fr-FR" dirty="0"/>
              <a:t>si tous les produits mis à jour ont </a:t>
            </a:r>
            <a:r>
              <a:rPr lang="fr-FR" dirty="0" smtClean="0"/>
              <a:t>tous été vendus ou pas , </a:t>
            </a:r>
            <a:r>
              <a:rPr lang="fr-FR" dirty="0"/>
              <a:t>voici une nouvelle approche </a:t>
            </a:r>
            <a:r>
              <a:rPr lang="fr-FR" dirty="0" smtClean="0"/>
              <a:t>:</a:t>
            </a:r>
          </a:p>
          <a:p>
            <a:endParaRPr lang="fr-FR" dirty="0"/>
          </a:p>
          <a:p>
            <a:pPr>
              <a:buFont typeface="+mj-lt"/>
              <a:buAutoNum type="arabicPeriod"/>
            </a:pPr>
            <a:r>
              <a:rPr lang="fr-FR" dirty="0"/>
              <a:t>Comptez le nombre de produits uniques dont le prix a été mis à jour le 14 août</a:t>
            </a:r>
            <a:r>
              <a:rPr lang="fr-FR" dirty="0" smtClean="0"/>
              <a:t>.</a:t>
            </a:r>
            <a:endParaRPr lang="fr-FR" dirty="0"/>
          </a:p>
          <a:p>
            <a:pPr>
              <a:buFont typeface="+mj-lt"/>
              <a:buAutoNum type="arabicPeriod"/>
            </a:pPr>
            <a:r>
              <a:rPr lang="fr-FR" dirty="0"/>
              <a:t>Comptez le nombre de produits uniques de cette liste qui ont été vendus.</a:t>
            </a:r>
          </a:p>
          <a:p>
            <a:pPr>
              <a:buFont typeface="+mj-lt"/>
              <a:buAutoNum type="arabicPeriod"/>
            </a:pPr>
            <a:r>
              <a:rPr lang="fr-FR" dirty="0"/>
              <a:t>Comparez les deux nombres.</a:t>
            </a:r>
          </a:p>
        </p:txBody>
      </p:sp>
    </p:spTree>
    <p:extLst>
      <p:ext uri="{BB962C8B-B14F-4D97-AF65-F5344CB8AC3E}">
        <p14:creationId xmlns:p14="http://schemas.microsoft.com/office/powerpoint/2010/main" val="4524328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7818"/>
            <a:ext cx="9144000" cy="3519932"/>
          </a:xfrm>
          <a:prstGeom prst="rect">
            <a:avLst/>
          </a:prstGeom>
        </p:spPr>
      </p:pic>
    </p:spTree>
    <p:extLst>
      <p:ext uri="{BB962C8B-B14F-4D97-AF65-F5344CB8AC3E}">
        <p14:creationId xmlns:p14="http://schemas.microsoft.com/office/powerpoint/2010/main" val="17934464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440063" cy="4048690"/>
          </a:xfrm>
          <a:prstGeom prst="rect">
            <a:avLst/>
          </a:prstGeom>
        </p:spPr>
      </p:pic>
    </p:spTree>
    <p:extLst>
      <p:ext uri="{BB962C8B-B14F-4D97-AF65-F5344CB8AC3E}">
        <p14:creationId xmlns:p14="http://schemas.microsoft.com/office/powerpoint/2010/main" val="40367560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691" y="725091"/>
            <a:ext cx="6733309" cy="2862322"/>
          </a:xfrm>
          <a:prstGeom prst="rect">
            <a:avLst/>
          </a:prstGeom>
        </p:spPr>
        <p:txBody>
          <a:bodyPr wrap="square">
            <a:spAutoFit/>
          </a:bodyPr>
          <a:lstStyle/>
          <a:p>
            <a:r>
              <a:rPr lang="fr-FR" dirty="0" smtClean="0"/>
              <a:t>ANALYSE </a:t>
            </a:r>
            <a:r>
              <a:rPr lang="fr-FR" dirty="0"/>
              <a:t>:</a:t>
            </a:r>
          </a:p>
          <a:p>
            <a:endParaRPr lang="fr-FR" dirty="0"/>
          </a:p>
          <a:p>
            <a:r>
              <a:rPr lang="fr-FR" dirty="0"/>
              <a:t>Sur les 575 produits dont les prix ont été ajustés le 14 août, seuls 5 ont été vendus ce jour-là. Cela confirme que l'incohérence de votre chiffre d'affaires est due à la modification des prix de ces 5 produits.</a:t>
            </a:r>
          </a:p>
          <a:p>
            <a:endParaRPr lang="fr-FR" dirty="0"/>
          </a:p>
          <a:p>
            <a:r>
              <a:rPr lang="fr-FR" dirty="0"/>
              <a:t>Les mises à jour des prix des 570 autres produits n'ont pas d'impact sur le chiffre d'affaires du 14 août, car ces produits n'ont pas été vendus ce jour-là</a:t>
            </a:r>
          </a:p>
        </p:txBody>
      </p:sp>
    </p:spTree>
    <p:extLst>
      <p:ext uri="{BB962C8B-B14F-4D97-AF65-F5344CB8AC3E}">
        <p14:creationId xmlns:p14="http://schemas.microsoft.com/office/powerpoint/2010/main" val="12818339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0555" y="633845"/>
            <a:ext cx="6577445" cy="646331"/>
          </a:xfrm>
          <a:prstGeom prst="rect">
            <a:avLst/>
          </a:prstGeom>
        </p:spPr>
        <p:txBody>
          <a:bodyPr wrap="square">
            <a:spAutoFit/>
          </a:bodyPr>
          <a:lstStyle/>
          <a:p>
            <a:r>
              <a:rPr lang="fr-FR" dirty="0"/>
              <a:t>Voici la requête SQL pour afficher toutes les entrées de log qui correspondent à une insertion le 15 août</a:t>
            </a:r>
          </a:p>
        </p:txBody>
      </p:sp>
    </p:spTree>
    <p:extLst>
      <p:ext uri="{BB962C8B-B14F-4D97-AF65-F5344CB8AC3E}">
        <p14:creationId xmlns:p14="http://schemas.microsoft.com/office/powerpoint/2010/main" val="24349652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4081"/>
            <a:ext cx="9144000" cy="4695338"/>
          </a:xfrm>
          <a:prstGeom prst="rect">
            <a:avLst/>
          </a:prstGeom>
        </p:spPr>
      </p:pic>
    </p:spTree>
    <p:extLst>
      <p:ext uri="{BB962C8B-B14F-4D97-AF65-F5344CB8AC3E}">
        <p14:creationId xmlns:p14="http://schemas.microsoft.com/office/powerpoint/2010/main" val="8191439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5864" y="166254"/>
            <a:ext cx="6702136" cy="2862322"/>
          </a:xfrm>
          <a:prstGeom prst="rect">
            <a:avLst/>
          </a:prstGeom>
        </p:spPr>
        <p:txBody>
          <a:bodyPr wrap="square">
            <a:spAutoFit/>
          </a:bodyPr>
          <a:lstStyle/>
          <a:p>
            <a:r>
              <a:rPr lang="fr-FR" dirty="0" smtClean="0"/>
              <a:t>il </a:t>
            </a:r>
            <a:r>
              <a:rPr lang="fr-FR" dirty="0"/>
              <a:t>est très important de noter que ces insertions ne concernent pas la table PRODUIT, mais la table VENTE (comme le montre la colonne </a:t>
            </a:r>
            <a:r>
              <a:rPr lang="fr-FR" dirty="0" err="1"/>
              <a:t>table_insert</a:t>
            </a:r>
            <a:r>
              <a:rPr lang="fr-FR" dirty="0"/>
              <a:t> des logs).</a:t>
            </a:r>
          </a:p>
          <a:p>
            <a:endParaRPr lang="fr-FR" dirty="0"/>
          </a:p>
          <a:p>
            <a:r>
              <a:rPr lang="fr-FR" dirty="0"/>
              <a:t>Cela signifie que :</a:t>
            </a:r>
          </a:p>
          <a:p>
            <a:endParaRPr lang="fr-FR" dirty="0"/>
          </a:p>
          <a:p>
            <a:r>
              <a:rPr lang="fr-FR" dirty="0"/>
              <a:t>    Bien que vos magasins aient été fermés le 15 août.</a:t>
            </a:r>
          </a:p>
          <a:p>
            <a:endParaRPr lang="fr-FR" dirty="0"/>
          </a:p>
          <a:p>
            <a:r>
              <a:rPr lang="fr-FR" dirty="0"/>
              <a:t>    De nouvelles transactions de ventes ont été enregistrées dans votre base de données ce jour-là.</a:t>
            </a:r>
          </a:p>
        </p:txBody>
      </p:sp>
    </p:spTree>
    <p:extLst>
      <p:ext uri="{BB962C8B-B14F-4D97-AF65-F5344CB8AC3E}">
        <p14:creationId xmlns:p14="http://schemas.microsoft.com/office/powerpoint/2010/main" val="10370919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5964" y="862445"/>
            <a:ext cx="5902036" cy="646331"/>
          </a:xfrm>
          <a:prstGeom prst="rect">
            <a:avLst/>
          </a:prstGeom>
        </p:spPr>
        <p:txBody>
          <a:bodyPr wrap="square">
            <a:spAutoFit/>
          </a:bodyPr>
          <a:lstStyle/>
          <a:p>
            <a:r>
              <a:rPr lang="fr-FR" dirty="0"/>
              <a:t>voici une requête qui compte le nombre de ventes uniques qui ont été insérées le 15 août</a:t>
            </a:r>
          </a:p>
        </p:txBody>
      </p:sp>
    </p:spTree>
    <p:extLst>
      <p:ext uri="{BB962C8B-B14F-4D97-AF65-F5344CB8AC3E}">
        <p14:creationId xmlns:p14="http://schemas.microsoft.com/office/powerpoint/2010/main" val="20502751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677957" cy="5068007"/>
          </a:xfrm>
          <a:prstGeom prst="rect">
            <a:avLst/>
          </a:prstGeom>
        </p:spPr>
      </p:pic>
    </p:spTree>
    <p:extLst>
      <p:ext uri="{BB962C8B-B14F-4D97-AF65-F5344CB8AC3E}">
        <p14:creationId xmlns:p14="http://schemas.microsoft.com/office/powerpoint/2010/main" val="40149760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6858000" cy="5078313"/>
          </a:xfrm>
          <a:prstGeom prst="rect">
            <a:avLst/>
          </a:prstGeom>
        </p:spPr>
        <p:txBody>
          <a:bodyPr wrap="square">
            <a:spAutoFit/>
          </a:bodyPr>
          <a:lstStyle/>
          <a:p>
            <a:r>
              <a:rPr lang="fr-FR" dirty="0"/>
              <a:t>Le résultat 1379 confirme que, malgré la fermeture des magasins, 1379 transactions de vente uniques ont été insérées dans votre base de données le 15 août.</a:t>
            </a:r>
          </a:p>
          <a:p>
            <a:endParaRPr lang="fr-FR" dirty="0"/>
          </a:p>
          <a:p>
            <a:r>
              <a:rPr lang="fr-FR" dirty="0" smtClean="0"/>
              <a:t>ANALYSE </a:t>
            </a:r>
            <a:r>
              <a:rPr lang="fr-FR" dirty="0"/>
              <a:t>:</a:t>
            </a:r>
          </a:p>
          <a:p>
            <a:endParaRPr lang="fr-FR" dirty="0"/>
          </a:p>
          <a:p>
            <a:r>
              <a:rPr lang="fr-FR" dirty="0"/>
              <a:t>Votre problème d'incohérence du chiffre d'affaires n'est pas seulement causé par les modifications de prix. Il est également causé par l'ajout de nouvelles ventes qui n'ont pas été enregistrées le jour où elles ont eu lieu.</a:t>
            </a:r>
          </a:p>
          <a:p>
            <a:endParaRPr lang="fr-FR" dirty="0"/>
          </a:p>
          <a:p>
            <a:r>
              <a:rPr lang="fr-FR" dirty="0"/>
              <a:t>Ces 1379 ventes sont probablement des transactions différées (ventes du 14 août ou d'un autre jour qui n'ont été traitées et insérées dans le système que le lendemain) ou bien des ventes qui ont été ajoutées manuellement.</a:t>
            </a:r>
          </a:p>
          <a:p>
            <a:r>
              <a:rPr lang="fr-FR" dirty="0" smtClean="0"/>
              <a:t>Ce </a:t>
            </a:r>
            <a:r>
              <a:rPr lang="fr-FR" dirty="0"/>
              <a:t>flux de données retardé est une source majeure d'incohérence car le chiffre d'affaires calculé le 14 août n'incluait pas ces ventes</a:t>
            </a:r>
          </a:p>
        </p:txBody>
      </p:sp>
    </p:spTree>
    <p:extLst>
      <p:ext uri="{BB962C8B-B14F-4D97-AF65-F5344CB8AC3E}">
        <p14:creationId xmlns:p14="http://schemas.microsoft.com/office/powerpoint/2010/main" val="40104627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6582" y="581891"/>
            <a:ext cx="6151418" cy="1200329"/>
          </a:xfrm>
          <a:prstGeom prst="rect">
            <a:avLst/>
          </a:prstGeom>
        </p:spPr>
        <p:txBody>
          <a:bodyPr wrap="square">
            <a:spAutoFit/>
          </a:bodyPr>
          <a:lstStyle/>
          <a:p>
            <a:r>
              <a:rPr lang="fr-FR" dirty="0"/>
              <a:t>Pour en savoir plus sur ces ventes, voici une requête qui vous montrera les détails de ces 1379 transactions, notamment la date de la vente réelle (qui pourrait être le 14 août, ou une autre date</a:t>
            </a:r>
          </a:p>
        </p:txBody>
      </p:sp>
    </p:spTree>
    <p:extLst>
      <p:ext uri="{BB962C8B-B14F-4D97-AF65-F5344CB8AC3E}">
        <p14:creationId xmlns:p14="http://schemas.microsoft.com/office/powerpoint/2010/main" val="25852793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707732" cy="5143500"/>
          </a:xfrm>
          <a:prstGeom prst="rect">
            <a:avLst/>
          </a:prstGeom>
        </p:spPr>
      </p:pic>
    </p:spTree>
    <p:extLst>
      <p:ext uri="{BB962C8B-B14F-4D97-AF65-F5344CB8AC3E}">
        <p14:creationId xmlns:p14="http://schemas.microsoft.com/office/powerpoint/2010/main" val="15565376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8536" y="924792"/>
            <a:ext cx="6099464" cy="923330"/>
          </a:xfrm>
          <a:prstGeom prst="rect">
            <a:avLst/>
          </a:prstGeom>
        </p:spPr>
        <p:txBody>
          <a:bodyPr wrap="square">
            <a:spAutoFit/>
          </a:bodyPr>
          <a:lstStyle/>
          <a:p>
            <a:r>
              <a:rPr lang="fr-FR" dirty="0"/>
              <a:t>Le résultat de </a:t>
            </a:r>
            <a:r>
              <a:rPr lang="fr-FR" dirty="0" smtClean="0"/>
              <a:t>la </a:t>
            </a:r>
            <a:r>
              <a:rPr lang="fr-FR" dirty="0"/>
              <a:t>requête montre que la valeur dans la colonne "Date de la vente" est 45518 </a:t>
            </a:r>
            <a:r>
              <a:rPr lang="fr-FR" dirty="0" smtClean="0"/>
              <a:t>(14 aout) pour </a:t>
            </a:r>
            <a:r>
              <a:rPr lang="fr-FR" dirty="0"/>
              <a:t>toutes les transactions.</a:t>
            </a:r>
          </a:p>
        </p:txBody>
      </p:sp>
    </p:spTree>
    <p:extLst>
      <p:ext uri="{BB962C8B-B14F-4D97-AF65-F5344CB8AC3E}">
        <p14:creationId xmlns:p14="http://schemas.microsoft.com/office/powerpoint/2010/main" val="13162648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858000" cy="5078313"/>
          </a:xfrm>
          <a:prstGeom prst="rect">
            <a:avLst/>
          </a:prstGeom>
        </p:spPr>
        <p:txBody>
          <a:bodyPr wrap="square">
            <a:spAutoFit/>
          </a:bodyPr>
          <a:lstStyle/>
          <a:p>
            <a:r>
              <a:rPr lang="fr-FR" dirty="0"/>
              <a:t>Résumé des causes de l'incohérence :</a:t>
            </a:r>
          </a:p>
          <a:p>
            <a:endParaRPr lang="fr-FR" dirty="0"/>
          </a:p>
          <a:p>
            <a:r>
              <a:rPr lang="fr-FR" dirty="0"/>
              <a:t>Votre problème de chiffre d'affaires a deux causes distinctes mais liées :</a:t>
            </a:r>
          </a:p>
          <a:p>
            <a:endParaRPr lang="fr-FR" dirty="0"/>
          </a:p>
          <a:p>
            <a:r>
              <a:rPr lang="fr-FR" dirty="0"/>
              <a:t>    Mises à jour des prix : Des prix de produits ont été modifiés le 14 août, ce qui a affecté le calcul du chiffre d'affaires du jour en se basant sur les nouveaux prix.</a:t>
            </a:r>
          </a:p>
          <a:p>
            <a:endParaRPr lang="fr-FR" dirty="0"/>
          </a:p>
          <a:p>
            <a:r>
              <a:rPr lang="fr-FR" dirty="0"/>
              <a:t>    Transactions différées : Un lot de 1379 ventes a été enregistré le 14 août, mais n'a été inséré dans votre base de données que le lendemain, le 15 août</a:t>
            </a:r>
            <a:r>
              <a:rPr lang="fr-FR" dirty="0" smtClean="0"/>
              <a:t>.</a:t>
            </a:r>
          </a:p>
          <a:p>
            <a:endParaRPr lang="fr-FR" dirty="0" smtClean="0"/>
          </a:p>
          <a:p>
            <a:r>
              <a:rPr lang="fr-FR" dirty="0">
                <a:solidFill>
                  <a:prstClr val="black"/>
                </a:solidFill>
              </a:rPr>
              <a:t>Sur les 575 produits dont les prix ont été ajustés le 14 août, seuls 5 ont été vendus ce jour-là. Cela </a:t>
            </a:r>
            <a:r>
              <a:rPr lang="fr-FR" dirty="0" smtClean="0">
                <a:solidFill>
                  <a:prstClr val="black"/>
                </a:solidFill>
              </a:rPr>
              <a:t>peut avoir un impact sur l'incohérence </a:t>
            </a:r>
            <a:r>
              <a:rPr lang="fr-FR" dirty="0">
                <a:solidFill>
                  <a:prstClr val="black"/>
                </a:solidFill>
              </a:rPr>
              <a:t>de votre chiffre d'affaires est due à la modification des prix de ces 5 produits</a:t>
            </a:r>
            <a:endParaRPr lang="fr-FR" dirty="0"/>
          </a:p>
          <a:p>
            <a:endParaRPr lang="fr-FR" dirty="0"/>
          </a:p>
        </p:txBody>
      </p:sp>
    </p:spTree>
    <p:extLst>
      <p:ext uri="{BB962C8B-B14F-4D97-AF65-F5344CB8AC3E}">
        <p14:creationId xmlns:p14="http://schemas.microsoft.com/office/powerpoint/2010/main" val="41758216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945" y="540327"/>
            <a:ext cx="6567055" cy="1477328"/>
          </a:xfrm>
          <a:prstGeom prst="rect">
            <a:avLst/>
          </a:prstGeom>
        </p:spPr>
        <p:txBody>
          <a:bodyPr wrap="square">
            <a:spAutoFit/>
          </a:bodyPr>
          <a:lstStyle/>
          <a:p>
            <a:r>
              <a:rPr lang="fr-FR" dirty="0"/>
              <a:t>Lorsque vous avez calculé le chiffre d'affaires le 14 août, vous avez obtenu la première valeur (275 186,59 €). Le calcul effectué le 16 août a, quant à lui, intégré les prix mis à jour ET les 1379 ventes différées, ce qui a provoqué l'écart et la hausse de la valeur (284 243,88 €).</a:t>
            </a:r>
          </a:p>
        </p:txBody>
      </p:sp>
    </p:spTree>
    <p:extLst>
      <p:ext uri="{BB962C8B-B14F-4D97-AF65-F5344CB8AC3E}">
        <p14:creationId xmlns:p14="http://schemas.microsoft.com/office/powerpoint/2010/main" val="35043357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9545" y="561109"/>
            <a:ext cx="6338455" cy="1200329"/>
          </a:xfrm>
          <a:prstGeom prst="rect">
            <a:avLst/>
          </a:prstGeom>
        </p:spPr>
        <p:txBody>
          <a:bodyPr wrap="square">
            <a:spAutoFit/>
          </a:bodyPr>
          <a:lstStyle/>
          <a:p>
            <a:r>
              <a:rPr lang="fr-FR" dirty="0"/>
              <a:t>Sur les 575 produits dont les prix ont été ajustés le 14 août, </a:t>
            </a:r>
            <a:r>
              <a:rPr lang="fr-FR" dirty="0" smtClean="0"/>
              <a:t>donc seuls </a:t>
            </a:r>
            <a:r>
              <a:rPr lang="fr-FR" dirty="0"/>
              <a:t>5 ont été vendus ce </a:t>
            </a:r>
            <a:r>
              <a:rPr lang="fr-FR" dirty="0" smtClean="0"/>
              <a:t>jour-là, cherchons a savoir si ses 5 ventes font parties des 1379 ventes</a:t>
            </a:r>
          </a:p>
          <a:p>
            <a:r>
              <a:rPr lang="fr-FR" dirty="0" smtClean="0"/>
              <a:t>Voici une requête pou savoir</a:t>
            </a:r>
            <a:endParaRPr lang="fr-FR" dirty="0"/>
          </a:p>
        </p:txBody>
      </p:sp>
    </p:spTree>
    <p:extLst>
      <p:ext uri="{BB962C8B-B14F-4D97-AF65-F5344CB8AC3E}">
        <p14:creationId xmlns:p14="http://schemas.microsoft.com/office/powerpoint/2010/main" val="14809781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506748" cy="3696216"/>
          </a:xfrm>
          <a:prstGeom prst="rect">
            <a:avLst/>
          </a:prstGeom>
        </p:spPr>
      </p:pic>
    </p:spTree>
    <p:extLst>
      <p:ext uri="{BB962C8B-B14F-4D97-AF65-F5344CB8AC3E}">
        <p14:creationId xmlns:p14="http://schemas.microsoft.com/office/powerpoint/2010/main" val="4430005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63853" cy="4744112"/>
          </a:xfrm>
          <a:prstGeom prst="rect">
            <a:avLst/>
          </a:prstGeom>
        </p:spPr>
      </p:pic>
    </p:spTree>
    <p:extLst>
      <p:ext uri="{BB962C8B-B14F-4D97-AF65-F5344CB8AC3E}">
        <p14:creationId xmlns:p14="http://schemas.microsoft.com/office/powerpoint/2010/main" val="23097820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785264" cy="3693319"/>
          </a:xfrm>
          <a:prstGeom prst="rect">
            <a:avLst/>
          </a:prstGeom>
        </p:spPr>
        <p:txBody>
          <a:bodyPr wrap="square">
            <a:spAutoFit/>
          </a:bodyPr>
          <a:lstStyle/>
          <a:p>
            <a:r>
              <a:rPr lang="fr-FR" dirty="0"/>
              <a:t>Le résultat de 48 </a:t>
            </a:r>
            <a:endParaRPr lang="fr-FR" dirty="0" smtClean="0"/>
          </a:p>
          <a:p>
            <a:r>
              <a:rPr lang="fr-FR" dirty="0" smtClean="0"/>
              <a:t>Cela </a:t>
            </a:r>
            <a:r>
              <a:rPr lang="fr-FR" dirty="0"/>
              <a:t>signifie que, parmi les 1379 ventes insérées le 15 août, 48 transactions concernent les 5 produits dont les prix ont été modifiés le 14 août.</a:t>
            </a:r>
          </a:p>
          <a:p>
            <a:endParaRPr lang="fr-FR" dirty="0"/>
          </a:p>
          <a:p>
            <a:r>
              <a:rPr lang="fr-FR" dirty="0"/>
              <a:t>En d'autres termes :</a:t>
            </a:r>
          </a:p>
          <a:p>
            <a:endParaRPr lang="fr-FR" dirty="0"/>
          </a:p>
          <a:p>
            <a:r>
              <a:rPr lang="fr-FR" dirty="0" smtClean="0"/>
              <a:t>'il </a:t>
            </a:r>
            <a:r>
              <a:rPr lang="fr-FR" dirty="0"/>
              <a:t>y avait 5 types de produits uniques (EAN) dont les prix avaient été modifiés et qui avaient été vendus.</a:t>
            </a:r>
          </a:p>
          <a:p>
            <a:endParaRPr lang="fr-FR" dirty="0"/>
          </a:p>
          <a:p>
            <a:r>
              <a:rPr lang="fr-FR" dirty="0"/>
              <a:t>    Votre dernière requête montre que ces 5 produits ont été vendus un total de 48 fois dans le lot de transactions qui a été inséré en retard.</a:t>
            </a:r>
          </a:p>
        </p:txBody>
      </p:sp>
    </p:spTree>
    <p:extLst>
      <p:ext uri="{BB962C8B-B14F-4D97-AF65-F5344CB8AC3E}">
        <p14:creationId xmlns:p14="http://schemas.microsoft.com/office/powerpoint/2010/main" val="32273442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4"/>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t>Recommandations pour l’entreprise</a:t>
            </a:r>
            <a:endParaRPr dirty="0"/>
          </a:p>
          <a:p>
            <a:pPr marL="457200" lvl="0" indent="-346075" algn="l" rtl="0">
              <a:spcBef>
                <a:spcPts val="0"/>
              </a:spcBef>
              <a:spcAft>
                <a:spcPts val="0"/>
              </a:spcAft>
              <a:buSzPts val="1850"/>
              <a:buChar char="●"/>
            </a:pPr>
            <a:r>
              <a:rPr lang="fr" sz="1850" dirty="0"/>
              <a:t>Actions à mettre en place </a:t>
            </a:r>
            <a:endParaRPr sz="1850" dirty="0"/>
          </a:p>
          <a:p>
            <a:pPr marL="457200" lvl="0" indent="-346075" algn="l" rtl="0">
              <a:spcBef>
                <a:spcPts val="0"/>
              </a:spcBef>
              <a:spcAft>
                <a:spcPts val="0"/>
              </a:spcAft>
              <a:buSzPts val="1850"/>
              <a:buChar char="●"/>
            </a:pPr>
            <a:r>
              <a:rPr lang="fr" sz="1850" dirty="0"/>
              <a:t>Prototype </a:t>
            </a:r>
            <a:endParaRPr sz="1850" dirty="0"/>
          </a:p>
        </p:txBody>
      </p:sp>
      <p:sp>
        <p:nvSpPr>
          <p:cNvPr id="2" name="Rectangle 1"/>
          <p:cNvSpPr/>
          <p:nvPr/>
        </p:nvSpPr>
        <p:spPr>
          <a:xfrm>
            <a:off x="966355" y="2067791"/>
            <a:ext cx="5891645" cy="1477328"/>
          </a:xfrm>
          <a:prstGeom prst="rect">
            <a:avLst/>
          </a:prstGeom>
        </p:spPr>
        <p:txBody>
          <a:bodyPr wrap="square">
            <a:spAutoFit/>
          </a:bodyPr>
          <a:lstStyle/>
          <a:p>
            <a:r>
              <a:rPr lang="fr-FR" dirty="0"/>
              <a:t>recommandations pour votre entreprise, basées sur l'analyse que nous avons effectuée. Les incohérences de votre chiffre d'affaires proviennent de deux problèmes distincts qui nécessitent des solutions différentes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9936" y="1417588"/>
            <a:ext cx="6328064" cy="1477328"/>
          </a:xfrm>
          <a:prstGeom prst="rect">
            <a:avLst/>
          </a:prstGeom>
        </p:spPr>
        <p:txBody>
          <a:bodyPr wrap="square">
            <a:spAutoFit/>
          </a:bodyPr>
          <a:lstStyle/>
          <a:p>
            <a:r>
              <a:rPr lang="fr-FR" dirty="0"/>
              <a:t>Recommandation 1 : Traiter les mises à jour des prix</a:t>
            </a:r>
          </a:p>
          <a:p>
            <a:endParaRPr lang="fr-FR" dirty="0"/>
          </a:p>
          <a:p>
            <a:r>
              <a:rPr lang="fr-FR" dirty="0"/>
              <a:t>Le problème : Les prix des produits sont modifiés dans </a:t>
            </a:r>
            <a:r>
              <a:rPr lang="fr-FR" dirty="0" smtClean="0"/>
              <a:t>la </a:t>
            </a:r>
            <a:r>
              <a:rPr lang="fr-FR" dirty="0"/>
              <a:t>base de données après la réalisation des ventes, ce qui fausse le calcul du chiffre d'affaires historique</a:t>
            </a:r>
          </a:p>
        </p:txBody>
      </p:sp>
    </p:spTree>
    <p:extLst>
      <p:ext uri="{BB962C8B-B14F-4D97-AF65-F5344CB8AC3E}">
        <p14:creationId xmlns:p14="http://schemas.microsoft.com/office/powerpoint/2010/main" val="13796861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858000" cy="5078313"/>
          </a:xfrm>
          <a:prstGeom prst="rect">
            <a:avLst/>
          </a:prstGeom>
        </p:spPr>
        <p:txBody>
          <a:bodyPr wrap="square">
            <a:spAutoFit/>
          </a:bodyPr>
          <a:lstStyle/>
          <a:p>
            <a:r>
              <a:rPr lang="fr-FR" b="1" dirty="0"/>
              <a:t>Actions à mettre en place </a:t>
            </a:r>
            <a:r>
              <a:rPr lang="fr-FR" dirty="0"/>
              <a:t>:</a:t>
            </a:r>
          </a:p>
          <a:p>
            <a:endParaRPr lang="fr-FR" dirty="0"/>
          </a:p>
          <a:p>
            <a:r>
              <a:rPr lang="fr-FR" dirty="0"/>
              <a:t>    Séparation des prix : Ne modifiez jamais le prix dans la table des produits sans en avoir une trace. Le prix d'une vente doit être le prix du produit au moment de la transaction, pas son prix actuel.</a:t>
            </a:r>
          </a:p>
          <a:p>
            <a:endParaRPr lang="fr-FR" dirty="0"/>
          </a:p>
          <a:p>
            <a:r>
              <a:rPr lang="fr-FR" dirty="0"/>
              <a:t>    Historisation des prix : Créez une nouvelle table appelée </a:t>
            </a:r>
            <a:r>
              <a:rPr lang="fr-FR" dirty="0" err="1"/>
              <a:t>Historique_Prix</a:t>
            </a:r>
            <a:r>
              <a:rPr lang="fr-FR" dirty="0"/>
              <a:t> qui enregistre chaque modification de prix avec une date de début et de fin de validité.</a:t>
            </a:r>
          </a:p>
          <a:p>
            <a:endParaRPr lang="fr-FR" dirty="0"/>
          </a:p>
          <a:p>
            <a:r>
              <a:rPr lang="fr-FR" dirty="0"/>
              <a:t>    Création d'un prix de vente (Prix de Vente) : Modifiez votre processus de vente pour que le prix du produit soit enregistré directement dans la table des ventes (VENTE CSV OLAP) au moment de la transaction, et non pas lié dynamiquement à la table des produits. Cela garantira que le chiffre d'affaires est stable dans le temps, peu importe les futures modifications de prix.</a:t>
            </a:r>
          </a:p>
        </p:txBody>
      </p:sp>
    </p:spTree>
    <p:extLst>
      <p:ext uri="{BB962C8B-B14F-4D97-AF65-F5344CB8AC3E}">
        <p14:creationId xmlns:p14="http://schemas.microsoft.com/office/powerpoint/2010/main" val="11323844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5182" y="696191"/>
            <a:ext cx="5922818" cy="1384995"/>
          </a:xfrm>
          <a:prstGeom prst="rect">
            <a:avLst/>
          </a:prstGeom>
        </p:spPr>
        <p:txBody>
          <a:bodyPr wrap="square">
            <a:spAutoFit/>
          </a:bodyPr>
          <a:lstStyle/>
          <a:p>
            <a:r>
              <a:rPr lang="fr-FR" sz="2800" dirty="0"/>
              <a:t>Prototype : Le schéma de données avec une table d'historisation des prix</a:t>
            </a:r>
          </a:p>
        </p:txBody>
      </p:sp>
    </p:spTree>
    <p:extLst>
      <p:ext uri="{BB962C8B-B14F-4D97-AF65-F5344CB8AC3E}">
        <p14:creationId xmlns:p14="http://schemas.microsoft.com/office/powerpoint/2010/main" val="7836163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7691" y="1039091"/>
            <a:ext cx="5590309" cy="2585323"/>
          </a:xfrm>
          <a:prstGeom prst="rect">
            <a:avLst/>
          </a:prstGeom>
        </p:spPr>
        <p:txBody>
          <a:bodyPr wrap="square">
            <a:spAutoFit/>
          </a:bodyPr>
          <a:lstStyle/>
          <a:p>
            <a:r>
              <a:rPr lang="fr-FR" dirty="0"/>
              <a:t>Table PRODUIT :</a:t>
            </a:r>
          </a:p>
          <a:p>
            <a:endParaRPr lang="fr-FR" dirty="0"/>
          </a:p>
          <a:p>
            <a:r>
              <a:rPr lang="fr-FR" dirty="0"/>
              <a:t>    EAN (clé primaire)</a:t>
            </a:r>
          </a:p>
          <a:p>
            <a:endParaRPr lang="fr-FR" dirty="0"/>
          </a:p>
          <a:p>
            <a:r>
              <a:rPr lang="fr-FR" dirty="0"/>
              <a:t>    </a:t>
            </a:r>
            <a:r>
              <a:rPr lang="fr-FR" dirty="0" err="1"/>
              <a:t>categorie</a:t>
            </a:r>
            <a:endParaRPr lang="fr-FR" dirty="0"/>
          </a:p>
          <a:p>
            <a:endParaRPr lang="fr-FR" dirty="0"/>
          </a:p>
          <a:p>
            <a:r>
              <a:rPr lang="fr-FR" dirty="0"/>
              <a:t>    rayon</a:t>
            </a:r>
          </a:p>
          <a:p>
            <a:endParaRPr lang="fr-FR" dirty="0"/>
          </a:p>
          <a:p>
            <a:r>
              <a:rPr lang="fr-FR" dirty="0"/>
              <a:t>    </a:t>
            </a:r>
            <a:r>
              <a:rPr lang="fr-FR" dirty="0" err="1"/>
              <a:t>libelle_produit</a:t>
            </a:r>
            <a:endParaRPr lang="fr-FR" dirty="0"/>
          </a:p>
        </p:txBody>
      </p:sp>
    </p:spTree>
    <p:extLst>
      <p:ext uri="{BB962C8B-B14F-4D97-AF65-F5344CB8AC3E}">
        <p14:creationId xmlns:p14="http://schemas.microsoft.com/office/powerpoint/2010/main" val="15400370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9873" y="841665"/>
            <a:ext cx="5798127" cy="2585323"/>
          </a:xfrm>
          <a:prstGeom prst="rect">
            <a:avLst/>
          </a:prstGeom>
        </p:spPr>
        <p:txBody>
          <a:bodyPr wrap="square">
            <a:spAutoFit/>
          </a:bodyPr>
          <a:lstStyle/>
          <a:p>
            <a:r>
              <a:rPr lang="fr-FR" dirty="0"/>
              <a:t>Table VENTE CSV OLAP :</a:t>
            </a:r>
          </a:p>
          <a:p>
            <a:endParaRPr lang="fr-FR" dirty="0"/>
          </a:p>
          <a:p>
            <a:r>
              <a:rPr lang="fr-FR" dirty="0"/>
              <a:t>    ID_BDD (clé primaire)</a:t>
            </a:r>
          </a:p>
          <a:p>
            <a:endParaRPr lang="fr-FR" dirty="0"/>
          </a:p>
          <a:p>
            <a:r>
              <a:rPr lang="fr-FR" dirty="0"/>
              <a:t>    EAN (clé étrangère)</a:t>
            </a:r>
          </a:p>
          <a:p>
            <a:endParaRPr lang="fr-FR" dirty="0"/>
          </a:p>
          <a:p>
            <a:r>
              <a:rPr lang="fr-FR" dirty="0"/>
              <a:t>    Date achat</a:t>
            </a:r>
          </a:p>
          <a:p>
            <a:endParaRPr lang="fr-FR" dirty="0"/>
          </a:p>
          <a:p>
            <a:r>
              <a:rPr lang="fr-FR" dirty="0"/>
              <a:t>    </a:t>
            </a:r>
            <a:r>
              <a:rPr lang="fr-FR" dirty="0" err="1"/>
              <a:t>Prix_de_vente</a:t>
            </a:r>
            <a:r>
              <a:rPr lang="fr-FR" dirty="0"/>
              <a:t> (nouvelle colonne)</a:t>
            </a:r>
          </a:p>
        </p:txBody>
      </p:sp>
    </p:spTree>
    <p:extLst>
      <p:ext uri="{BB962C8B-B14F-4D97-AF65-F5344CB8AC3E}">
        <p14:creationId xmlns:p14="http://schemas.microsoft.com/office/powerpoint/2010/main" val="18967858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4791" y="779318"/>
            <a:ext cx="5933209" cy="3139321"/>
          </a:xfrm>
          <a:prstGeom prst="rect">
            <a:avLst/>
          </a:prstGeom>
        </p:spPr>
        <p:txBody>
          <a:bodyPr wrap="square">
            <a:spAutoFit/>
          </a:bodyPr>
          <a:lstStyle/>
          <a:p>
            <a:r>
              <a:rPr lang="fr-FR" dirty="0"/>
              <a:t>Table </a:t>
            </a:r>
            <a:r>
              <a:rPr lang="fr-FR" dirty="0" err="1"/>
              <a:t>Historique_Prix</a:t>
            </a:r>
            <a:r>
              <a:rPr lang="fr-FR" dirty="0"/>
              <a:t> (nouveau) :</a:t>
            </a:r>
          </a:p>
          <a:p>
            <a:endParaRPr lang="fr-FR" dirty="0"/>
          </a:p>
          <a:p>
            <a:r>
              <a:rPr lang="fr-FR" dirty="0"/>
              <a:t>    ID (clé primaire)</a:t>
            </a:r>
          </a:p>
          <a:p>
            <a:endParaRPr lang="fr-FR" dirty="0"/>
          </a:p>
          <a:p>
            <a:r>
              <a:rPr lang="fr-FR" dirty="0"/>
              <a:t>    EAN (clé étrangère)</a:t>
            </a:r>
          </a:p>
          <a:p>
            <a:endParaRPr lang="fr-FR" dirty="0"/>
          </a:p>
          <a:p>
            <a:r>
              <a:rPr lang="fr-FR" dirty="0"/>
              <a:t>    Prix</a:t>
            </a:r>
          </a:p>
          <a:p>
            <a:endParaRPr lang="fr-FR" dirty="0"/>
          </a:p>
          <a:p>
            <a:r>
              <a:rPr lang="fr-FR" dirty="0"/>
              <a:t>    </a:t>
            </a:r>
            <a:r>
              <a:rPr lang="fr-FR" dirty="0" err="1"/>
              <a:t>Date_debut_validite</a:t>
            </a:r>
            <a:endParaRPr lang="fr-FR" dirty="0"/>
          </a:p>
          <a:p>
            <a:endParaRPr lang="fr-FR" dirty="0"/>
          </a:p>
          <a:p>
            <a:r>
              <a:rPr lang="fr-FR" dirty="0"/>
              <a:t>    </a:t>
            </a:r>
            <a:r>
              <a:rPr lang="fr-FR" dirty="0" err="1"/>
              <a:t>Date_fin_validite</a:t>
            </a:r>
            <a:endParaRPr lang="fr-FR" dirty="0"/>
          </a:p>
        </p:txBody>
      </p:sp>
    </p:spTree>
    <p:extLst>
      <p:ext uri="{BB962C8B-B14F-4D97-AF65-F5344CB8AC3E}">
        <p14:creationId xmlns:p14="http://schemas.microsoft.com/office/powerpoint/2010/main" val="7808443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9545" y="706582"/>
            <a:ext cx="6338455" cy="1477328"/>
          </a:xfrm>
          <a:prstGeom prst="rect">
            <a:avLst/>
          </a:prstGeom>
        </p:spPr>
        <p:txBody>
          <a:bodyPr wrap="square">
            <a:spAutoFit/>
          </a:bodyPr>
          <a:lstStyle/>
          <a:p>
            <a:r>
              <a:rPr lang="fr-FR" dirty="0"/>
              <a:t>Recommandation 2 : Gérer les transactions différées</a:t>
            </a:r>
          </a:p>
          <a:p>
            <a:endParaRPr lang="fr-FR" dirty="0"/>
          </a:p>
          <a:p>
            <a:r>
              <a:rPr lang="fr-FR" dirty="0"/>
              <a:t>Le problème : Des ventes qui ont eu lieu le 14 août ont été insérées dans le système le 15 août, un jour où </a:t>
            </a:r>
            <a:r>
              <a:rPr lang="fr-FR" dirty="0" smtClean="0"/>
              <a:t>les </a:t>
            </a:r>
            <a:r>
              <a:rPr lang="fr-FR" dirty="0"/>
              <a:t>magasins étaient censés être fermés.</a:t>
            </a:r>
          </a:p>
        </p:txBody>
      </p:sp>
    </p:spTree>
    <p:extLst>
      <p:ext uri="{BB962C8B-B14F-4D97-AF65-F5344CB8AC3E}">
        <p14:creationId xmlns:p14="http://schemas.microsoft.com/office/powerpoint/2010/main" val="28194895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6858000" cy="4801314"/>
          </a:xfrm>
          <a:prstGeom prst="rect">
            <a:avLst/>
          </a:prstGeom>
        </p:spPr>
        <p:txBody>
          <a:bodyPr wrap="square">
            <a:spAutoFit/>
          </a:bodyPr>
          <a:lstStyle/>
          <a:p>
            <a:r>
              <a:rPr lang="fr-FR" b="1" dirty="0"/>
              <a:t>Actions à mettre en place </a:t>
            </a:r>
            <a:r>
              <a:rPr lang="fr-FR" dirty="0"/>
              <a:t>:</a:t>
            </a:r>
          </a:p>
          <a:p>
            <a:endParaRPr lang="fr-FR" dirty="0"/>
          </a:p>
          <a:p>
            <a:r>
              <a:rPr lang="fr-FR" dirty="0"/>
              <a:t>    Audit des processus d'insertion : Identifiez le processus qui a permis l'insertion de 1379 ventes le 15 août. Il peut s'agir d'un script de chargement de données manuel ou d'un processus automatisé mal configuré.</a:t>
            </a:r>
          </a:p>
          <a:p>
            <a:endParaRPr lang="fr-FR" dirty="0"/>
          </a:p>
          <a:p>
            <a:r>
              <a:rPr lang="fr-FR" dirty="0"/>
              <a:t>    Validation des dates de transactions : Si les données de vente sont chargées en différé, assurez-vous que la date de la transaction (date d'achat) est prise en compte, et non la date de l'insertion dans la base de données.</a:t>
            </a:r>
          </a:p>
          <a:p>
            <a:endParaRPr lang="fr-FR" dirty="0"/>
          </a:p>
          <a:p>
            <a:r>
              <a:rPr lang="fr-FR" dirty="0"/>
              <a:t>    Mise en place d'une routine d'alerte : Créez une alerte qui se déclenche lorsque le nombre de transactions insérées est anormalement élevé pour un jour donné. Par exemple, si vos magasins sont fermés, le nombre de transactions insérées devrait être proche de zéro.</a:t>
            </a:r>
          </a:p>
        </p:txBody>
      </p:sp>
    </p:spTree>
    <p:extLst>
      <p:ext uri="{BB962C8B-B14F-4D97-AF65-F5344CB8AC3E}">
        <p14:creationId xmlns:p14="http://schemas.microsoft.com/office/powerpoint/2010/main" val="17109086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736" y="93518"/>
            <a:ext cx="6785264" cy="4247317"/>
          </a:xfrm>
          <a:prstGeom prst="rect">
            <a:avLst/>
          </a:prstGeom>
        </p:spPr>
        <p:txBody>
          <a:bodyPr wrap="square">
            <a:spAutoFit/>
          </a:bodyPr>
          <a:lstStyle/>
          <a:p>
            <a:r>
              <a:rPr lang="fr-FR" dirty="0"/>
              <a:t>Prototype : Un tableau de bord de suivi des données (Data Ingestion Dashboard)</a:t>
            </a:r>
          </a:p>
          <a:p>
            <a:endParaRPr lang="fr-FR" dirty="0"/>
          </a:p>
          <a:p>
            <a:r>
              <a:rPr lang="fr-FR" dirty="0"/>
              <a:t>Vous pourriez développer un simple tableau de bord (utilisant </a:t>
            </a:r>
            <a:r>
              <a:rPr lang="fr-FR" dirty="0" err="1"/>
              <a:t>PowerBI</a:t>
            </a:r>
            <a:r>
              <a:rPr lang="fr-FR" dirty="0"/>
              <a:t> ou un autre outil) qui vous permet de suivre l'activité d'insertion des données.</a:t>
            </a:r>
          </a:p>
          <a:p>
            <a:endParaRPr lang="fr-FR" dirty="0"/>
          </a:p>
          <a:p>
            <a:r>
              <a:rPr lang="fr-FR" dirty="0"/>
              <a:t>    Graphique 1 : Nombre de transactions insérées par jour. Cela vous permettrait de voir immédiatement les pics d'insertions, comme celui du 15 août, et de réagir en conséquence.</a:t>
            </a:r>
          </a:p>
          <a:p>
            <a:endParaRPr lang="fr-FR" dirty="0"/>
          </a:p>
          <a:p>
            <a:r>
              <a:rPr lang="fr-FR" dirty="0"/>
              <a:t>    Graphique 2 : Écart entre la "Date d'achat" et la "Date d'insertion". Un grand écart indique un problème dans votre flux de données. Ce graphique vous montrerait si des transactions sont insérées avec un retard important.</a:t>
            </a:r>
          </a:p>
        </p:txBody>
      </p:sp>
    </p:spTree>
    <p:extLst>
      <p:ext uri="{BB962C8B-B14F-4D97-AF65-F5344CB8AC3E}">
        <p14:creationId xmlns:p14="http://schemas.microsoft.com/office/powerpoint/2010/main" val="8366642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127" y="171093"/>
            <a:ext cx="6774873" cy="3416320"/>
          </a:xfrm>
          <a:prstGeom prst="rect">
            <a:avLst/>
          </a:prstGeom>
        </p:spPr>
        <p:txBody>
          <a:bodyPr wrap="square">
            <a:spAutoFit/>
          </a:bodyPr>
          <a:lstStyle/>
          <a:p>
            <a:r>
              <a:rPr lang="fr-FR" b="1" dirty="0"/>
              <a:t>Recommandation globale</a:t>
            </a:r>
          </a:p>
          <a:p>
            <a:endParaRPr lang="fr-FR" dirty="0"/>
          </a:p>
          <a:p>
            <a:r>
              <a:rPr lang="fr-FR" dirty="0"/>
              <a:t>L'incohérence vient du fait que votre système ne gère pas la dimension temporelle des données. Le "vrai" chiffre d'affaires d'un jour est calculé sur la base des ventes de ce jour-là et des prix qui étaient en vigueur à ce moment-là. Votre système actuel utilise les prix actuels et ne distingue pas les ventes insérées en retard. En mettant en place ces recommandations, vous passerez d'un système où le calcul du chiffre d'affaires est instable à un système où il est fiable et reproductible, ce qui est la base de toute analyse client et de toute stratégie commerciale.</a:t>
            </a:r>
          </a:p>
        </p:txBody>
      </p:sp>
    </p:spTree>
    <p:extLst>
      <p:ext uri="{BB962C8B-B14F-4D97-AF65-F5344CB8AC3E}">
        <p14:creationId xmlns:p14="http://schemas.microsoft.com/office/powerpoint/2010/main" val="25770360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Recommandations pour l’entreprise</a:t>
            </a:r>
            <a:br>
              <a:rPr lang="fr"/>
            </a:br>
            <a:r>
              <a:rPr lang="fr" sz="1850"/>
              <a:t>Avantages et inconvénients de la solution</a:t>
            </a:r>
            <a:endParaRPr sz="1850"/>
          </a:p>
        </p:txBody>
      </p:sp>
      <p:sp>
        <p:nvSpPr>
          <p:cNvPr id="206" name="Google Shape;206;p25"/>
          <p:cNvSpPr txBox="1">
            <a:spLocks noGrp="1"/>
          </p:cNvSpPr>
          <p:nvPr>
            <p:ph type="body" idx="1"/>
          </p:nvPr>
        </p:nvSpPr>
        <p:spPr>
          <a:xfrm>
            <a:off x="1234550" y="1533650"/>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Avantages :</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r>
              <a:rPr lang="fr"/>
              <a:t>Inconvénients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1336" y="737755"/>
            <a:ext cx="6556664" cy="1754326"/>
          </a:xfrm>
          <a:prstGeom prst="rect">
            <a:avLst/>
          </a:prstGeom>
        </p:spPr>
        <p:txBody>
          <a:bodyPr wrap="square">
            <a:spAutoFit/>
          </a:bodyPr>
          <a:lstStyle/>
          <a:p>
            <a:r>
              <a:rPr lang="fr-FR" dirty="0"/>
              <a:t> Solution pour les mises à jour de prix (Historisation des prix ou stockage direct)</a:t>
            </a:r>
          </a:p>
          <a:p>
            <a:endParaRPr lang="fr-FR" dirty="0"/>
          </a:p>
          <a:p>
            <a:r>
              <a:rPr lang="fr-FR" dirty="0"/>
              <a:t>Cette solution vise à garantir que le prix d'un produit est fixé au moment de la vente et ne peut pas changer rétroactivement</a:t>
            </a:r>
          </a:p>
        </p:txBody>
      </p:sp>
    </p:spTree>
    <p:extLst>
      <p:ext uri="{BB962C8B-B14F-4D97-AF65-F5344CB8AC3E}">
        <p14:creationId xmlns:p14="http://schemas.microsoft.com/office/powerpoint/2010/main" val="26657514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858000" cy="5078313"/>
          </a:xfrm>
          <a:prstGeom prst="rect">
            <a:avLst/>
          </a:prstGeom>
        </p:spPr>
        <p:txBody>
          <a:bodyPr wrap="square">
            <a:spAutoFit/>
          </a:bodyPr>
          <a:lstStyle/>
          <a:p>
            <a:r>
              <a:rPr lang="fr-FR" b="1" dirty="0"/>
              <a:t>Avantages</a:t>
            </a:r>
            <a:r>
              <a:rPr lang="fr-FR" dirty="0"/>
              <a:t> :</a:t>
            </a:r>
          </a:p>
          <a:p>
            <a:endParaRPr lang="fr-FR" dirty="0"/>
          </a:p>
          <a:p>
            <a:r>
              <a:rPr lang="fr-FR" dirty="0"/>
              <a:t>    Fiabilité du chiffre d'affaires : Le principal avantage est que le chiffre d'affaires calculé pour une journée donnée deviendra stable et ne changera jamais. C'est la base d'une analyse financière et commerciale saine.</a:t>
            </a:r>
          </a:p>
          <a:p>
            <a:endParaRPr lang="fr-FR" dirty="0"/>
          </a:p>
          <a:p>
            <a:r>
              <a:rPr lang="fr-FR" dirty="0"/>
              <a:t>    Analyse historique précise : Vous pourrez effectuer des analyses sur l'évolution de vos ventes en toute confiance, sans que les données historiques ne soient faussées par des mises à jour de prix.</a:t>
            </a:r>
          </a:p>
          <a:p>
            <a:endParaRPr lang="fr-FR" dirty="0"/>
          </a:p>
          <a:p>
            <a:r>
              <a:rPr lang="fr-FR" dirty="0"/>
              <a:t>    Audit facilité : Si un audit est nécessaire, il sera facile de tracer le prix exact d'un produit au moment de chaque transaction.</a:t>
            </a:r>
          </a:p>
          <a:p>
            <a:endParaRPr lang="fr-FR" dirty="0"/>
          </a:p>
          <a:p>
            <a:r>
              <a:rPr lang="fr-FR" dirty="0"/>
              <a:t>    Démarcation claire : Le chiffre d'affaires reflètera la réalité des transactions, et non une valorisation après coup.</a:t>
            </a:r>
          </a:p>
        </p:txBody>
      </p:sp>
    </p:spTree>
    <p:extLst>
      <p:ext uri="{BB962C8B-B14F-4D97-AF65-F5344CB8AC3E}">
        <p14:creationId xmlns:p14="http://schemas.microsoft.com/office/powerpoint/2010/main" val="3455201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6858000" cy="4247317"/>
          </a:xfrm>
          <a:prstGeom prst="rect">
            <a:avLst/>
          </a:prstGeom>
        </p:spPr>
        <p:txBody>
          <a:bodyPr wrap="square">
            <a:spAutoFit/>
          </a:bodyPr>
          <a:lstStyle/>
          <a:p>
            <a:r>
              <a:rPr lang="fr-FR" b="1" dirty="0"/>
              <a:t>Inconvénients </a:t>
            </a:r>
            <a:r>
              <a:rPr lang="fr-FR" dirty="0"/>
              <a:t>:</a:t>
            </a:r>
          </a:p>
          <a:p>
            <a:endParaRPr lang="fr-FR" dirty="0"/>
          </a:p>
          <a:p>
            <a:r>
              <a:rPr lang="fr-FR" dirty="0"/>
              <a:t>    Coût de mise en œuvre : Cette solution nécessite des modifications de votre schéma de base de données (ajout d'une colonne ou d'une table) et de vos processus d'ingestion de données, ce qui peut demander du temps et des ressources.</a:t>
            </a:r>
          </a:p>
          <a:p>
            <a:endParaRPr lang="fr-FR" dirty="0"/>
          </a:p>
          <a:p>
            <a:r>
              <a:rPr lang="fr-FR" dirty="0"/>
              <a:t>    Augmentation du stockage : En stockant le prix de chaque transaction dans la table des ventes, la taille de cette table augmentera.</a:t>
            </a:r>
          </a:p>
          <a:p>
            <a:endParaRPr lang="fr-FR" dirty="0"/>
          </a:p>
          <a:p>
            <a:r>
              <a:rPr lang="fr-FR" dirty="0"/>
              <a:t>    Complexité de gestion : La gestion d'une table d'historique des prix (</a:t>
            </a:r>
            <a:r>
              <a:rPr lang="fr-FR" dirty="0" err="1"/>
              <a:t>Historique_Prix</a:t>
            </a:r>
            <a:r>
              <a:rPr lang="fr-FR" dirty="0"/>
              <a:t>) peut ajouter une couche de complexité si elle n'est pas bien conçue. Il faudra s'assurer que les prix sont bien liés à des périodes de validité.</a:t>
            </a:r>
          </a:p>
        </p:txBody>
      </p:sp>
    </p:spTree>
    <p:extLst>
      <p:ext uri="{BB962C8B-B14F-4D97-AF65-F5344CB8AC3E}">
        <p14:creationId xmlns:p14="http://schemas.microsoft.com/office/powerpoint/2010/main" val="10309451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7818" y="727364"/>
            <a:ext cx="6650182" cy="1477328"/>
          </a:xfrm>
          <a:prstGeom prst="rect">
            <a:avLst/>
          </a:prstGeom>
        </p:spPr>
        <p:txBody>
          <a:bodyPr wrap="square">
            <a:spAutoFit/>
          </a:bodyPr>
          <a:lstStyle/>
          <a:p>
            <a:r>
              <a:rPr lang="fr-FR" dirty="0"/>
              <a:t>Solution pour les transactions différées (Suivi et validation des données)</a:t>
            </a:r>
          </a:p>
          <a:p>
            <a:endParaRPr lang="fr-FR" dirty="0"/>
          </a:p>
          <a:p>
            <a:r>
              <a:rPr lang="fr-FR" dirty="0"/>
              <a:t>Cette solution vise à corriger la source des insertions tardives qui faussent le calcul du chiffre d'affaires.</a:t>
            </a:r>
          </a:p>
        </p:txBody>
      </p:sp>
    </p:spTree>
    <p:extLst>
      <p:ext uri="{BB962C8B-B14F-4D97-AF65-F5344CB8AC3E}">
        <p14:creationId xmlns:p14="http://schemas.microsoft.com/office/powerpoint/2010/main" val="39524449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782" y="0"/>
            <a:ext cx="6858000" cy="4524315"/>
          </a:xfrm>
          <a:prstGeom prst="rect">
            <a:avLst/>
          </a:prstGeom>
        </p:spPr>
        <p:txBody>
          <a:bodyPr wrap="square">
            <a:spAutoFit/>
          </a:bodyPr>
          <a:lstStyle/>
          <a:p>
            <a:r>
              <a:rPr lang="fr-FR" b="1" dirty="0"/>
              <a:t>Avantages</a:t>
            </a:r>
            <a:r>
              <a:rPr lang="fr-FR" dirty="0"/>
              <a:t> :</a:t>
            </a:r>
          </a:p>
          <a:p>
            <a:endParaRPr lang="fr-FR" dirty="0"/>
          </a:p>
          <a:p>
            <a:r>
              <a:rPr lang="fr-FR" dirty="0"/>
              <a:t>    Cohérence opérationnelle : Assure que les données de votre base de données correspondent à la réalité des opérations de vos magasins. Vous saurez si une vente est passée ou non.</a:t>
            </a:r>
          </a:p>
          <a:p>
            <a:endParaRPr lang="fr-FR" dirty="0"/>
          </a:p>
          <a:p>
            <a:r>
              <a:rPr lang="fr-FR" dirty="0"/>
              <a:t>    Détection proactive des erreurs : Le prototype de tableau de bord d'ingestion de données vous permettra de détecter immédiatement les problèmes de flux de données. Un pic d'insertions inattendu (comme celui du 15 août) sera visible au premier coup d'œil.</a:t>
            </a:r>
          </a:p>
          <a:p>
            <a:endParaRPr lang="fr-FR" dirty="0"/>
          </a:p>
          <a:p>
            <a:r>
              <a:rPr lang="fr-FR" dirty="0"/>
              <a:t>    Amélioration des processus : En identifiant la cause des retards (par exemple, des systèmes de caisse qui ne se synchronisent que la nuit), vous pourrez améliorer vos processus et réduire les risques d'incohérences.</a:t>
            </a:r>
          </a:p>
        </p:txBody>
      </p:sp>
    </p:spTree>
    <p:extLst>
      <p:ext uri="{BB962C8B-B14F-4D97-AF65-F5344CB8AC3E}">
        <p14:creationId xmlns:p14="http://schemas.microsoft.com/office/powerpoint/2010/main" val="19655718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858000" cy="4524315"/>
          </a:xfrm>
          <a:prstGeom prst="rect">
            <a:avLst/>
          </a:prstGeom>
        </p:spPr>
        <p:txBody>
          <a:bodyPr wrap="square">
            <a:spAutoFit/>
          </a:bodyPr>
          <a:lstStyle/>
          <a:p>
            <a:r>
              <a:rPr lang="fr-FR" b="1" dirty="0"/>
              <a:t>Inconvénients</a:t>
            </a:r>
            <a:r>
              <a:rPr lang="fr-FR" dirty="0"/>
              <a:t> :</a:t>
            </a:r>
          </a:p>
          <a:p>
            <a:endParaRPr lang="fr-FR" dirty="0"/>
          </a:p>
          <a:p>
            <a:r>
              <a:rPr lang="fr-FR" dirty="0"/>
              <a:t>    Identification de la cause racine : L'analyse que nous avons faite a identifié le symptôme (l'insertion différée), mais il faudra un travail supplémentaire pour identifier la cause technique ou humaine exacte de ces retards.</a:t>
            </a:r>
          </a:p>
          <a:p>
            <a:endParaRPr lang="fr-FR" dirty="0"/>
          </a:p>
          <a:p>
            <a:r>
              <a:rPr lang="fr-FR" dirty="0"/>
              <a:t>    Coût du développement : La création d'un tableau de bord de suivi et de ses alertes associées nécessite des ressources en développement.</a:t>
            </a:r>
          </a:p>
          <a:p>
            <a:endParaRPr lang="fr-FR" dirty="0"/>
          </a:p>
          <a:p>
            <a:r>
              <a:rPr lang="fr-FR" dirty="0"/>
              <a:t>    Nécessité de changement de processus : Si le problème est lié à des pratiques manuelles (ex : un employé qui charge les données en retard), la solution impliquera des changements de processus qui peuvent nécessiter de la formation et de l'adhésion.</a:t>
            </a:r>
          </a:p>
        </p:txBody>
      </p:sp>
    </p:spTree>
    <p:extLst>
      <p:ext uri="{BB962C8B-B14F-4D97-AF65-F5344CB8AC3E}">
        <p14:creationId xmlns:p14="http://schemas.microsoft.com/office/powerpoint/2010/main" val="14897441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6"/>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Recommandations pour l’entreprise</a:t>
            </a:r>
            <a:br>
              <a:rPr lang="fr"/>
            </a:br>
            <a:r>
              <a:rPr lang="fr" sz="1850"/>
              <a:t>Implications pour l’organisation actuelle </a:t>
            </a:r>
            <a:endParaRPr sz="185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858000" cy="4524315"/>
          </a:xfrm>
          <a:prstGeom prst="rect">
            <a:avLst/>
          </a:prstGeom>
        </p:spPr>
        <p:txBody>
          <a:bodyPr wrap="square">
            <a:spAutoFit/>
          </a:bodyPr>
          <a:lstStyle/>
          <a:p>
            <a:r>
              <a:rPr lang="fr-FR" dirty="0"/>
              <a:t>1. </a:t>
            </a:r>
            <a:r>
              <a:rPr lang="fr-FR" b="1" dirty="0"/>
              <a:t>Pour la gestion des données et le service informatique</a:t>
            </a:r>
          </a:p>
          <a:p>
            <a:endParaRPr lang="fr-FR" dirty="0"/>
          </a:p>
          <a:p>
            <a:r>
              <a:rPr lang="fr-FR" dirty="0"/>
              <a:t>Implication : La mise en place de l'historisation des prix et le stockage du prix de vente dans la table des transactions nécessitent des modifications du schéma de base de données.</a:t>
            </a:r>
          </a:p>
          <a:p>
            <a:endParaRPr lang="fr-FR" dirty="0"/>
          </a:p>
          <a:p>
            <a:r>
              <a:rPr lang="fr-FR" dirty="0"/>
              <a:t>    Rôle : L'équipe de la gestion des données et le service informatique devront concevoir, tester et déployer les changements de schéma. Cela peut impliquer la création d'une nouvelle table (</a:t>
            </a:r>
            <a:r>
              <a:rPr lang="fr-FR" dirty="0" err="1"/>
              <a:t>Historique_Prix</a:t>
            </a:r>
            <a:r>
              <a:rPr lang="fr-FR" dirty="0"/>
              <a:t>) et la modification des processus d'ingestion des données.</a:t>
            </a:r>
          </a:p>
          <a:p>
            <a:endParaRPr lang="fr-FR" dirty="0"/>
          </a:p>
          <a:p>
            <a:r>
              <a:rPr lang="fr-FR" dirty="0"/>
              <a:t>    Action : Une planification rigoureuse est nécessaire pour éviter les interruptions de service. Ils devront s'assurer que les données existantes sont correctement migrées et que les nouvelles données sont insérées de manière correcte.</a:t>
            </a:r>
          </a:p>
        </p:txBody>
      </p:sp>
    </p:spTree>
    <p:extLst>
      <p:ext uri="{BB962C8B-B14F-4D97-AF65-F5344CB8AC3E}">
        <p14:creationId xmlns:p14="http://schemas.microsoft.com/office/powerpoint/2010/main" val="9835691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858000" cy="4524315"/>
          </a:xfrm>
          <a:prstGeom prst="rect">
            <a:avLst/>
          </a:prstGeom>
        </p:spPr>
        <p:txBody>
          <a:bodyPr wrap="square">
            <a:spAutoFit/>
          </a:bodyPr>
          <a:lstStyle/>
          <a:p>
            <a:r>
              <a:rPr lang="fr-FR" dirty="0"/>
              <a:t>2. </a:t>
            </a:r>
            <a:r>
              <a:rPr lang="fr-FR" b="1" dirty="0"/>
              <a:t>Pour les équipes métier (Comptabilité, Marketing, Ventes</a:t>
            </a:r>
            <a:r>
              <a:rPr lang="fr-FR" dirty="0"/>
              <a:t>)</a:t>
            </a:r>
          </a:p>
          <a:p>
            <a:endParaRPr lang="fr-FR" dirty="0"/>
          </a:p>
          <a:p>
            <a:r>
              <a:rPr lang="fr-FR" dirty="0"/>
              <a:t>Implication : La fiabilité des données de chiffre d'affaires changera la manière dont ces équipes travaillent.</a:t>
            </a:r>
          </a:p>
          <a:p>
            <a:endParaRPr lang="fr-FR" dirty="0"/>
          </a:p>
          <a:p>
            <a:r>
              <a:rPr lang="fr-FR" dirty="0"/>
              <a:t>    Rôle : La comptabilité aura un rapport stable et </a:t>
            </a:r>
            <a:r>
              <a:rPr lang="fr-FR" dirty="0" err="1"/>
              <a:t>auditable</a:t>
            </a:r>
            <a:r>
              <a:rPr lang="fr-FR" dirty="0"/>
              <a:t> du chiffre d'affaires, ce qui simplifiera les rapprochements financiers et les bilans. Le marketing pourra analyser l'efficacité de promotions sur le long terme sans que les données ne soient faussées. Les équipes de vente pourront suivre les performances réelles de leurs transactions sans surprise.</a:t>
            </a:r>
          </a:p>
          <a:p>
            <a:endParaRPr lang="fr-FR" dirty="0"/>
          </a:p>
          <a:p>
            <a:r>
              <a:rPr lang="fr-FR" dirty="0"/>
              <a:t>    Action : Une période de transition sera nécessaire pour que ces équipes s'habituent à la nouvelle fiabilité des données. Il faudra leur expliquer la raison des changements et les avantages qu'ils en retireront.</a:t>
            </a:r>
          </a:p>
        </p:txBody>
      </p:sp>
    </p:spTree>
    <p:extLst>
      <p:ext uri="{BB962C8B-B14F-4D97-AF65-F5344CB8AC3E}">
        <p14:creationId xmlns:p14="http://schemas.microsoft.com/office/powerpoint/2010/main" val="35137433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861875"/>
            <a:ext cx="6858000" cy="3139321"/>
          </a:xfrm>
          <a:prstGeom prst="rect">
            <a:avLst/>
          </a:prstGeom>
        </p:spPr>
        <p:txBody>
          <a:bodyPr wrap="square">
            <a:spAutoFit/>
          </a:bodyPr>
          <a:lstStyle/>
          <a:p>
            <a:r>
              <a:rPr lang="fr-FR" dirty="0"/>
              <a:t>Suite à notre analyse approfondie, voici les implications des recommandations pour votre organisation actuelle. Ces changements affecteront plusieurs domaines, de la gestion des données à la prise de décision.</a:t>
            </a:r>
          </a:p>
          <a:p>
            <a:endParaRPr lang="fr-FR" dirty="0"/>
          </a:p>
          <a:p>
            <a:r>
              <a:rPr lang="fr-FR" dirty="0"/>
              <a:t>1. Pour la gestion des données et le service informatique</a:t>
            </a:r>
          </a:p>
          <a:p>
            <a:endParaRPr lang="fr-FR" dirty="0"/>
          </a:p>
          <a:p>
            <a:r>
              <a:rPr lang="fr-FR" dirty="0"/>
              <a:t>Implication : La mise en place de l'historisation des prix et le stockage du prix de vente dans la table des transactions nécessitent des modifications du schéma de base de données.</a:t>
            </a:r>
          </a:p>
          <a:p>
            <a:endParaRPr lang="fr-FR" dirty="0"/>
          </a:p>
        </p:txBody>
      </p:sp>
      <p:sp>
        <p:nvSpPr>
          <p:cNvPr id="3" name="Rectangle 2"/>
          <p:cNvSpPr/>
          <p:nvPr/>
        </p:nvSpPr>
        <p:spPr>
          <a:xfrm>
            <a:off x="0" y="122694"/>
            <a:ext cx="6858000" cy="3693319"/>
          </a:xfrm>
          <a:prstGeom prst="rect">
            <a:avLst/>
          </a:prstGeom>
        </p:spPr>
        <p:txBody>
          <a:bodyPr wrap="square">
            <a:spAutoFit/>
          </a:bodyPr>
          <a:lstStyle/>
          <a:p>
            <a:r>
              <a:rPr lang="fr-FR" dirty="0"/>
              <a:t>3. </a:t>
            </a:r>
            <a:r>
              <a:rPr lang="fr-FR" b="1" dirty="0"/>
              <a:t>Pour les décideurs</a:t>
            </a:r>
          </a:p>
          <a:p>
            <a:endParaRPr lang="fr-FR" dirty="0"/>
          </a:p>
          <a:p>
            <a:r>
              <a:rPr lang="fr-FR" dirty="0"/>
              <a:t>Implication : La transparence et la fiabilité des données permettront une meilleure prise de décision.</a:t>
            </a:r>
          </a:p>
          <a:p>
            <a:endParaRPr lang="fr-FR" dirty="0"/>
          </a:p>
          <a:p>
            <a:r>
              <a:rPr lang="fr-FR" dirty="0"/>
              <a:t>    Rôle : Les managers et les directeurs auront accès à des rapports de chiffre d'affaires qui ne fluctuent pas. Cela permet de se concentrer sur l'analyse de la performance réelle de l'entreprise et non sur la correction d'erreurs de données.</a:t>
            </a:r>
          </a:p>
          <a:p>
            <a:endParaRPr lang="fr-FR" dirty="0"/>
          </a:p>
          <a:p>
            <a:r>
              <a:rPr lang="fr-FR" dirty="0"/>
              <a:t>    Action : Les discussions sur la performance ne seront plus centrées sur "pourquoi le chiffre </a:t>
            </a:r>
            <a:r>
              <a:rPr lang="fr-FR" dirty="0" err="1"/>
              <a:t>a-t-il</a:t>
            </a:r>
            <a:r>
              <a:rPr lang="fr-FR" dirty="0"/>
              <a:t> changé ?" mais sur "comment pouvons-nous améliorer notre chiffre d'affaires ?"</a:t>
            </a:r>
          </a:p>
        </p:txBody>
      </p:sp>
    </p:spTree>
    <p:extLst>
      <p:ext uri="{BB962C8B-B14F-4D97-AF65-F5344CB8AC3E}">
        <p14:creationId xmlns:p14="http://schemas.microsoft.com/office/powerpoint/2010/main" val="10044020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128" y="91660"/>
            <a:ext cx="6858000" cy="4524315"/>
          </a:xfrm>
          <a:prstGeom prst="rect">
            <a:avLst/>
          </a:prstGeom>
        </p:spPr>
        <p:txBody>
          <a:bodyPr wrap="square">
            <a:spAutoFit/>
          </a:bodyPr>
          <a:lstStyle/>
          <a:p>
            <a:r>
              <a:rPr lang="fr-FR" dirty="0"/>
              <a:t>4. </a:t>
            </a:r>
            <a:r>
              <a:rPr lang="fr-FR" b="1" dirty="0"/>
              <a:t>Pour la sécurité et l'audit</a:t>
            </a:r>
          </a:p>
          <a:p>
            <a:endParaRPr lang="fr-FR" dirty="0"/>
          </a:p>
          <a:p>
            <a:r>
              <a:rPr lang="fr-FR" dirty="0"/>
              <a:t>Implication : La mise en place de processus de validation et de tableaux de bord d'alerte renforcera la sécurité des données et la traçabilité.</a:t>
            </a:r>
          </a:p>
          <a:p>
            <a:endParaRPr lang="fr-FR" dirty="0"/>
          </a:p>
          <a:p>
            <a:r>
              <a:rPr lang="fr-FR" dirty="0"/>
              <a:t>    Rôle : Les équipes d'audit et de sécurité informatique pourront s'assurer que les données sont insérées au bon moment, ce qui empêchera les insertions indésirables ou les fraudes. Le suivi des insertions retardées permettra de détecter des failles dans le système de collecte de données.</a:t>
            </a:r>
          </a:p>
          <a:p>
            <a:endParaRPr lang="fr-FR" dirty="0"/>
          </a:p>
          <a:p>
            <a:r>
              <a:rPr lang="fr-FR" dirty="0"/>
              <a:t>    Action : L'organisation devra définir des seuils d'alerte pour les insertions de données. Par exemple, une alerte sera déclenchée si le nombre de transactions insérées un jour de fermeture dépasse un certain seuil.</a:t>
            </a:r>
          </a:p>
        </p:txBody>
      </p:sp>
    </p:spTree>
    <p:extLst>
      <p:ext uri="{BB962C8B-B14F-4D97-AF65-F5344CB8AC3E}">
        <p14:creationId xmlns:p14="http://schemas.microsoft.com/office/powerpoint/2010/main" val="10280494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Recommandations pour l’entreprise</a:t>
            </a:r>
            <a:br>
              <a:rPr lang="fr"/>
            </a:br>
            <a:r>
              <a:rPr lang="fr" sz="1850"/>
              <a:t>Planning de mise en place et coût éventuel</a:t>
            </a:r>
            <a:endParaRPr sz="185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2445" y="602673"/>
            <a:ext cx="5995555" cy="1200329"/>
          </a:xfrm>
          <a:prstGeom prst="rect">
            <a:avLst/>
          </a:prstGeom>
        </p:spPr>
        <p:txBody>
          <a:bodyPr wrap="square">
            <a:spAutoFit/>
          </a:bodyPr>
          <a:lstStyle/>
          <a:p>
            <a:r>
              <a:rPr lang="fr-FR" dirty="0"/>
              <a:t>Phase 1 : Investigation et Conception</a:t>
            </a:r>
          </a:p>
          <a:p>
            <a:endParaRPr lang="fr-FR" dirty="0"/>
          </a:p>
          <a:p>
            <a:r>
              <a:rPr lang="fr-FR" dirty="0"/>
              <a:t>Objectif : Comprendre en profondeur les processus actuels et concevoir la solution idéale.</a:t>
            </a:r>
          </a:p>
        </p:txBody>
      </p:sp>
    </p:spTree>
    <p:extLst>
      <p:ext uri="{BB962C8B-B14F-4D97-AF65-F5344CB8AC3E}">
        <p14:creationId xmlns:p14="http://schemas.microsoft.com/office/powerpoint/2010/main" val="30931099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563641" cy="3172268"/>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172268"/>
            <a:ext cx="6430272" cy="1409897"/>
          </a:xfrm>
          <a:prstGeom prst="rect">
            <a:avLst/>
          </a:prstGeom>
        </p:spPr>
      </p:pic>
    </p:spTree>
    <p:extLst>
      <p:ext uri="{BB962C8B-B14F-4D97-AF65-F5344CB8AC3E}">
        <p14:creationId xmlns:p14="http://schemas.microsoft.com/office/powerpoint/2010/main" val="2586425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3064" y="581891"/>
            <a:ext cx="6244936" cy="923330"/>
          </a:xfrm>
          <a:prstGeom prst="rect">
            <a:avLst/>
          </a:prstGeom>
        </p:spPr>
        <p:txBody>
          <a:bodyPr wrap="square">
            <a:spAutoFit/>
          </a:bodyPr>
          <a:lstStyle/>
          <a:p>
            <a:r>
              <a:rPr lang="fr-FR" dirty="0"/>
              <a:t>Phase 2 : Implémentation et Développement</a:t>
            </a:r>
          </a:p>
          <a:p>
            <a:endParaRPr lang="fr-FR" dirty="0"/>
          </a:p>
          <a:p>
            <a:r>
              <a:rPr lang="fr-FR" dirty="0"/>
              <a:t>Objectif : Construire et déployer les nouvelles solutions.</a:t>
            </a:r>
          </a:p>
        </p:txBody>
      </p:sp>
    </p:spTree>
    <p:extLst>
      <p:ext uri="{BB962C8B-B14F-4D97-AF65-F5344CB8AC3E}">
        <p14:creationId xmlns:p14="http://schemas.microsoft.com/office/powerpoint/2010/main" val="7129033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725589" cy="3219899"/>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19899"/>
            <a:ext cx="6754168" cy="1971950"/>
          </a:xfrm>
          <a:prstGeom prst="rect">
            <a:avLst/>
          </a:prstGeom>
        </p:spPr>
      </p:pic>
    </p:spTree>
    <p:extLst>
      <p:ext uri="{BB962C8B-B14F-4D97-AF65-F5344CB8AC3E}">
        <p14:creationId xmlns:p14="http://schemas.microsoft.com/office/powerpoint/2010/main" val="386733791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773" y="394856"/>
            <a:ext cx="6598227" cy="1200329"/>
          </a:xfrm>
          <a:prstGeom prst="rect">
            <a:avLst/>
          </a:prstGeom>
        </p:spPr>
        <p:txBody>
          <a:bodyPr wrap="square">
            <a:spAutoFit/>
          </a:bodyPr>
          <a:lstStyle/>
          <a:p>
            <a:r>
              <a:rPr lang="fr-FR" dirty="0"/>
              <a:t>Phase 3 : Déploiement et Suivi</a:t>
            </a:r>
          </a:p>
          <a:p>
            <a:endParaRPr lang="fr-FR" dirty="0"/>
          </a:p>
          <a:p>
            <a:r>
              <a:rPr lang="fr-FR" dirty="0"/>
              <a:t>Objectif : Mettre la solution en production et l'utiliser pour la surveillance continue</a:t>
            </a:r>
          </a:p>
        </p:txBody>
      </p:sp>
    </p:spTree>
    <p:extLst>
      <p:ext uri="{BB962C8B-B14F-4D97-AF65-F5344CB8AC3E}">
        <p14:creationId xmlns:p14="http://schemas.microsoft.com/office/powerpoint/2010/main" val="136310172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601746" cy="3191320"/>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191320"/>
            <a:ext cx="6601746" cy="695422"/>
          </a:xfrm>
          <a:prstGeom prst="rect">
            <a:avLst/>
          </a:prstGeom>
        </p:spPr>
      </p:pic>
    </p:spTree>
    <p:extLst>
      <p:ext uri="{BB962C8B-B14F-4D97-AF65-F5344CB8AC3E}">
        <p14:creationId xmlns:p14="http://schemas.microsoft.com/office/powerpoint/2010/main" val="20638393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4691"/>
            <a:ext cx="6858000" cy="2862322"/>
          </a:xfrm>
          <a:prstGeom prst="rect">
            <a:avLst/>
          </a:prstGeom>
        </p:spPr>
        <p:txBody>
          <a:bodyPr wrap="square">
            <a:spAutoFit/>
          </a:bodyPr>
          <a:lstStyle/>
          <a:p>
            <a:r>
              <a:rPr lang="fr-FR" dirty="0"/>
              <a:t>Coût total de la phase 1 : Faible (principalement le temps de travail des équipes</a:t>
            </a:r>
            <a:r>
              <a:rPr lang="fr-FR" dirty="0" smtClean="0"/>
              <a:t>).</a:t>
            </a:r>
          </a:p>
          <a:p>
            <a:endParaRPr lang="fr-FR" dirty="0"/>
          </a:p>
          <a:p>
            <a:endParaRPr lang="fr-FR" dirty="0" smtClean="0"/>
          </a:p>
          <a:p>
            <a:r>
              <a:rPr lang="fr-FR" dirty="0"/>
              <a:t>Coût total de la phase 2 : Moyen à Élevé (dépend des salaires des développeurs et de la complexité des systèmes existants</a:t>
            </a:r>
            <a:r>
              <a:rPr lang="fr-FR" dirty="0" smtClean="0"/>
              <a:t>).</a:t>
            </a:r>
          </a:p>
          <a:p>
            <a:endParaRPr lang="fr-FR" dirty="0"/>
          </a:p>
          <a:p>
            <a:endParaRPr lang="fr-FR" dirty="0" smtClean="0"/>
          </a:p>
          <a:p>
            <a:r>
              <a:rPr lang="fr-FR" dirty="0"/>
              <a:t>Coût total de la phase 3 : Faible à Moyen (principalement des coûts de maintenance récurrents).</a:t>
            </a:r>
          </a:p>
        </p:txBody>
      </p:sp>
    </p:spTree>
    <p:extLst>
      <p:ext uri="{BB962C8B-B14F-4D97-AF65-F5344CB8AC3E}">
        <p14:creationId xmlns:p14="http://schemas.microsoft.com/office/powerpoint/2010/main" val="38833631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83127"/>
            <a:ext cx="6858000" cy="2585323"/>
          </a:xfrm>
          <a:prstGeom prst="rect">
            <a:avLst/>
          </a:prstGeom>
        </p:spPr>
        <p:txBody>
          <a:bodyPr wrap="square">
            <a:spAutoFit/>
          </a:bodyPr>
          <a:lstStyle/>
          <a:p>
            <a:r>
              <a:rPr lang="fr-FR" b="1" dirty="0"/>
              <a:t>Estimation globale du coût du projet </a:t>
            </a:r>
            <a:r>
              <a:rPr lang="fr-FR" dirty="0"/>
              <a:t>:</a:t>
            </a:r>
          </a:p>
          <a:p>
            <a:endParaRPr lang="fr-FR" dirty="0"/>
          </a:p>
          <a:p>
            <a:r>
              <a:rPr lang="fr-FR" dirty="0"/>
              <a:t>Le coût total est difficile à chiffrer précisément sans connaître les tarifs horaires de votre équipe et la complexité de votre infrastructure. Cependant, on peut l'estimer comme Moyen. L'investissement initial en temps et en ressources sera largement compensé par la réduction des efforts de réconciliation des données, la confiance dans vos chiffres et la capacité à prendre des décisions stratégiques plus éclairées.</a:t>
            </a:r>
          </a:p>
        </p:txBody>
      </p:sp>
    </p:spTree>
    <p:extLst>
      <p:ext uri="{BB962C8B-B14F-4D97-AF65-F5344CB8AC3E}">
        <p14:creationId xmlns:p14="http://schemas.microsoft.com/office/powerpoint/2010/main" val="15012659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8"/>
          <p:cNvSpPr txBox="1">
            <a:spLocks noGrp="1"/>
          </p:cNvSpPr>
          <p:nvPr>
            <p:ph type="title"/>
          </p:nvPr>
        </p:nvSpPr>
        <p:spPr>
          <a:xfrm>
            <a:off x="311700" y="1388850"/>
            <a:ext cx="8520600" cy="841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fr"/>
              <a:t>Conclusion</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773" y="1140589"/>
            <a:ext cx="6598227" cy="1754326"/>
          </a:xfrm>
          <a:prstGeom prst="rect">
            <a:avLst/>
          </a:prstGeom>
        </p:spPr>
        <p:txBody>
          <a:bodyPr wrap="square">
            <a:spAutoFit/>
          </a:bodyPr>
          <a:lstStyle/>
          <a:p>
            <a:r>
              <a:rPr lang="fr-FR" dirty="0"/>
              <a:t>Notre investigation a permis de résoudre le mystère de l'incohérence de votre chiffre d'affaires et de fournir des recommandations concrètes pour y remédier.</a:t>
            </a:r>
          </a:p>
          <a:p>
            <a:endParaRPr lang="fr-FR" dirty="0"/>
          </a:p>
          <a:p>
            <a:r>
              <a:rPr lang="fr-FR" dirty="0"/>
              <a:t>Le problème ne provenait pas d'une simple erreur de calcul, mais d'une désynchronisation de vos données à deux niveaux :</a:t>
            </a:r>
          </a:p>
        </p:txBody>
      </p:sp>
    </p:spTree>
    <p:extLst>
      <p:ext uri="{BB962C8B-B14F-4D97-AF65-F5344CB8AC3E}">
        <p14:creationId xmlns:p14="http://schemas.microsoft.com/office/powerpoint/2010/main" val="21899131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858000" cy="4524315"/>
          </a:xfrm>
          <a:prstGeom prst="rect">
            <a:avLst/>
          </a:prstGeom>
        </p:spPr>
        <p:txBody>
          <a:bodyPr wrap="square">
            <a:spAutoFit/>
          </a:bodyPr>
          <a:lstStyle/>
          <a:p>
            <a:pPr>
              <a:buFont typeface="+mj-lt"/>
              <a:buAutoNum type="arabicPeriod"/>
            </a:pPr>
            <a:r>
              <a:rPr lang="fr-FR" b="1" dirty="0" smtClean="0"/>
              <a:t>Au </a:t>
            </a:r>
            <a:r>
              <a:rPr lang="fr-FR" b="1" dirty="0"/>
              <a:t>niveau des prix des produits :</a:t>
            </a:r>
            <a:r>
              <a:rPr lang="fr-FR" dirty="0"/>
              <a:t> Les modifications de prix dans votre base de données ont eu un impact rétroactif sur le chiffre d'affaires du passé. Ce phénomène a été clairement identifié grâce aux logs qui ont montré 575 mises à jour de prix le 14 août, dont 5 ont directement affecté des produits vendus ce jour-là. Le chiffre d'affaires a été recalculé en utilisant les prix mis à jour, créant l'écart que vous avez observé</a:t>
            </a:r>
            <a:r>
              <a:rPr lang="fr-FR" dirty="0" smtClean="0"/>
              <a:t>.</a:t>
            </a:r>
          </a:p>
          <a:p>
            <a:pPr>
              <a:buFont typeface="+mj-lt"/>
              <a:buAutoNum type="arabicPeriod"/>
            </a:pPr>
            <a:endParaRPr lang="fr-FR" dirty="0"/>
          </a:p>
          <a:p>
            <a:pPr>
              <a:buFont typeface="+mj-lt"/>
              <a:buAutoNum type="arabicPeriod"/>
            </a:pPr>
            <a:endParaRPr lang="fr-FR" dirty="0"/>
          </a:p>
          <a:p>
            <a:pPr>
              <a:buFont typeface="+mj-lt"/>
              <a:buAutoNum type="arabicPeriod"/>
            </a:pPr>
            <a:r>
              <a:rPr lang="fr-FR" b="1" dirty="0"/>
              <a:t>Au niveau des ventes :</a:t>
            </a:r>
            <a:r>
              <a:rPr lang="fr-FR" dirty="0"/>
              <a:t> Le second point d'incohérence est lié à un processus de chargement de données différé. Bien que vos magasins aient été fermés le 15 août, un lot de 1379 transactions de vente datées du 14 août a été inséré dans votre système ce jour-là. Ces ventes, absentes du calcul initial du chiffre d'affaires du 14 août, ont été intégrées dans le calcul suivant, amplifiant l'écart.</a:t>
            </a:r>
          </a:p>
        </p:txBody>
      </p:sp>
    </p:spTree>
    <p:extLst>
      <p:ext uri="{BB962C8B-B14F-4D97-AF65-F5344CB8AC3E}">
        <p14:creationId xmlns:p14="http://schemas.microsoft.com/office/powerpoint/2010/main" val="22178104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97426"/>
            <a:ext cx="6858000" cy="4801314"/>
          </a:xfrm>
          <a:prstGeom prst="rect">
            <a:avLst/>
          </a:prstGeom>
        </p:spPr>
        <p:txBody>
          <a:bodyPr wrap="square">
            <a:spAutoFit/>
          </a:bodyPr>
          <a:lstStyle/>
          <a:p>
            <a:r>
              <a:rPr lang="fr-FR" dirty="0"/>
              <a:t>Recommandations pour l'avenir :</a:t>
            </a:r>
          </a:p>
          <a:p>
            <a:endParaRPr lang="fr-FR" dirty="0"/>
          </a:p>
          <a:p>
            <a:r>
              <a:rPr lang="fr-FR" dirty="0"/>
              <a:t>Pour passer d'un système de données instable à un système fiable, l'entreprise doit prendre les mesures suivantes :</a:t>
            </a:r>
          </a:p>
          <a:p>
            <a:endParaRPr lang="fr-FR" dirty="0"/>
          </a:p>
          <a:p>
            <a:r>
              <a:rPr lang="fr-FR" dirty="0"/>
              <a:t>    Sécuriser l'historique des prix en stockant le prix de vente directement dans la table des transactions ou en créant une table d'historisation des prix.</a:t>
            </a:r>
          </a:p>
          <a:p>
            <a:endParaRPr lang="fr-FR" dirty="0"/>
          </a:p>
          <a:p>
            <a:r>
              <a:rPr lang="fr-FR" dirty="0"/>
              <a:t>    Contrôler le processus de chargement des données de vente pour s'assurer que les ventes sont bien enregistrées avec leur date d'achat réelle, et non leur date d'insertion dans la base de données.</a:t>
            </a:r>
          </a:p>
          <a:p>
            <a:endParaRPr lang="fr-FR" dirty="0"/>
          </a:p>
          <a:p>
            <a:r>
              <a:rPr lang="fr-FR" dirty="0"/>
              <a:t>    Mettre en place des outils de monitoring pour détecter en temps réel les anomalies (pics d'insertions inattendus, mises à jour anormales, etc.) et garantir l'intégrité de vos données.</a:t>
            </a:r>
          </a:p>
        </p:txBody>
      </p:sp>
    </p:spTree>
    <p:extLst>
      <p:ext uri="{BB962C8B-B14F-4D97-AF65-F5344CB8AC3E}">
        <p14:creationId xmlns:p14="http://schemas.microsoft.com/office/powerpoint/2010/main" val="381941611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9155" y="1279089"/>
            <a:ext cx="6348845" cy="1754326"/>
          </a:xfrm>
          <a:prstGeom prst="rect">
            <a:avLst/>
          </a:prstGeom>
        </p:spPr>
        <p:txBody>
          <a:bodyPr wrap="square">
            <a:spAutoFit/>
          </a:bodyPr>
          <a:lstStyle/>
          <a:p>
            <a:r>
              <a:rPr lang="fr-FR" dirty="0"/>
              <a:t>En résumé, la fiabilité de votre chiffre d'affaires et de vos analyses futures dépend de la correction de ces deux problèmes de synchronisation des données. Une fois ces solutions en place, votre entreprise pourra se fier à ses chiffres pour une prise de décision plus éclairée et se démarquer par une véritable connaissance de ses clients.</a:t>
            </a:r>
          </a:p>
        </p:txBody>
      </p:sp>
    </p:spTree>
    <p:extLst>
      <p:ext uri="{BB962C8B-B14F-4D97-AF65-F5344CB8AC3E}">
        <p14:creationId xmlns:p14="http://schemas.microsoft.com/office/powerpoint/2010/main" val="2807083785"/>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3070</TotalTime>
  <Words>3647</Words>
  <Application>Microsoft Office PowerPoint</Application>
  <PresentationFormat>Affichage à l'écran (16:9)</PresentationFormat>
  <Paragraphs>284</Paragraphs>
  <Slides>102</Slides>
  <Notes>14</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102</vt:i4>
      </vt:variant>
    </vt:vector>
  </HeadingPairs>
  <TitlesOfParts>
    <vt:vector size="109" baseType="lpstr">
      <vt:lpstr>Calibri</vt:lpstr>
      <vt:lpstr>Wingdings 3</vt:lpstr>
      <vt:lpstr>Inter</vt:lpstr>
      <vt:lpstr>Times New Roman</vt:lpstr>
      <vt:lpstr>Trebuchet MS</vt:lpstr>
      <vt:lpstr>Arial</vt:lpstr>
      <vt:lpstr>Facette</vt:lpstr>
      <vt:lpstr>AUDIT :  SuperSmartMarket</vt:lpstr>
      <vt:lpstr>Présentation de la mission</vt:lpstr>
      <vt:lpstr>Analyse de la base de données Architecture de l’entreprise</vt:lpstr>
      <vt:lpstr>Analyse de la base de données Dictionnaire des données du fichier OLAP et schéma relationnel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du prototype de BDD Explication de la base de données</vt:lpstr>
      <vt:lpstr>Résultat des requêtes SQL Le chiffre d’affaires total pour le 14 Août</vt:lpstr>
      <vt:lpstr>Résultat des requêtes SQL Le chiffre d’affaires par client pour le top 10 des clients</vt:lpstr>
      <vt:lpstr>Présentation PowerPoint</vt:lpstr>
      <vt:lpstr>Résultat des requêtes SQL Le chiffre d’affaires encaissé par employé </vt:lpstr>
      <vt:lpstr>Présentation PowerPoint</vt:lpstr>
      <vt:lpstr>Présentation PowerPoint</vt:lpstr>
      <vt:lpstr>Présentation PowerPoint</vt:lpstr>
      <vt:lpstr>Présentation PowerPoint</vt:lpstr>
      <vt:lpstr>Analyse des logs Dictionnaire des données et explications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Recommandations pour l’entreprise Actions à mettre en place  Prototype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Recommandations pour l’entreprise Avantages et inconvénients de la solution</vt:lpstr>
      <vt:lpstr>Présentation PowerPoint</vt:lpstr>
      <vt:lpstr>Présentation PowerPoint</vt:lpstr>
      <vt:lpstr>Présentation PowerPoint</vt:lpstr>
      <vt:lpstr>Présentation PowerPoint</vt:lpstr>
      <vt:lpstr>Présentation PowerPoint</vt:lpstr>
      <vt:lpstr>Présentation PowerPoint</vt:lpstr>
      <vt:lpstr>Recommandations pour l’entreprise Implications pour l’organisation actuelle </vt:lpstr>
      <vt:lpstr>Présentation PowerPoint</vt:lpstr>
      <vt:lpstr>Présentation PowerPoint</vt:lpstr>
      <vt:lpstr>Présentation PowerPoint</vt:lpstr>
      <vt:lpstr>Présentation PowerPoint</vt:lpstr>
      <vt:lpstr>Recommandations pour l’entreprise Planning de mise en place et coût éventuel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Conclusion</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  Erreur sur le Cube OLAP</dc:title>
  <dc:creator>User</dc:creator>
  <cp:lastModifiedBy>User</cp:lastModifiedBy>
  <cp:revision>55</cp:revision>
  <dcterms:modified xsi:type="dcterms:W3CDTF">2025-11-05T20:18:26Z</dcterms:modified>
</cp:coreProperties>
</file>