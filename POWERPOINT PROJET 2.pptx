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6"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fr-FR" smtClean="0"/>
              <a:t>Modifiez le style du titre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Modifier le style des sous-titres du masque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fr-FR" smtClean="0"/>
              <a:t>Modifiez le style du titre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fr-FR" smtClean="0"/>
              <a:t>Modifiez le style du titre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smtClean="0"/>
              <a:t>Modifiez le style du titre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fr-FR" smtClean="0"/>
              <a:t>Modifiez le style du titre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fr-FR" smtClean="0"/>
              <a:t>Modifiez le style du titre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smtClean="0"/>
              <a:t>Modifiez le style du titre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Modifier les styles du texte du masque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fr-FR" smtClean="0"/>
              <a:t>Modifiez le style du titre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smtClean="0"/>
              <a:t>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smtClean="0"/>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Modifier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smtClean="0"/>
              <a:t>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fr-FR" smtClean="0"/>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Modifier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smtClean="0"/>
              <a:t>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fr-FR" smtClean="0"/>
              <a:t>Modifiez le style du titre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fr-FR" smtClean="0"/>
              <a:t>Modifiez le style du titre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11/5/2025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normAutofit fontScale="90000"/>
          </a:bodyPr>
          <a:lstStyle/>
          <a:p>
            <a:pPr lvl="0">
              <a:spcBef>
                <a:spcPts val="1000"/>
              </a:spcBef>
            </a:pPr>
            <a:r>
              <a:rPr lang="fr-FR" dirty="0">
                <a:solidFill>
                  <a:srgbClr val="90C226"/>
                </a:solidFill>
                <a:latin typeface="Trebuchet MS" panose="020B0603020202020204"/>
                <a:ea typeface="+mn-ea"/>
                <a:cs typeface="+mn-cs"/>
              </a:rPr>
              <a:t>projet d’</a:t>
            </a:r>
            <a:r>
              <a:rPr lang="fr-FR" b="1" dirty="0">
                <a:solidFill>
                  <a:srgbClr val="90C226"/>
                </a:solidFill>
                <a:latin typeface="Trebuchet MS" panose="020B0603020202020204"/>
                <a:ea typeface="+mn-ea"/>
                <a:cs typeface="+mn-cs"/>
              </a:rPr>
              <a:t>expansion à l’international</a:t>
            </a:r>
            <a:r>
              <a:rPr lang="fr-FR" dirty="0">
                <a:solidFill>
                  <a:srgbClr val="90C226"/>
                </a:solidFill>
                <a:latin typeface="Trebuchet MS" panose="020B0603020202020204"/>
                <a:ea typeface="+mn-ea"/>
                <a:cs typeface="+mn-cs"/>
              </a:rPr>
              <a:t> d’une entreprise de start-up de la </a:t>
            </a:r>
            <a:r>
              <a:rPr lang="fr-FR" dirty="0" err="1">
                <a:solidFill>
                  <a:srgbClr val="90C226"/>
                </a:solidFill>
                <a:latin typeface="Trebuchet MS" panose="020B0603020202020204"/>
                <a:ea typeface="+mn-ea"/>
                <a:cs typeface="+mn-cs"/>
              </a:rPr>
              <a:t>EdTech</a:t>
            </a:r>
            <a:r>
              <a:rPr lang="fr-FR" dirty="0">
                <a:solidFill>
                  <a:srgbClr val="90C226"/>
                </a:solidFill>
                <a:latin typeface="Trebuchet MS" panose="020B0603020202020204"/>
                <a:ea typeface="+mn-ea"/>
                <a:cs typeface="+mn-cs"/>
              </a:rPr>
              <a:t> nommé </a:t>
            </a:r>
            <a:r>
              <a:rPr lang="fr-FR" dirty="0" err="1">
                <a:solidFill>
                  <a:srgbClr val="90C226"/>
                </a:solidFill>
                <a:latin typeface="Trebuchet MS" panose="020B0603020202020204"/>
                <a:ea typeface="+mn-ea"/>
                <a:cs typeface="+mn-cs"/>
              </a:rPr>
              <a:t>academy</a:t>
            </a:r>
            <a:r>
              <a:rPr lang="fr-FR" sz="1800" dirty="0">
                <a:solidFill>
                  <a:prstClr val="black">
                    <a:lumMod val="50000"/>
                    <a:lumOff val="50000"/>
                  </a:prstClr>
                </a:solidFill>
                <a:latin typeface="Trebuchet MS" panose="020B0603020202020204"/>
                <a:ea typeface="+mn-ea"/>
                <a:cs typeface="+mn-cs"/>
              </a:rPr>
              <a:t/>
            </a:r>
            <a:br>
              <a:rPr lang="fr-FR" sz="1800" dirty="0">
                <a:solidFill>
                  <a:prstClr val="black">
                    <a:lumMod val="50000"/>
                    <a:lumOff val="50000"/>
                  </a:prstClr>
                </a:solidFill>
                <a:latin typeface="Trebuchet MS" panose="020B0603020202020204"/>
                <a:ea typeface="+mn-ea"/>
                <a:cs typeface="+mn-cs"/>
              </a:rPr>
            </a:br>
            <a:endParaRPr lang="fr-FR" dirty="0"/>
          </a:p>
        </p:txBody>
      </p:sp>
      <p:sp>
        <p:nvSpPr>
          <p:cNvPr id="3" name="Sous-titre 2"/>
          <p:cNvSpPr>
            <a:spLocks noGrp="1"/>
          </p:cNvSpPr>
          <p:nvPr>
            <p:ph type="subTitle" idx="1"/>
          </p:nvPr>
        </p:nvSpPr>
        <p:spPr>
          <a:xfrm flipV="1">
            <a:off x="2589213" y="5903662"/>
            <a:ext cx="8915399" cy="45719"/>
          </a:xfrm>
        </p:spPr>
        <p:txBody>
          <a:bodyPr>
            <a:normAutofit fontScale="25000" lnSpcReduction="20000"/>
          </a:bodyPr>
          <a:lstStyle/>
          <a:p>
            <a:endParaRPr lang="fr-FR" dirty="0" smtClean="0"/>
          </a:p>
          <a:p>
            <a:endParaRPr lang="fr-FR" dirty="0"/>
          </a:p>
        </p:txBody>
      </p:sp>
    </p:spTree>
    <p:extLst>
      <p:ext uri="{BB962C8B-B14F-4D97-AF65-F5344CB8AC3E}">
        <p14:creationId xmlns:p14="http://schemas.microsoft.com/office/powerpoint/2010/main" val="36795681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nSpc>
                <a:spcPct val="107000"/>
              </a:lnSpc>
              <a:spcAft>
                <a:spcPts val="800"/>
              </a:spcAft>
            </a:pPr>
            <a:r>
              <a:rPr lang="fr-FR" dirty="0" smtClean="0"/>
              <a:t>Présentation du projet</a:t>
            </a:r>
            <a:br>
              <a:rPr lang="fr-FR" dirty="0" smtClean="0"/>
            </a:br>
            <a:r>
              <a:rPr lang="fr-FR" dirty="0"/>
              <a:t/>
            </a:r>
            <a:br>
              <a:rPr lang="fr-FR" dirty="0"/>
            </a:br>
            <a:r>
              <a:rPr lang="fr-FR" dirty="0" smtClean="0"/>
              <a:t/>
            </a:r>
            <a:br>
              <a:rPr lang="fr-FR" dirty="0" smtClean="0"/>
            </a:br>
            <a:r>
              <a:rPr lang="fr-FR" dirty="0"/>
              <a:t/>
            </a:r>
            <a:br>
              <a:rPr lang="fr-FR" dirty="0"/>
            </a:br>
            <a:r>
              <a:rPr lang="fr-FR" dirty="0" smtClean="0"/>
              <a:t/>
            </a:r>
            <a:br>
              <a:rPr lang="fr-FR" dirty="0" smtClean="0"/>
            </a:br>
            <a:r>
              <a:rPr lang="fr-FR" dirty="0"/>
              <a:t/>
            </a:r>
            <a:br>
              <a:rPr lang="fr-FR" dirty="0"/>
            </a:br>
            <a:r>
              <a:rPr lang="fr-FR" b="1" i="1" dirty="0" err="1">
                <a:latin typeface="Calibri" panose="020F0502020204030204" pitchFamily="34" charset="0"/>
                <a:ea typeface="Calibri" panose="020F0502020204030204" pitchFamily="34" charset="0"/>
                <a:cs typeface="Times New Roman" panose="02020603050405020304" pitchFamily="18" charset="0"/>
              </a:rPr>
              <a:t>Academy</a:t>
            </a:r>
            <a:r>
              <a:rPr lang="fr-FR" b="1" i="1" dirty="0">
                <a:latin typeface="Calibri" panose="020F0502020204030204" pitchFamily="34" charset="0"/>
                <a:ea typeface="Calibri" panose="020F0502020204030204" pitchFamily="34" charset="0"/>
                <a:cs typeface="Times New Roman" panose="02020603050405020304" pitchFamily="18" charset="0"/>
              </a:rPr>
              <a:t> </a:t>
            </a:r>
            <a:r>
              <a:rPr lang="fr-FR" dirty="0">
                <a:latin typeface="Calibri" panose="020F0502020204030204" pitchFamily="34" charset="0"/>
                <a:ea typeface="Calibri" panose="020F0502020204030204" pitchFamily="34" charset="0"/>
                <a:cs typeface="Times New Roman" panose="02020603050405020304" pitchFamily="18" charset="0"/>
              </a:rPr>
              <a:t>Propose des contenus de formation en ligne pour un public de niveau lycée et université.</a:t>
            </a:r>
            <a:r>
              <a:rPr lang="fr-FR" b="1" dirty="0">
                <a:latin typeface="Calibri" panose="020F0502020204030204" pitchFamily="34" charset="0"/>
                <a:ea typeface="Calibri" panose="020F0502020204030204" pitchFamily="34" charset="0"/>
                <a:cs typeface="Times New Roman" panose="02020603050405020304" pitchFamily="18" charset="0"/>
              </a:rPr>
              <a:t> L’objectif de ce projet est une d’analyse exploratoire</a:t>
            </a:r>
            <a:r>
              <a:rPr lang="fr-FR" dirty="0">
                <a:latin typeface="Calibri" panose="020F0502020204030204" pitchFamily="34" charset="0"/>
                <a:ea typeface="Calibri" panose="020F0502020204030204" pitchFamily="34" charset="0"/>
                <a:cs typeface="Times New Roman" panose="02020603050405020304" pitchFamily="18" charset="0"/>
              </a:rPr>
              <a:t>, pour déterminer si les données sur l’éducation de la banque mondiale permettent d’enrichir la réflexion autour du projet d’expansion</a:t>
            </a:r>
            <a:br>
              <a:rPr lang="fr-FR" dirty="0">
                <a:latin typeface="Calibri" panose="020F0502020204030204" pitchFamily="34" charset="0"/>
                <a:ea typeface="Calibri" panose="020F0502020204030204" pitchFamily="34" charset="0"/>
                <a:cs typeface="Times New Roman" panose="02020603050405020304" pitchFamily="18" charset="0"/>
              </a:rPr>
            </a:br>
            <a:endParaRPr lang="fr-FR" dirty="0"/>
          </a:p>
        </p:txBody>
      </p:sp>
    </p:spTree>
    <p:extLst>
      <p:ext uri="{BB962C8B-B14F-4D97-AF65-F5344CB8AC3E}">
        <p14:creationId xmlns:p14="http://schemas.microsoft.com/office/powerpoint/2010/main" val="7918515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7999" y="1097280"/>
            <a:ext cx="7454537" cy="5073568"/>
          </a:xfrm>
          <a:prstGeom prst="rect">
            <a:avLst/>
          </a:prstGeom>
        </p:spPr>
        <p:txBody>
          <a:bodyPr wrap="square">
            <a:spAutoFit/>
          </a:bodyPr>
          <a:lstStyle/>
          <a:p>
            <a:pPr>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Après avoir eu accès aux données sue l’éducation de la banque mondiale, nous avons procéder par télécharger les librairies pandas, </a:t>
            </a:r>
            <a:r>
              <a:rPr lang="fr-FR" dirty="0" err="1">
                <a:latin typeface="Calibri" panose="020F0502020204030204" pitchFamily="34" charset="0"/>
                <a:ea typeface="Calibri" panose="020F0502020204030204" pitchFamily="34" charset="0"/>
                <a:cs typeface="Times New Roman" panose="02020603050405020304" pitchFamily="18" charset="0"/>
              </a:rPr>
              <a:t>numpy</a:t>
            </a:r>
            <a:r>
              <a:rPr lang="fr-FR" dirty="0">
                <a:latin typeface="Calibri" panose="020F0502020204030204" pitchFamily="34" charset="0"/>
                <a:ea typeface="Calibri" panose="020F0502020204030204" pitchFamily="34" charset="0"/>
                <a:cs typeface="Times New Roman" panose="02020603050405020304" pitchFamily="18" charset="0"/>
              </a:rPr>
              <a:t> etc</a:t>
            </a:r>
            <a:r>
              <a:rPr lang="fr-FR" dirty="0" smtClean="0">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import pandas as </a:t>
            </a:r>
            <a:r>
              <a:rPr lang="fr-FR" dirty="0" err="1" smtClean="0">
                <a:latin typeface="Calibri" panose="020F0502020204030204" pitchFamily="34" charset="0"/>
                <a:ea typeface="Calibri" panose="020F0502020204030204" pitchFamily="34" charset="0"/>
                <a:cs typeface="Times New Roman" panose="02020603050405020304" pitchFamily="18" charset="0"/>
              </a:rPr>
              <a:t>pd</a:t>
            </a:r>
            <a:endParaRPr lang="fr-FR" dirty="0" smtClean="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fr-FR" dirty="0" smtClean="0">
                <a:latin typeface="Calibri" panose="020F0502020204030204" pitchFamily="34" charset="0"/>
                <a:ea typeface="Calibri" panose="020F0502020204030204" pitchFamily="34" charset="0"/>
                <a:cs typeface="Times New Roman" panose="02020603050405020304" pitchFamily="18" charset="0"/>
              </a:rPr>
              <a:t>import </a:t>
            </a:r>
            <a:r>
              <a:rPr lang="fr-FR" dirty="0" err="1">
                <a:latin typeface="Calibri" panose="020F0502020204030204" pitchFamily="34" charset="0"/>
                <a:ea typeface="Calibri" panose="020F0502020204030204" pitchFamily="34" charset="0"/>
                <a:cs typeface="Times New Roman" panose="02020603050405020304" pitchFamily="18" charset="0"/>
              </a:rPr>
              <a:t>numpy</a:t>
            </a:r>
            <a:r>
              <a:rPr lang="fr-FR" dirty="0">
                <a:latin typeface="Calibri" panose="020F0502020204030204" pitchFamily="34" charset="0"/>
                <a:ea typeface="Calibri" panose="020F0502020204030204" pitchFamily="34" charset="0"/>
                <a:cs typeface="Times New Roman" panose="02020603050405020304" pitchFamily="18" charset="0"/>
              </a:rPr>
              <a:t> as </a:t>
            </a:r>
            <a:r>
              <a:rPr lang="fr-FR" dirty="0" err="1" smtClean="0">
                <a:latin typeface="Calibri" panose="020F0502020204030204" pitchFamily="34" charset="0"/>
                <a:ea typeface="Calibri" panose="020F0502020204030204" pitchFamily="34" charset="0"/>
                <a:cs typeface="Times New Roman" panose="02020603050405020304" pitchFamily="18" charset="0"/>
              </a:rPr>
              <a:t>np</a:t>
            </a:r>
            <a:endParaRPr lang="fr-FR" dirty="0" smtClean="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fr-FR" dirty="0" smtClean="0">
                <a:latin typeface="Calibri" panose="020F0502020204030204" pitchFamily="34" charset="0"/>
                <a:ea typeface="Calibri" panose="020F0502020204030204" pitchFamily="34" charset="0"/>
                <a:cs typeface="Times New Roman" panose="02020603050405020304" pitchFamily="18" charset="0"/>
              </a:rPr>
              <a:t>import </a:t>
            </a:r>
            <a:r>
              <a:rPr lang="fr-FR" dirty="0" err="1">
                <a:latin typeface="Calibri" panose="020F0502020204030204" pitchFamily="34" charset="0"/>
                <a:ea typeface="Calibri" panose="020F0502020204030204" pitchFamily="34" charset="0"/>
                <a:cs typeface="Times New Roman" panose="02020603050405020304" pitchFamily="18" charset="0"/>
              </a:rPr>
              <a:t>matplotlib.pyplot</a:t>
            </a:r>
            <a:r>
              <a:rPr lang="fr-FR" dirty="0">
                <a:latin typeface="Calibri" panose="020F0502020204030204" pitchFamily="34" charset="0"/>
                <a:ea typeface="Calibri" panose="020F0502020204030204" pitchFamily="34" charset="0"/>
                <a:cs typeface="Times New Roman" panose="02020603050405020304" pitchFamily="18" charset="0"/>
              </a:rPr>
              <a:t> as </a:t>
            </a:r>
            <a:r>
              <a:rPr lang="fr-FR" dirty="0" err="1" smtClean="0">
                <a:latin typeface="Calibri" panose="020F0502020204030204" pitchFamily="34" charset="0"/>
                <a:ea typeface="Calibri" panose="020F0502020204030204" pitchFamily="34" charset="0"/>
                <a:cs typeface="Times New Roman" panose="02020603050405020304" pitchFamily="18" charset="0"/>
              </a:rPr>
              <a:t>plt</a:t>
            </a:r>
            <a:endParaRPr lang="fr-FR" dirty="0" smtClean="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fr-FR" dirty="0" smtClean="0">
                <a:latin typeface="Calibri" panose="020F0502020204030204" pitchFamily="34" charset="0"/>
                <a:ea typeface="Calibri" panose="020F0502020204030204" pitchFamily="34" charset="0"/>
                <a:cs typeface="Times New Roman" panose="02020603050405020304" pitchFamily="18" charset="0"/>
              </a:rPr>
              <a:t>import </a:t>
            </a:r>
            <a:r>
              <a:rPr lang="fr-FR" dirty="0" err="1">
                <a:latin typeface="Calibri" panose="020F0502020204030204" pitchFamily="34" charset="0"/>
                <a:ea typeface="Calibri" panose="020F0502020204030204" pitchFamily="34" charset="0"/>
                <a:cs typeface="Times New Roman" panose="02020603050405020304" pitchFamily="18" charset="0"/>
              </a:rPr>
              <a:t>seaborn</a:t>
            </a:r>
            <a:r>
              <a:rPr lang="fr-FR" dirty="0">
                <a:latin typeface="Calibri" panose="020F0502020204030204" pitchFamily="34" charset="0"/>
                <a:ea typeface="Calibri" panose="020F0502020204030204" pitchFamily="34" charset="0"/>
                <a:cs typeface="Times New Roman" panose="02020603050405020304" pitchFamily="18" charset="0"/>
              </a:rPr>
              <a:t> as </a:t>
            </a:r>
            <a:r>
              <a:rPr lang="fr-FR" dirty="0" err="1" smtClean="0">
                <a:latin typeface="Calibri" panose="020F0502020204030204" pitchFamily="34" charset="0"/>
                <a:ea typeface="Calibri" panose="020F0502020204030204" pitchFamily="34" charset="0"/>
                <a:cs typeface="Times New Roman" panose="02020603050405020304" pitchFamily="18" charset="0"/>
              </a:rPr>
              <a:t>sns</a:t>
            </a:r>
            <a:endParaRPr lang="fr-FR" dirty="0" smtClean="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fr-FR"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fr-FR" dirty="0" smtClean="0">
                <a:latin typeface="Calibri" panose="020F0502020204030204" pitchFamily="34" charset="0"/>
                <a:ea typeface="Calibri" panose="020F0502020204030204" pitchFamily="34" charset="0"/>
                <a:cs typeface="Times New Roman" panose="02020603050405020304" pitchFamily="18" charset="0"/>
              </a:rPr>
              <a:t>Puis nous avons chargé les données</a:t>
            </a:r>
          </a:p>
          <a:p>
            <a:pPr>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data_csv_1 = </a:t>
            </a:r>
            <a:r>
              <a:rPr lang="fr-FR" dirty="0" err="1">
                <a:latin typeface="Calibri" panose="020F0502020204030204" pitchFamily="34" charset="0"/>
                <a:ea typeface="Calibri" panose="020F0502020204030204" pitchFamily="34" charset="0"/>
                <a:cs typeface="Times New Roman" panose="02020603050405020304" pitchFamily="18" charset="0"/>
              </a:rPr>
              <a:t>pd.read_csv</a:t>
            </a:r>
            <a:r>
              <a:rPr lang="fr-FR" dirty="0">
                <a:latin typeface="Calibri" panose="020F0502020204030204" pitchFamily="34" charset="0"/>
                <a:ea typeface="Calibri" panose="020F0502020204030204" pitchFamily="34" charset="0"/>
                <a:cs typeface="Times New Roman" panose="02020603050405020304" pitchFamily="18" charset="0"/>
              </a:rPr>
              <a:t>('EdStatsCountry-Series.csv</a:t>
            </a:r>
            <a:r>
              <a:rPr lang="fr-FR" dirty="0" smtClean="0">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fr-FR" dirty="0" smtClean="0">
                <a:latin typeface="Calibri" panose="020F0502020204030204" pitchFamily="34" charset="0"/>
                <a:ea typeface="Calibri" panose="020F0502020204030204" pitchFamily="34" charset="0"/>
                <a:cs typeface="Times New Roman" panose="02020603050405020304" pitchFamily="18" charset="0"/>
              </a:rPr>
              <a:t>data_csv_2 </a:t>
            </a:r>
            <a:r>
              <a:rPr lang="fr-FR" dirty="0">
                <a:latin typeface="Calibri" panose="020F0502020204030204" pitchFamily="34" charset="0"/>
                <a:ea typeface="Calibri" panose="020F0502020204030204" pitchFamily="34" charset="0"/>
                <a:cs typeface="Times New Roman" panose="02020603050405020304" pitchFamily="18" charset="0"/>
              </a:rPr>
              <a:t>= </a:t>
            </a:r>
            <a:r>
              <a:rPr lang="fr-FR" dirty="0" err="1">
                <a:latin typeface="Calibri" panose="020F0502020204030204" pitchFamily="34" charset="0"/>
                <a:ea typeface="Calibri" panose="020F0502020204030204" pitchFamily="34" charset="0"/>
                <a:cs typeface="Times New Roman" panose="02020603050405020304" pitchFamily="18" charset="0"/>
              </a:rPr>
              <a:t>pd.read_csv</a:t>
            </a:r>
            <a:r>
              <a:rPr lang="fr-FR" dirty="0">
                <a:latin typeface="Calibri" panose="020F0502020204030204" pitchFamily="34" charset="0"/>
                <a:ea typeface="Calibri" panose="020F0502020204030204" pitchFamily="34" charset="0"/>
                <a:cs typeface="Times New Roman" panose="02020603050405020304" pitchFamily="18" charset="0"/>
              </a:rPr>
              <a:t>('EdStatsData.csv</a:t>
            </a:r>
            <a:r>
              <a:rPr lang="fr-FR" dirty="0" smtClean="0">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fr-FR" dirty="0" smtClean="0">
                <a:latin typeface="Calibri" panose="020F0502020204030204" pitchFamily="34" charset="0"/>
                <a:ea typeface="Calibri" panose="020F0502020204030204" pitchFamily="34" charset="0"/>
                <a:cs typeface="Times New Roman" panose="02020603050405020304" pitchFamily="18" charset="0"/>
              </a:rPr>
              <a:t>data_csv_3 </a:t>
            </a:r>
            <a:r>
              <a:rPr lang="fr-FR" dirty="0">
                <a:latin typeface="Calibri" panose="020F0502020204030204" pitchFamily="34" charset="0"/>
                <a:ea typeface="Calibri" panose="020F0502020204030204" pitchFamily="34" charset="0"/>
                <a:cs typeface="Times New Roman" panose="02020603050405020304" pitchFamily="18" charset="0"/>
              </a:rPr>
              <a:t>= </a:t>
            </a:r>
            <a:r>
              <a:rPr lang="fr-FR" dirty="0" err="1">
                <a:latin typeface="Calibri" panose="020F0502020204030204" pitchFamily="34" charset="0"/>
                <a:ea typeface="Calibri" panose="020F0502020204030204" pitchFamily="34" charset="0"/>
                <a:cs typeface="Times New Roman" panose="02020603050405020304" pitchFamily="18" charset="0"/>
              </a:rPr>
              <a:t>pd.read_csv</a:t>
            </a:r>
            <a:r>
              <a:rPr lang="fr-FR" dirty="0">
                <a:latin typeface="Calibri" panose="020F0502020204030204" pitchFamily="34" charset="0"/>
                <a:ea typeface="Calibri" panose="020F0502020204030204" pitchFamily="34" charset="0"/>
                <a:cs typeface="Times New Roman" panose="02020603050405020304" pitchFamily="18" charset="0"/>
              </a:rPr>
              <a:t>('EdStatsFootNote.csv</a:t>
            </a:r>
            <a:r>
              <a:rPr lang="fr-FR" dirty="0" smtClean="0">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fr-FR" dirty="0" smtClean="0">
                <a:latin typeface="Calibri" panose="020F0502020204030204" pitchFamily="34" charset="0"/>
                <a:ea typeface="Calibri" panose="020F0502020204030204" pitchFamily="34" charset="0"/>
                <a:cs typeface="Times New Roman" panose="02020603050405020304" pitchFamily="18" charset="0"/>
              </a:rPr>
              <a:t>data_csv_4 </a:t>
            </a:r>
            <a:r>
              <a:rPr lang="fr-FR" dirty="0">
                <a:latin typeface="Calibri" panose="020F0502020204030204" pitchFamily="34" charset="0"/>
                <a:ea typeface="Calibri" panose="020F0502020204030204" pitchFamily="34" charset="0"/>
                <a:cs typeface="Times New Roman" panose="02020603050405020304" pitchFamily="18" charset="0"/>
              </a:rPr>
              <a:t>= </a:t>
            </a:r>
            <a:r>
              <a:rPr lang="fr-FR" dirty="0" err="1">
                <a:latin typeface="Calibri" panose="020F0502020204030204" pitchFamily="34" charset="0"/>
                <a:ea typeface="Calibri" panose="020F0502020204030204" pitchFamily="34" charset="0"/>
                <a:cs typeface="Times New Roman" panose="02020603050405020304" pitchFamily="18" charset="0"/>
              </a:rPr>
              <a:t>pd.read_csv</a:t>
            </a:r>
            <a:r>
              <a:rPr lang="fr-FR" dirty="0">
                <a:latin typeface="Calibri" panose="020F0502020204030204" pitchFamily="34" charset="0"/>
                <a:ea typeface="Calibri" panose="020F0502020204030204" pitchFamily="34" charset="0"/>
                <a:cs typeface="Times New Roman" panose="02020603050405020304" pitchFamily="18" charset="0"/>
              </a:rPr>
              <a:t>('EdStatsSeries.csv</a:t>
            </a:r>
            <a:r>
              <a:rPr lang="fr-FR" dirty="0" smtClean="0">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fr-FR" dirty="0" smtClean="0">
                <a:latin typeface="Calibri" panose="020F0502020204030204" pitchFamily="34" charset="0"/>
                <a:ea typeface="Calibri" panose="020F0502020204030204" pitchFamily="34" charset="0"/>
                <a:cs typeface="Times New Roman" panose="02020603050405020304" pitchFamily="18" charset="0"/>
              </a:rPr>
              <a:t>data_csv_5 </a:t>
            </a:r>
            <a:r>
              <a:rPr lang="fr-FR" dirty="0">
                <a:latin typeface="Calibri" panose="020F0502020204030204" pitchFamily="34" charset="0"/>
                <a:ea typeface="Calibri" panose="020F0502020204030204" pitchFamily="34" charset="0"/>
                <a:cs typeface="Times New Roman" panose="02020603050405020304" pitchFamily="18" charset="0"/>
              </a:rPr>
              <a:t>= </a:t>
            </a:r>
            <a:r>
              <a:rPr lang="fr-FR" dirty="0" err="1">
                <a:latin typeface="Calibri" panose="020F0502020204030204" pitchFamily="34" charset="0"/>
                <a:ea typeface="Calibri" panose="020F0502020204030204" pitchFamily="34" charset="0"/>
                <a:cs typeface="Times New Roman" panose="02020603050405020304" pitchFamily="18" charset="0"/>
              </a:rPr>
              <a:t>pd.read_csv</a:t>
            </a:r>
            <a:r>
              <a:rPr lang="fr-FR" dirty="0">
                <a:latin typeface="Calibri" panose="020F0502020204030204" pitchFamily="34" charset="0"/>
                <a:ea typeface="Calibri" panose="020F0502020204030204" pitchFamily="34" charset="0"/>
                <a:cs typeface="Times New Roman" panose="02020603050405020304" pitchFamily="18" charset="0"/>
              </a:rPr>
              <a:t>('EdStatsCountry.csv')</a:t>
            </a:r>
          </a:p>
        </p:txBody>
      </p:sp>
    </p:spTree>
    <p:extLst>
      <p:ext uri="{BB962C8B-B14F-4D97-AF65-F5344CB8AC3E}">
        <p14:creationId xmlns:p14="http://schemas.microsoft.com/office/powerpoint/2010/main" val="28113456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897923"/>
            <a:ext cx="6096000" cy="4070473"/>
          </a:xfrm>
          <a:prstGeom prst="rect">
            <a:avLst/>
          </a:prstGeom>
        </p:spPr>
        <p:txBody>
          <a:bodyPr>
            <a:spAutoFit/>
          </a:bodyPr>
          <a:lstStyle/>
          <a:p>
            <a:pPr>
              <a:lnSpc>
                <a:spcPct val="107000"/>
              </a:lnSpc>
              <a:spcAft>
                <a:spcPts val="800"/>
              </a:spcAft>
            </a:pPr>
            <a:r>
              <a:rPr lang="fr-FR" dirty="0" smtClean="0">
                <a:latin typeface="Calibri" panose="020F0502020204030204" pitchFamily="34" charset="0"/>
                <a:ea typeface="Calibri" panose="020F0502020204030204" pitchFamily="34" charset="0"/>
                <a:cs typeface="Times New Roman" panose="02020603050405020304" pitchFamily="18" charset="0"/>
              </a:rPr>
              <a:t>Nous </a:t>
            </a:r>
            <a:r>
              <a:rPr lang="fr-FR" dirty="0">
                <a:latin typeface="Calibri" panose="020F0502020204030204" pitchFamily="34" charset="0"/>
                <a:ea typeface="Calibri" panose="020F0502020204030204" pitchFamily="34" charset="0"/>
                <a:cs typeface="Times New Roman" panose="02020603050405020304" pitchFamily="18" charset="0"/>
              </a:rPr>
              <a:t>avons affichez les cinq premières lignes de chaque fichiers via data_csv_1.head()</a:t>
            </a:r>
          </a:p>
          <a:p>
            <a:pPr>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 Nous avons calculez le nombre de lignes et de colonnes via </a:t>
            </a:r>
            <a:r>
              <a:rPr lang="fr-FR" dirty="0" err="1">
                <a:latin typeface="Calibri" panose="020F0502020204030204" pitchFamily="34" charset="0"/>
                <a:ea typeface="Calibri" panose="020F0502020204030204" pitchFamily="34" charset="0"/>
                <a:cs typeface="Times New Roman" panose="02020603050405020304" pitchFamily="18" charset="0"/>
              </a:rPr>
              <a:t>print</a:t>
            </a:r>
            <a:r>
              <a:rPr lang="fr-FR" dirty="0">
                <a:latin typeface="Calibri" panose="020F0502020204030204" pitchFamily="34" charset="0"/>
                <a:ea typeface="Calibri" panose="020F0502020204030204" pitchFamily="34" charset="0"/>
                <a:cs typeface="Times New Roman" panose="02020603050405020304" pitchFamily="18" charset="0"/>
              </a:rPr>
              <a:t>(data_csv_1.shape)</a:t>
            </a:r>
          </a:p>
          <a:p>
            <a:pPr>
              <a:lnSpc>
                <a:spcPct val="107000"/>
              </a:lnSpc>
              <a:spcAft>
                <a:spcPts val="800"/>
              </a:spcAft>
            </a:pPr>
            <a:r>
              <a:rPr lang="fr-FR" dirty="0" err="1">
                <a:latin typeface="Calibri" panose="020F0502020204030204" pitchFamily="34" charset="0"/>
                <a:ea typeface="Calibri" panose="020F0502020204030204" pitchFamily="34" charset="0"/>
                <a:cs typeface="Times New Roman" panose="02020603050405020304" pitchFamily="18" charset="0"/>
              </a:rPr>
              <a:t>print</a:t>
            </a:r>
            <a:r>
              <a:rPr lang="fr-FR" dirty="0">
                <a:latin typeface="Calibri" panose="020F0502020204030204" pitchFamily="34" charset="0"/>
                <a:ea typeface="Calibri" panose="020F0502020204030204" pitchFamily="34" charset="0"/>
                <a:cs typeface="Times New Roman" panose="02020603050405020304" pitchFamily="18" charset="0"/>
              </a:rPr>
              <a:t>(data_csv_2.shape)</a:t>
            </a:r>
          </a:p>
          <a:p>
            <a:pPr>
              <a:lnSpc>
                <a:spcPct val="107000"/>
              </a:lnSpc>
              <a:spcAft>
                <a:spcPts val="800"/>
              </a:spcAft>
            </a:pPr>
            <a:r>
              <a:rPr lang="fr-FR" dirty="0" err="1">
                <a:latin typeface="Calibri" panose="020F0502020204030204" pitchFamily="34" charset="0"/>
                <a:ea typeface="Calibri" panose="020F0502020204030204" pitchFamily="34" charset="0"/>
                <a:cs typeface="Times New Roman" panose="02020603050405020304" pitchFamily="18" charset="0"/>
              </a:rPr>
              <a:t>print</a:t>
            </a:r>
            <a:r>
              <a:rPr lang="fr-FR" dirty="0">
                <a:latin typeface="Calibri" panose="020F0502020204030204" pitchFamily="34" charset="0"/>
                <a:ea typeface="Calibri" panose="020F0502020204030204" pitchFamily="34" charset="0"/>
                <a:cs typeface="Times New Roman" panose="02020603050405020304" pitchFamily="18" charset="0"/>
              </a:rPr>
              <a:t>(data_csv_3.shape)</a:t>
            </a:r>
          </a:p>
          <a:p>
            <a:pPr>
              <a:lnSpc>
                <a:spcPct val="107000"/>
              </a:lnSpc>
              <a:spcAft>
                <a:spcPts val="800"/>
              </a:spcAft>
            </a:pPr>
            <a:r>
              <a:rPr lang="fr-FR" dirty="0" err="1">
                <a:latin typeface="Calibri" panose="020F0502020204030204" pitchFamily="34" charset="0"/>
                <a:ea typeface="Calibri" panose="020F0502020204030204" pitchFamily="34" charset="0"/>
                <a:cs typeface="Times New Roman" panose="02020603050405020304" pitchFamily="18" charset="0"/>
              </a:rPr>
              <a:t>print</a:t>
            </a:r>
            <a:r>
              <a:rPr lang="fr-FR" dirty="0">
                <a:latin typeface="Calibri" panose="020F0502020204030204" pitchFamily="34" charset="0"/>
                <a:ea typeface="Calibri" panose="020F0502020204030204" pitchFamily="34" charset="0"/>
                <a:cs typeface="Times New Roman" panose="02020603050405020304" pitchFamily="18" charset="0"/>
              </a:rPr>
              <a:t>(data_csv_4.shape)</a:t>
            </a:r>
          </a:p>
          <a:p>
            <a:pPr>
              <a:lnSpc>
                <a:spcPct val="107000"/>
              </a:lnSpc>
              <a:spcAft>
                <a:spcPts val="800"/>
              </a:spcAft>
            </a:pPr>
            <a:r>
              <a:rPr lang="fr-FR" dirty="0" err="1">
                <a:latin typeface="Calibri" panose="020F0502020204030204" pitchFamily="34" charset="0"/>
                <a:ea typeface="Calibri" panose="020F0502020204030204" pitchFamily="34" charset="0"/>
                <a:cs typeface="Times New Roman" panose="02020603050405020304" pitchFamily="18" charset="0"/>
              </a:rPr>
              <a:t>print</a:t>
            </a:r>
            <a:r>
              <a:rPr lang="fr-FR" dirty="0">
                <a:latin typeface="Calibri" panose="020F0502020204030204" pitchFamily="34" charset="0"/>
                <a:ea typeface="Calibri" panose="020F0502020204030204" pitchFamily="34" charset="0"/>
                <a:cs typeface="Times New Roman" panose="02020603050405020304" pitchFamily="18" charset="0"/>
              </a:rPr>
              <a:t>(data_csv_5.shape)</a:t>
            </a:r>
          </a:p>
          <a:p>
            <a:pPr>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 Calculez le nombre de doublons dans le jeu de données via </a:t>
            </a:r>
            <a:r>
              <a:rPr lang="fr-FR" dirty="0" err="1">
                <a:latin typeface="Calibri" panose="020F0502020204030204" pitchFamily="34" charset="0"/>
                <a:ea typeface="Calibri" panose="020F0502020204030204" pitchFamily="34" charset="0"/>
                <a:cs typeface="Times New Roman" panose="02020603050405020304" pitchFamily="18" charset="0"/>
              </a:rPr>
              <a:t>nb_doublons</a:t>
            </a:r>
            <a:r>
              <a:rPr lang="fr-FR" dirty="0">
                <a:latin typeface="Calibri" panose="020F0502020204030204" pitchFamily="34" charset="0"/>
                <a:ea typeface="Calibri" panose="020F0502020204030204" pitchFamily="34" charset="0"/>
                <a:cs typeface="Times New Roman" panose="02020603050405020304" pitchFamily="18" charset="0"/>
              </a:rPr>
              <a:t>=data_csv_1.duplicated().</a:t>
            </a:r>
            <a:r>
              <a:rPr lang="fr-FR" dirty="0" err="1">
                <a:latin typeface="Calibri" panose="020F0502020204030204" pitchFamily="34" charset="0"/>
                <a:ea typeface="Calibri" panose="020F0502020204030204" pitchFamily="34" charset="0"/>
                <a:cs typeface="Times New Roman" panose="02020603050405020304" pitchFamily="18" charset="0"/>
              </a:rPr>
              <a:t>sum</a:t>
            </a:r>
            <a:r>
              <a:rPr lang="fr-FR" dirty="0">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fr-FR" dirty="0" err="1">
                <a:latin typeface="Calibri" panose="020F0502020204030204" pitchFamily="34" charset="0"/>
                <a:ea typeface="Calibri" panose="020F0502020204030204" pitchFamily="34" charset="0"/>
                <a:cs typeface="Times New Roman" panose="02020603050405020304" pitchFamily="18" charset="0"/>
              </a:rPr>
              <a:t>print</a:t>
            </a:r>
            <a:r>
              <a:rPr lang="fr-FR" dirty="0">
                <a:latin typeface="Calibri" panose="020F0502020204030204" pitchFamily="34" charset="0"/>
                <a:ea typeface="Calibri" panose="020F0502020204030204" pitchFamily="34" charset="0"/>
                <a:cs typeface="Times New Roman" panose="02020603050405020304" pitchFamily="18" charset="0"/>
              </a:rPr>
              <a:t>(</a:t>
            </a:r>
            <a:r>
              <a:rPr lang="fr-FR" dirty="0" err="1">
                <a:latin typeface="Calibri" panose="020F0502020204030204" pitchFamily="34" charset="0"/>
                <a:ea typeface="Calibri" panose="020F0502020204030204" pitchFamily="34" charset="0"/>
                <a:cs typeface="Times New Roman" panose="02020603050405020304" pitchFamily="18" charset="0"/>
              </a:rPr>
              <a:t>nb_doublons</a:t>
            </a:r>
            <a:r>
              <a:rPr lang="fr-FR" dirty="0">
                <a:latin typeface="Calibri" panose="020F0502020204030204" pitchFamily="34"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4267215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852333"/>
            <a:ext cx="6096000" cy="5153334"/>
          </a:xfrm>
          <a:prstGeom prst="rect">
            <a:avLst/>
          </a:prstGeom>
        </p:spPr>
        <p:txBody>
          <a:bodyPr>
            <a:spAutoFit/>
          </a:bodyPr>
          <a:lstStyle/>
          <a:p>
            <a:pPr>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Nous avons calculez la proportion de valeurs manquantes par colonne via : </a:t>
            </a:r>
            <a:r>
              <a:rPr lang="fr-FR" dirty="0" err="1">
                <a:latin typeface="Calibri" panose="020F0502020204030204" pitchFamily="34" charset="0"/>
                <a:ea typeface="Calibri" panose="020F0502020204030204" pitchFamily="34" charset="0"/>
                <a:cs typeface="Times New Roman" panose="02020603050405020304" pitchFamily="18" charset="0"/>
              </a:rPr>
              <a:t>proportion_manquante</a:t>
            </a:r>
            <a:r>
              <a:rPr lang="fr-FR" dirty="0">
                <a:latin typeface="Calibri" panose="020F0502020204030204" pitchFamily="34" charset="0"/>
                <a:ea typeface="Calibri" panose="020F0502020204030204" pitchFamily="34" charset="0"/>
                <a:cs typeface="Times New Roman" panose="02020603050405020304" pitchFamily="18" charset="0"/>
              </a:rPr>
              <a:t>=(data_csv_4.isnull().</a:t>
            </a:r>
            <a:r>
              <a:rPr lang="fr-FR" dirty="0" err="1">
                <a:latin typeface="Calibri" panose="020F0502020204030204" pitchFamily="34" charset="0"/>
                <a:ea typeface="Calibri" panose="020F0502020204030204" pitchFamily="34" charset="0"/>
                <a:cs typeface="Times New Roman" panose="02020603050405020304" pitchFamily="18" charset="0"/>
              </a:rPr>
              <a:t>sum</a:t>
            </a:r>
            <a:r>
              <a:rPr lang="fr-FR" dirty="0">
                <a:latin typeface="Calibri" panose="020F0502020204030204" pitchFamily="34" charset="0"/>
                <a:ea typeface="Calibri" panose="020F0502020204030204" pitchFamily="34" charset="0"/>
                <a:cs typeface="Times New Roman" panose="02020603050405020304" pitchFamily="18" charset="0"/>
              </a:rPr>
              <a:t>()/data_csv_4.shape[0])*100</a:t>
            </a:r>
          </a:p>
          <a:p>
            <a:pPr>
              <a:lnSpc>
                <a:spcPct val="107000"/>
              </a:lnSpc>
              <a:spcAft>
                <a:spcPts val="800"/>
              </a:spcAft>
            </a:pPr>
            <a:r>
              <a:rPr lang="fr-FR" dirty="0" err="1">
                <a:latin typeface="Calibri" panose="020F0502020204030204" pitchFamily="34" charset="0"/>
                <a:ea typeface="Calibri" panose="020F0502020204030204" pitchFamily="34" charset="0"/>
                <a:cs typeface="Times New Roman" panose="02020603050405020304" pitchFamily="18" charset="0"/>
              </a:rPr>
              <a:t>print</a:t>
            </a:r>
            <a:r>
              <a:rPr lang="fr-FR" dirty="0">
                <a:latin typeface="Calibri" panose="020F0502020204030204" pitchFamily="34" charset="0"/>
                <a:ea typeface="Calibri" panose="020F0502020204030204" pitchFamily="34" charset="0"/>
                <a:cs typeface="Times New Roman" panose="02020603050405020304" pitchFamily="18" charset="0"/>
              </a:rPr>
              <a:t>(</a:t>
            </a:r>
            <a:r>
              <a:rPr lang="fr-FR" dirty="0" err="1">
                <a:latin typeface="Calibri" panose="020F0502020204030204" pitchFamily="34" charset="0"/>
                <a:ea typeface="Calibri" panose="020F0502020204030204" pitchFamily="34" charset="0"/>
                <a:cs typeface="Times New Roman" panose="02020603050405020304" pitchFamily="18" charset="0"/>
              </a:rPr>
              <a:t>proportion_manquante</a:t>
            </a:r>
            <a:r>
              <a:rPr lang="fr-FR" dirty="0">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Puis pour les colonnes numériques : nous avons calculez les statistiques descriptives basiques en utilisant </a:t>
            </a:r>
            <a:r>
              <a:rPr lang="fr-FR" dirty="0" err="1">
                <a:latin typeface="Calibri" panose="020F0502020204030204" pitchFamily="34" charset="0"/>
                <a:ea typeface="Calibri" panose="020F0502020204030204" pitchFamily="34" charset="0"/>
                <a:cs typeface="Times New Roman" panose="02020603050405020304" pitchFamily="18" charset="0"/>
              </a:rPr>
              <a:t>describe</a:t>
            </a:r>
            <a:r>
              <a:rPr lang="fr-FR" dirty="0">
                <a:latin typeface="Calibri" panose="020F0502020204030204" pitchFamily="34" charset="0"/>
                <a:ea typeface="Calibri" panose="020F0502020204030204" pitchFamily="34" charset="0"/>
                <a:cs typeface="Times New Roman" panose="02020603050405020304" pitchFamily="18" charset="0"/>
              </a:rPr>
              <a:t>() via :  </a:t>
            </a:r>
            <a:r>
              <a:rPr lang="fr-FR" dirty="0" err="1">
                <a:latin typeface="Calibri" panose="020F0502020204030204" pitchFamily="34" charset="0"/>
                <a:ea typeface="Calibri" panose="020F0502020204030204" pitchFamily="34" charset="0"/>
                <a:cs typeface="Times New Roman" panose="02020603050405020304" pitchFamily="18" charset="0"/>
              </a:rPr>
              <a:t>stats</a:t>
            </a:r>
            <a:r>
              <a:rPr lang="fr-FR" dirty="0">
                <a:latin typeface="Calibri" panose="020F0502020204030204" pitchFamily="34" charset="0"/>
                <a:ea typeface="Calibri" panose="020F0502020204030204" pitchFamily="34" charset="0"/>
                <a:cs typeface="Times New Roman" panose="02020603050405020304" pitchFamily="18" charset="0"/>
              </a:rPr>
              <a:t>=data_csv_1.describe()</a:t>
            </a:r>
          </a:p>
          <a:p>
            <a:pPr>
              <a:lnSpc>
                <a:spcPct val="107000"/>
              </a:lnSpc>
              <a:spcAft>
                <a:spcPts val="800"/>
              </a:spcAft>
            </a:pPr>
            <a:r>
              <a:rPr lang="fr-FR" dirty="0" err="1">
                <a:latin typeface="Calibri" panose="020F0502020204030204" pitchFamily="34" charset="0"/>
                <a:ea typeface="Calibri" panose="020F0502020204030204" pitchFamily="34" charset="0"/>
                <a:cs typeface="Times New Roman" panose="02020603050405020304" pitchFamily="18" charset="0"/>
              </a:rPr>
              <a:t>print</a:t>
            </a:r>
            <a:r>
              <a:rPr lang="fr-FR" dirty="0">
                <a:latin typeface="Calibri" panose="020F0502020204030204" pitchFamily="34" charset="0"/>
                <a:ea typeface="Calibri" panose="020F0502020204030204" pitchFamily="34" charset="0"/>
                <a:cs typeface="Times New Roman" panose="02020603050405020304" pitchFamily="18" charset="0"/>
              </a:rPr>
              <a:t>(</a:t>
            </a:r>
            <a:r>
              <a:rPr lang="fr-FR" dirty="0" err="1">
                <a:latin typeface="Calibri" panose="020F0502020204030204" pitchFamily="34" charset="0"/>
                <a:ea typeface="Calibri" panose="020F0502020204030204" pitchFamily="34" charset="0"/>
                <a:cs typeface="Times New Roman" panose="02020603050405020304" pitchFamily="18" charset="0"/>
              </a:rPr>
              <a:t>stats</a:t>
            </a:r>
            <a:r>
              <a:rPr lang="fr-FR" dirty="0">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Pour les colonnes catégorielles nous avons  calculez le nombre d'occurrences de chaque valeur possible de la colonne via </a:t>
            </a:r>
            <a:r>
              <a:rPr lang="fr-FR" dirty="0" err="1">
                <a:latin typeface="Calibri" panose="020F0502020204030204" pitchFamily="34" charset="0"/>
                <a:ea typeface="Calibri" panose="020F0502020204030204" pitchFamily="34" charset="0"/>
                <a:cs typeface="Times New Roman" panose="02020603050405020304" pitchFamily="18" charset="0"/>
              </a:rPr>
              <a:t>colonnes_categorielles</a:t>
            </a:r>
            <a:r>
              <a:rPr lang="fr-FR" dirty="0">
                <a:latin typeface="Calibri" panose="020F0502020204030204" pitchFamily="34" charset="0"/>
                <a:ea typeface="Calibri" panose="020F0502020204030204" pitchFamily="34" charset="0"/>
                <a:cs typeface="Times New Roman" panose="02020603050405020304" pitchFamily="18" charset="0"/>
              </a:rPr>
              <a:t>=data_csv_1.select_dtypes(</a:t>
            </a:r>
            <a:r>
              <a:rPr lang="fr-FR" dirty="0" err="1">
                <a:latin typeface="Calibri" panose="020F0502020204030204" pitchFamily="34" charset="0"/>
                <a:ea typeface="Calibri" panose="020F0502020204030204" pitchFamily="34" charset="0"/>
                <a:cs typeface="Times New Roman" panose="02020603050405020304" pitchFamily="18" charset="0"/>
              </a:rPr>
              <a:t>include</a:t>
            </a:r>
            <a:r>
              <a:rPr lang="fr-FR" dirty="0">
                <a:latin typeface="Calibri" panose="020F0502020204030204" pitchFamily="34" charset="0"/>
                <a:ea typeface="Calibri" panose="020F0502020204030204" pitchFamily="34" charset="0"/>
                <a:cs typeface="Times New Roman" panose="02020603050405020304" pitchFamily="18" charset="0"/>
              </a:rPr>
              <a:t>=['</a:t>
            </a:r>
            <a:r>
              <a:rPr lang="fr-FR" dirty="0" err="1">
                <a:latin typeface="Calibri" panose="020F0502020204030204" pitchFamily="34" charset="0"/>
                <a:ea typeface="Calibri" panose="020F0502020204030204" pitchFamily="34" charset="0"/>
                <a:cs typeface="Times New Roman" panose="02020603050405020304" pitchFamily="18" charset="0"/>
              </a:rPr>
              <a:t>object</a:t>
            </a:r>
            <a:r>
              <a:rPr lang="fr-FR" dirty="0">
                <a:latin typeface="Calibri" panose="020F0502020204030204" pitchFamily="34" charset="0"/>
                <a:ea typeface="Calibri" panose="020F0502020204030204" pitchFamily="34" charset="0"/>
                <a:cs typeface="Times New Roman" panose="02020603050405020304" pitchFamily="18" charset="0"/>
              </a:rPr>
              <a:t>']).</a:t>
            </a:r>
            <a:r>
              <a:rPr lang="fr-FR" dirty="0" err="1">
                <a:latin typeface="Calibri" panose="020F0502020204030204" pitchFamily="34" charset="0"/>
                <a:ea typeface="Calibri" panose="020F0502020204030204" pitchFamily="34" charset="0"/>
                <a:cs typeface="Times New Roman" panose="02020603050405020304" pitchFamily="18" charset="0"/>
              </a:rPr>
              <a:t>columns</a:t>
            </a:r>
            <a:endParaRPr lang="fr-FR"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fr-FR" dirty="0" err="1">
                <a:latin typeface="Calibri" panose="020F0502020204030204" pitchFamily="34" charset="0"/>
                <a:ea typeface="Calibri" panose="020F0502020204030204" pitchFamily="34" charset="0"/>
                <a:cs typeface="Times New Roman" panose="02020603050405020304" pitchFamily="18" charset="0"/>
              </a:rPr>
              <a:t>print</a:t>
            </a:r>
            <a:r>
              <a:rPr lang="fr-FR" dirty="0">
                <a:latin typeface="Calibri" panose="020F0502020204030204" pitchFamily="34" charset="0"/>
                <a:ea typeface="Calibri" panose="020F0502020204030204" pitchFamily="34" charset="0"/>
                <a:cs typeface="Times New Roman" panose="02020603050405020304" pitchFamily="18" charset="0"/>
              </a:rPr>
              <a:t>(</a:t>
            </a:r>
            <a:r>
              <a:rPr lang="fr-FR" dirty="0" err="1">
                <a:latin typeface="Calibri" panose="020F0502020204030204" pitchFamily="34" charset="0"/>
                <a:ea typeface="Calibri" panose="020F0502020204030204" pitchFamily="34" charset="0"/>
                <a:cs typeface="Times New Roman" panose="02020603050405020304" pitchFamily="18" charset="0"/>
              </a:rPr>
              <a:t>colonnes_categorielles</a:t>
            </a:r>
            <a:r>
              <a:rPr lang="fr-FR" dirty="0">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640053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1695833"/>
            <a:ext cx="6096000" cy="3466334"/>
          </a:xfrm>
          <a:prstGeom prst="rect">
            <a:avLst/>
          </a:prstGeom>
        </p:spPr>
        <p:txBody>
          <a:bodyPr>
            <a:spAutoFit/>
          </a:bodyPr>
          <a:lstStyle/>
          <a:p>
            <a:pPr>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Nous avons regardez de plus près les lignes du fichier Country pour identifier des faux pays. </a:t>
            </a:r>
          </a:p>
          <a:p>
            <a:pPr>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 Nous avons supprimez les lignes correspondantes du </a:t>
            </a:r>
            <a:r>
              <a:rPr lang="fr-FR" dirty="0" err="1">
                <a:latin typeface="Calibri" panose="020F0502020204030204" pitchFamily="34" charset="0"/>
                <a:ea typeface="Calibri" panose="020F0502020204030204" pitchFamily="34" charset="0"/>
                <a:cs typeface="Times New Roman" panose="02020603050405020304" pitchFamily="18" charset="0"/>
              </a:rPr>
              <a:t>dataframe</a:t>
            </a:r>
            <a:r>
              <a:rPr lang="fr-FR" dirty="0">
                <a:latin typeface="Calibri" panose="020F0502020204030204" pitchFamily="34" charset="0"/>
                <a:ea typeface="Calibri" panose="020F0502020204030204" pitchFamily="34" charset="0"/>
                <a:cs typeface="Times New Roman" panose="02020603050405020304" pitchFamily="18" charset="0"/>
              </a:rPr>
              <a:t> contenant la donnée Country. </a:t>
            </a:r>
          </a:p>
          <a:p>
            <a:pPr>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 Nous avons Utilisez les 2 méthodes suivantes pour supprimer les faux pays des autres </a:t>
            </a:r>
            <a:r>
              <a:rPr lang="fr-FR" dirty="0" err="1">
                <a:latin typeface="Calibri" panose="020F0502020204030204" pitchFamily="34" charset="0"/>
                <a:ea typeface="Calibri" panose="020F0502020204030204" pitchFamily="34" charset="0"/>
                <a:cs typeface="Times New Roman" panose="02020603050405020304" pitchFamily="18" charset="0"/>
              </a:rPr>
              <a:t>dataframes</a:t>
            </a:r>
            <a:r>
              <a:rPr lang="fr-FR" dirty="0">
                <a:latin typeface="Calibri" panose="020F0502020204030204" pitchFamily="34" charset="0"/>
                <a:ea typeface="Calibri" panose="020F0502020204030204" pitchFamily="34" charset="0"/>
                <a:cs typeface="Times New Roman" panose="02020603050405020304" pitchFamily="18" charset="0"/>
              </a:rPr>
              <a:t> :  </a:t>
            </a:r>
          </a:p>
          <a:p>
            <a:pPr marL="342900" lvl="0" indent="-342900">
              <a:lnSpc>
                <a:spcPct val="107000"/>
              </a:lnSpc>
              <a:spcAft>
                <a:spcPts val="800"/>
              </a:spcAft>
              <a:buSzPts val="1000"/>
              <a:buFont typeface="Symbol" panose="05050102010706020507" pitchFamily="18" charset="2"/>
              <a:buChar char=""/>
              <a:tabLst>
                <a:tab pos="457200" algn="l"/>
              </a:tabLst>
            </a:pPr>
            <a:r>
              <a:rPr lang="fr-FR" dirty="0">
                <a:latin typeface="Calibri" panose="020F0502020204030204" pitchFamily="34" charset="0"/>
                <a:ea typeface="Calibri" panose="020F0502020204030204" pitchFamily="34" charset="0"/>
                <a:cs typeface="Times New Roman" panose="02020603050405020304" pitchFamily="18" charset="0"/>
              </a:rPr>
              <a:t>En stockant les faux pays dans une liste qui sera utilisée pour le filtrage des différents </a:t>
            </a:r>
            <a:r>
              <a:rPr lang="fr-FR" dirty="0" err="1">
                <a:latin typeface="Calibri" panose="020F0502020204030204" pitchFamily="34" charset="0"/>
                <a:ea typeface="Calibri" panose="020F0502020204030204" pitchFamily="34" charset="0"/>
                <a:cs typeface="Times New Roman" panose="02020603050405020304" pitchFamily="18" charset="0"/>
              </a:rPr>
              <a:t>dataframes</a:t>
            </a:r>
            <a:r>
              <a:rPr lang="fr-FR" dirty="0">
                <a:latin typeface="Calibri" panose="020F0502020204030204" pitchFamily="34" charset="0"/>
                <a:ea typeface="Calibri" panose="020F0502020204030204" pitchFamily="34" charset="0"/>
                <a:cs typeface="Times New Roman" panose="02020603050405020304" pitchFamily="18" charset="0"/>
              </a:rPr>
              <a:t>. </a:t>
            </a:r>
          </a:p>
          <a:p>
            <a:pPr marL="342900" lvl="0" indent="-342900">
              <a:lnSpc>
                <a:spcPct val="107000"/>
              </a:lnSpc>
              <a:spcAft>
                <a:spcPts val="800"/>
              </a:spcAft>
              <a:buSzPts val="1000"/>
              <a:buFont typeface="Symbol" panose="05050102010706020507" pitchFamily="18" charset="2"/>
              <a:buChar char=""/>
              <a:tabLst>
                <a:tab pos="457200" algn="l"/>
              </a:tabLst>
            </a:pPr>
            <a:r>
              <a:rPr lang="fr-FR" dirty="0">
                <a:latin typeface="Calibri" panose="020F0502020204030204" pitchFamily="34" charset="0"/>
                <a:ea typeface="Calibri" panose="020F0502020204030204" pitchFamily="34" charset="0"/>
                <a:cs typeface="Times New Roman" panose="02020603050405020304" pitchFamily="18" charset="0"/>
              </a:rPr>
              <a:t>En utilisant un </a:t>
            </a:r>
            <a:r>
              <a:rPr lang="fr-FR" dirty="0" err="1">
                <a:latin typeface="Calibri" panose="020F0502020204030204" pitchFamily="34" charset="0"/>
                <a:ea typeface="Calibri" panose="020F0502020204030204" pitchFamily="34" charset="0"/>
                <a:cs typeface="Times New Roman" panose="02020603050405020304" pitchFamily="18" charset="0"/>
              </a:rPr>
              <a:t>inner</a:t>
            </a:r>
            <a:r>
              <a:rPr lang="fr-FR" dirty="0">
                <a:latin typeface="Calibri" panose="020F0502020204030204" pitchFamily="34" charset="0"/>
                <a:ea typeface="Calibri" panose="020F0502020204030204" pitchFamily="34" charset="0"/>
                <a:cs typeface="Times New Roman" panose="02020603050405020304" pitchFamily="18" charset="0"/>
              </a:rPr>
              <a:t> </a:t>
            </a:r>
            <a:r>
              <a:rPr lang="fr-FR" dirty="0" err="1">
                <a:latin typeface="Calibri" panose="020F0502020204030204" pitchFamily="34" charset="0"/>
                <a:ea typeface="Calibri" panose="020F0502020204030204" pitchFamily="34" charset="0"/>
                <a:cs typeface="Times New Roman" panose="02020603050405020304" pitchFamily="18" charset="0"/>
              </a:rPr>
              <a:t>join</a:t>
            </a:r>
            <a:r>
              <a:rPr lang="fr-FR" dirty="0">
                <a:latin typeface="Calibri" panose="020F0502020204030204" pitchFamily="34" charset="0"/>
                <a:ea typeface="Calibri" panose="020F0502020204030204" pitchFamily="34" charset="0"/>
                <a:cs typeface="Times New Roman" panose="02020603050405020304" pitchFamily="18" charset="0"/>
              </a:rPr>
              <a:t> entre les pays du </a:t>
            </a:r>
            <a:r>
              <a:rPr lang="fr-FR" dirty="0" err="1">
                <a:latin typeface="Calibri" panose="020F0502020204030204" pitchFamily="34" charset="0"/>
                <a:ea typeface="Calibri" panose="020F0502020204030204" pitchFamily="34" charset="0"/>
                <a:cs typeface="Times New Roman" panose="02020603050405020304" pitchFamily="18" charset="0"/>
              </a:rPr>
              <a:t>dataframe</a:t>
            </a:r>
            <a:r>
              <a:rPr lang="fr-FR" dirty="0">
                <a:latin typeface="Calibri" panose="020F0502020204030204" pitchFamily="34" charset="0"/>
                <a:ea typeface="Calibri" panose="020F0502020204030204" pitchFamily="34" charset="0"/>
                <a:cs typeface="Times New Roman" panose="02020603050405020304" pitchFamily="18" charset="0"/>
              </a:rPr>
              <a:t> Country nettoyé, et les autres </a:t>
            </a:r>
            <a:r>
              <a:rPr lang="fr-FR" dirty="0" err="1">
                <a:latin typeface="Calibri" panose="020F0502020204030204" pitchFamily="34" charset="0"/>
                <a:ea typeface="Calibri" panose="020F0502020204030204" pitchFamily="34" charset="0"/>
                <a:cs typeface="Times New Roman" panose="02020603050405020304" pitchFamily="18" charset="0"/>
              </a:rPr>
              <a:t>dataframes</a:t>
            </a:r>
            <a:endParaRPr lang="fr-FR"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60074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7999" y="1384664"/>
            <a:ext cx="8695509" cy="4247317"/>
          </a:xfrm>
          <a:prstGeom prst="rect">
            <a:avLst/>
          </a:prstGeom>
        </p:spPr>
        <p:txBody>
          <a:bodyPr wrap="square">
            <a:spAutoFit/>
          </a:bodyPr>
          <a:lstStyle/>
          <a:p>
            <a:r>
              <a:rPr lang="fr-FR" dirty="0" err="1"/>
              <a:t>country_list</a:t>
            </a:r>
            <a:r>
              <a:rPr lang="fr-FR" dirty="0"/>
              <a:t>=['France','Germany','</a:t>
            </a:r>
            <a:r>
              <a:rPr lang="fr-FR" dirty="0" err="1"/>
              <a:t>Italy</a:t>
            </a:r>
            <a:r>
              <a:rPr lang="fr-FR" dirty="0"/>
              <a:t>','</a:t>
            </a:r>
            <a:r>
              <a:rPr lang="fr-FR" dirty="0" err="1"/>
              <a:t>Spain','United</a:t>
            </a:r>
            <a:r>
              <a:rPr lang="fr-FR" dirty="0"/>
              <a:t> </a:t>
            </a:r>
            <a:r>
              <a:rPr lang="fr-FR" dirty="0" err="1"/>
              <a:t>Kingdom</a:t>
            </a:r>
            <a:r>
              <a:rPr lang="fr-FR" dirty="0"/>
              <a:t>','United States</a:t>
            </a:r>
            <a:r>
              <a:rPr lang="fr-FR" dirty="0" smtClean="0"/>
              <a:t>']</a:t>
            </a:r>
          </a:p>
          <a:p>
            <a:endParaRPr lang="fr-FR" dirty="0" smtClean="0"/>
          </a:p>
          <a:p>
            <a:r>
              <a:rPr lang="fr-FR" dirty="0" err="1" smtClean="0"/>
              <a:t>df_filtered</a:t>
            </a:r>
            <a:r>
              <a:rPr lang="fr-FR" dirty="0" smtClean="0"/>
              <a:t>=data_csv_3[data_csv_3</a:t>
            </a:r>
            <a:r>
              <a:rPr lang="fr-FR" dirty="0"/>
              <a:t>['Country Name'].</a:t>
            </a:r>
            <a:r>
              <a:rPr lang="fr-FR" dirty="0" err="1"/>
              <a:t>isin</a:t>
            </a:r>
            <a:r>
              <a:rPr lang="fr-FR" dirty="0"/>
              <a:t>(</a:t>
            </a:r>
            <a:r>
              <a:rPr lang="fr-FR" dirty="0" err="1"/>
              <a:t>country_list</a:t>
            </a:r>
            <a:r>
              <a:rPr lang="fr-FR" dirty="0" smtClean="0"/>
              <a:t>)]</a:t>
            </a:r>
          </a:p>
          <a:p>
            <a:endParaRPr lang="fr-FR" dirty="0" smtClean="0"/>
          </a:p>
          <a:p>
            <a:r>
              <a:rPr lang="fr-FR" dirty="0" err="1" smtClean="0"/>
              <a:t>df_merged</a:t>
            </a:r>
            <a:r>
              <a:rPr lang="fr-FR" dirty="0" smtClean="0"/>
              <a:t>=</a:t>
            </a:r>
            <a:r>
              <a:rPr lang="fr-FR" dirty="0" err="1" smtClean="0"/>
              <a:t>pd.merge</a:t>
            </a:r>
            <a:r>
              <a:rPr lang="fr-FR" dirty="0" smtClean="0"/>
              <a:t>(df_filtered,data_csv_2,on</a:t>
            </a:r>
            <a:r>
              <a:rPr lang="fr-FR" dirty="0"/>
              <a:t>='Country Code</a:t>
            </a:r>
            <a:r>
              <a:rPr lang="fr-FR" dirty="0" smtClean="0"/>
              <a:t>')</a:t>
            </a:r>
          </a:p>
          <a:p>
            <a:endParaRPr lang="fr-FR" dirty="0"/>
          </a:p>
          <a:p>
            <a:r>
              <a:rPr lang="fr-FR" dirty="0"/>
              <a:t>data_csv_1.loc[data_csv_1['</a:t>
            </a:r>
            <a:r>
              <a:rPr lang="fr-FR" dirty="0" err="1"/>
              <a:t>CountryCode</a:t>
            </a:r>
            <a:r>
              <a:rPr lang="fr-FR" dirty="0"/>
              <a:t>'].</a:t>
            </a:r>
            <a:r>
              <a:rPr lang="fr-FR" dirty="0" err="1"/>
              <a:t>isnull</a:t>
            </a:r>
            <a:r>
              <a:rPr lang="fr-FR" dirty="0" smtClean="0"/>
              <a:t>(),:]</a:t>
            </a:r>
          </a:p>
          <a:p>
            <a:r>
              <a:rPr lang="fr-FR" dirty="0" err="1"/>
              <a:t>df</a:t>
            </a:r>
            <a:r>
              <a:rPr lang="fr-FR" dirty="0"/>
              <a:t>=</a:t>
            </a:r>
            <a:r>
              <a:rPr lang="fr-FR" dirty="0" err="1"/>
              <a:t>pd.DataFrame</a:t>
            </a:r>
            <a:r>
              <a:rPr lang="fr-FR" dirty="0"/>
              <a:t>(data_csv_1</a:t>
            </a:r>
            <a:r>
              <a:rPr lang="fr-FR" dirty="0" smtClean="0"/>
              <a:t>)</a:t>
            </a:r>
          </a:p>
          <a:p>
            <a:endParaRPr lang="fr-FR" dirty="0"/>
          </a:p>
          <a:p>
            <a:r>
              <a:rPr lang="fr-FR" dirty="0" err="1"/>
              <a:t>pays_valides</a:t>
            </a:r>
            <a:r>
              <a:rPr lang="fr-FR" dirty="0"/>
              <a:t>=["FR","DE","IT","ES","GB","US"]</a:t>
            </a:r>
            <a:r>
              <a:rPr lang="fr-FR" dirty="0" err="1"/>
              <a:t>df</a:t>
            </a:r>
            <a:r>
              <a:rPr lang="fr-FR" dirty="0"/>
              <a:t>=</a:t>
            </a:r>
            <a:r>
              <a:rPr lang="fr-FR" dirty="0" err="1"/>
              <a:t>df</a:t>
            </a:r>
            <a:r>
              <a:rPr lang="fr-FR" dirty="0"/>
              <a:t>[</a:t>
            </a:r>
            <a:r>
              <a:rPr lang="fr-FR" dirty="0" err="1"/>
              <a:t>df</a:t>
            </a:r>
            <a:r>
              <a:rPr lang="fr-FR" dirty="0"/>
              <a:t>['</a:t>
            </a:r>
            <a:r>
              <a:rPr lang="fr-FR" dirty="0" err="1"/>
              <a:t>CountryCode</a:t>
            </a:r>
            <a:r>
              <a:rPr lang="fr-FR" dirty="0"/>
              <a:t>'].</a:t>
            </a:r>
            <a:r>
              <a:rPr lang="fr-FR" dirty="0" err="1"/>
              <a:t>isin</a:t>
            </a:r>
            <a:r>
              <a:rPr lang="fr-FR" dirty="0"/>
              <a:t>(</a:t>
            </a:r>
            <a:r>
              <a:rPr lang="fr-FR" dirty="0" err="1"/>
              <a:t>pays_valides</a:t>
            </a:r>
            <a:r>
              <a:rPr lang="fr-FR" dirty="0"/>
              <a:t>)]</a:t>
            </a:r>
            <a:r>
              <a:rPr lang="fr-FR" dirty="0" err="1"/>
              <a:t>print</a:t>
            </a:r>
            <a:r>
              <a:rPr lang="fr-FR" dirty="0"/>
              <a:t>(</a:t>
            </a:r>
            <a:r>
              <a:rPr lang="fr-FR" dirty="0" err="1"/>
              <a:t>df</a:t>
            </a:r>
            <a:r>
              <a:rPr lang="fr-FR" dirty="0" smtClean="0"/>
              <a:t>)</a:t>
            </a:r>
          </a:p>
          <a:p>
            <a:r>
              <a:rPr lang="fr-FR" dirty="0" err="1"/>
              <a:t>df</a:t>
            </a:r>
            <a:r>
              <a:rPr lang="fr-FR" dirty="0"/>
              <a:t>=</a:t>
            </a:r>
            <a:r>
              <a:rPr lang="fr-FR" dirty="0" err="1"/>
              <a:t>pd.DataFrame</a:t>
            </a:r>
            <a:r>
              <a:rPr lang="fr-FR" dirty="0"/>
              <a:t>(data_csv_2</a:t>
            </a:r>
            <a:r>
              <a:rPr lang="fr-FR" dirty="0" smtClean="0"/>
              <a:t>)</a:t>
            </a:r>
          </a:p>
          <a:p>
            <a:r>
              <a:rPr lang="fr-FR" dirty="0" err="1" smtClean="0"/>
              <a:t>pays_valides</a:t>
            </a:r>
            <a:r>
              <a:rPr lang="fr-FR" dirty="0"/>
              <a:t>=["FR","DE","IT","ES","GB","US</a:t>
            </a:r>
            <a:r>
              <a:rPr lang="fr-FR" dirty="0" smtClean="0"/>
              <a:t>"]</a:t>
            </a:r>
          </a:p>
          <a:p>
            <a:r>
              <a:rPr lang="fr-FR" dirty="0" err="1" smtClean="0"/>
              <a:t>df</a:t>
            </a:r>
            <a:r>
              <a:rPr lang="fr-FR" dirty="0" smtClean="0"/>
              <a:t>=</a:t>
            </a:r>
            <a:r>
              <a:rPr lang="fr-FR" dirty="0" err="1" smtClean="0"/>
              <a:t>df</a:t>
            </a:r>
            <a:r>
              <a:rPr lang="fr-FR" dirty="0" smtClean="0"/>
              <a:t>[</a:t>
            </a:r>
            <a:r>
              <a:rPr lang="fr-FR" dirty="0" err="1" smtClean="0"/>
              <a:t>df</a:t>
            </a:r>
            <a:r>
              <a:rPr lang="fr-FR" dirty="0"/>
              <a:t>['Country Code'].</a:t>
            </a:r>
            <a:r>
              <a:rPr lang="fr-FR" dirty="0" err="1"/>
              <a:t>isin</a:t>
            </a:r>
            <a:r>
              <a:rPr lang="fr-FR" dirty="0"/>
              <a:t>(</a:t>
            </a:r>
            <a:r>
              <a:rPr lang="fr-FR" dirty="0" err="1"/>
              <a:t>pays_valides</a:t>
            </a:r>
            <a:r>
              <a:rPr lang="fr-FR" dirty="0"/>
              <a:t>)]</a:t>
            </a:r>
            <a:r>
              <a:rPr lang="fr-FR" dirty="0" err="1"/>
              <a:t>print</a:t>
            </a:r>
            <a:r>
              <a:rPr lang="fr-FR" dirty="0"/>
              <a:t>(</a:t>
            </a:r>
            <a:r>
              <a:rPr lang="fr-FR" dirty="0" err="1"/>
              <a:t>df</a:t>
            </a:r>
            <a:r>
              <a:rPr lang="fr-FR" dirty="0"/>
              <a:t>)</a:t>
            </a:r>
            <a:endParaRPr lang="fr-FR" dirty="0" smtClean="0"/>
          </a:p>
          <a:p>
            <a:endParaRPr lang="fr-FR" dirty="0"/>
          </a:p>
        </p:txBody>
      </p:sp>
    </p:spTree>
    <p:extLst>
      <p:ext uri="{BB962C8B-B14F-4D97-AF65-F5344CB8AC3E}">
        <p14:creationId xmlns:p14="http://schemas.microsoft.com/office/powerpoint/2010/main" val="1139837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2938289"/>
            <a:ext cx="6096000" cy="981423"/>
          </a:xfrm>
          <a:prstGeom prst="rect">
            <a:avLst/>
          </a:prstGeom>
        </p:spPr>
        <p:txBody>
          <a:bodyPr>
            <a:spAutoFit/>
          </a:bodyPr>
          <a:lstStyle/>
          <a:p>
            <a:pPr marL="457200">
              <a:lnSpc>
                <a:spcPct val="107000"/>
              </a:lnSpc>
              <a:spcAft>
                <a:spcPts val="800"/>
              </a:spcAft>
            </a:pPr>
            <a:r>
              <a:rPr lang="fr-FR" b="1" dirty="0">
                <a:latin typeface="Calibri" panose="020F0502020204030204" pitchFamily="34" charset="0"/>
                <a:ea typeface="Calibri" panose="020F0502020204030204" pitchFamily="34" charset="0"/>
                <a:cs typeface="Times New Roman" panose="02020603050405020304" pitchFamily="18" charset="0"/>
              </a:rPr>
              <a:t>Méthodologie et Hypothèses utilisées pour l'assainissement des données et la réduction des indicateurs</a:t>
            </a:r>
            <a:endParaRPr lang="fr-FR"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93545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19349" y="-917029"/>
            <a:ext cx="10872651" cy="7119065"/>
          </a:xfrm>
          <a:prstGeom prst="rect">
            <a:avLst/>
          </a:prstGeom>
        </p:spPr>
        <p:txBody>
          <a:bodyPr wrap="square">
            <a:spAutoFit/>
          </a:bodyPr>
          <a:lstStyle/>
          <a:p>
            <a:pPr marL="457200">
              <a:lnSpc>
                <a:spcPct val="107000"/>
              </a:lnSpc>
              <a:spcAft>
                <a:spcPts val="800"/>
              </a:spcAft>
            </a:pPr>
            <a:endParaRPr lang="fr-FR" dirty="0" smtClean="0">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endParaRPr lang="fr-FR" dirty="0">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endParaRPr lang="fr-FR" dirty="0" smtClean="0">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fr-FR" dirty="0" smtClean="0">
                <a:latin typeface="Calibri" panose="020F0502020204030204" pitchFamily="34" charset="0"/>
                <a:ea typeface="Calibri" panose="020F0502020204030204" pitchFamily="34" charset="0"/>
                <a:cs typeface="Times New Roman" panose="02020603050405020304" pitchFamily="18" charset="0"/>
              </a:rPr>
              <a:t> </a:t>
            </a:r>
            <a:r>
              <a:rPr lang="fr-FR" sz="2400" b="1" dirty="0">
                <a:latin typeface="Calibri" panose="020F0502020204030204" pitchFamily="34" charset="0"/>
                <a:ea typeface="Calibri" panose="020F0502020204030204" pitchFamily="34" charset="0"/>
                <a:cs typeface="Times New Roman" panose="02020603050405020304" pitchFamily="18" charset="0"/>
              </a:rPr>
              <a:t>Méthodologie :</a:t>
            </a:r>
            <a:endParaRPr lang="fr-FR" dirty="0">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 </a:t>
            </a:r>
          </a:p>
          <a:p>
            <a:pPr marL="457200">
              <a:lnSpc>
                <a:spcPct val="107000"/>
              </a:lnSpc>
              <a:spcAft>
                <a:spcPts val="800"/>
              </a:spcAft>
            </a:pPr>
            <a:r>
              <a:rPr lang="fr-FR" sz="2000" b="1" dirty="0">
                <a:latin typeface="Calibri" panose="020F0502020204030204" pitchFamily="34" charset="0"/>
                <a:ea typeface="Calibri" panose="020F0502020204030204" pitchFamily="34" charset="0"/>
                <a:cs typeface="Times New Roman" panose="02020603050405020304" pitchFamily="18" charset="0"/>
              </a:rPr>
              <a:t>1. Exploration des données</a:t>
            </a:r>
            <a:r>
              <a:rPr lang="fr-FR" dirty="0">
                <a:latin typeface="Calibri" panose="020F0502020204030204" pitchFamily="34" charset="0"/>
                <a:ea typeface="Calibri" panose="020F0502020204030204" pitchFamily="34" charset="0"/>
                <a:cs typeface="Times New Roman" panose="02020603050405020304" pitchFamily="18" charset="0"/>
              </a:rPr>
              <a:t> :</a:t>
            </a:r>
          </a:p>
          <a:p>
            <a:pPr marL="457200">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   - Chargement des cinq fichiers CSV fournis dans des </a:t>
            </a:r>
            <a:r>
              <a:rPr lang="fr-FR" dirty="0" err="1">
                <a:latin typeface="Calibri" panose="020F0502020204030204" pitchFamily="34" charset="0"/>
                <a:ea typeface="Calibri" panose="020F0502020204030204" pitchFamily="34" charset="0"/>
                <a:cs typeface="Times New Roman" panose="02020603050405020304" pitchFamily="18" charset="0"/>
              </a:rPr>
              <a:t>DataFrames</a:t>
            </a:r>
            <a:r>
              <a:rPr lang="fr-FR" dirty="0">
                <a:latin typeface="Calibri" panose="020F0502020204030204" pitchFamily="34" charset="0"/>
                <a:ea typeface="Calibri" panose="020F0502020204030204" pitchFamily="34" charset="0"/>
                <a:cs typeface="Times New Roman" panose="02020603050405020304" pitchFamily="18" charset="0"/>
              </a:rPr>
              <a:t> pandas.</a:t>
            </a:r>
          </a:p>
          <a:p>
            <a:pPr marL="457200">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   - Inspection des colonnes et des valeurs uniques, en particulier dans le fichier `EdStatsSeries.csv` qui contient les descriptions des indicateurs (`</a:t>
            </a:r>
            <a:r>
              <a:rPr lang="fr-FR" dirty="0" err="1">
                <a:latin typeface="Calibri" panose="020F0502020204030204" pitchFamily="34" charset="0"/>
                <a:ea typeface="Calibri" panose="020F0502020204030204" pitchFamily="34" charset="0"/>
                <a:cs typeface="Times New Roman" panose="02020603050405020304" pitchFamily="18" charset="0"/>
              </a:rPr>
              <a:t>Series</a:t>
            </a:r>
            <a:r>
              <a:rPr lang="fr-FR" dirty="0">
                <a:latin typeface="Calibri" panose="020F0502020204030204" pitchFamily="34" charset="0"/>
                <a:ea typeface="Calibri" panose="020F0502020204030204" pitchFamily="34" charset="0"/>
                <a:cs typeface="Times New Roman" panose="02020603050405020304" pitchFamily="18" charset="0"/>
              </a:rPr>
              <a:t> Code`) et leurs catégories (`Topic`).</a:t>
            </a:r>
          </a:p>
          <a:p>
            <a:pPr>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                - Identification de la colonne `Topic` dans `EdStatsSeries.csv` comme étant celle décrivant les catégories d'indicateurs</a:t>
            </a:r>
            <a:r>
              <a:rPr lang="fr-FR" dirty="0" smtClean="0">
                <a:latin typeface="Calibri" panose="020F0502020204030204" pitchFamily="34" charset="0"/>
                <a:ea typeface="Calibri" panose="020F0502020204030204" pitchFamily="34" charset="0"/>
                <a:cs typeface="Times New Roman" panose="02020603050405020304" pitchFamily="18" charset="0"/>
              </a:rPr>
              <a:t>.</a:t>
            </a:r>
            <a:endParaRPr lang="fr-FR" dirty="0">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 </a:t>
            </a:r>
            <a:r>
              <a:rPr lang="fr-FR" sz="2000" b="1" dirty="0" smtClean="0">
                <a:latin typeface="Calibri" panose="020F0502020204030204" pitchFamily="34" charset="0"/>
                <a:ea typeface="Calibri" panose="020F0502020204030204" pitchFamily="34" charset="0"/>
                <a:cs typeface="Times New Roman" panose="02020603050405020304" pitchFamily="18" charset="0"/>
              </a:rPr>
              <a:t>2</a:t>
            </a:r>
            <a:r>
              <a:rPr lang="fr-FR" sz="2000" b="1" dirty="0">
                <a:latin typeface="Calibri" panose="020F0502020204030204" pitchFamily="34" charset="0"/>
                <a:ea typeface="Calibri" panose="020F0502020204030204" pitchFamily="34" charset="0"/>
                <a:cs typeface="Times New Roman" panose="02020603050405020304" pitchFamily="18" charset="0"/>
              </a:rPr>
              <a:t>. Identification des catégories pertinentes</a:t>
            </a:r>
            <a:r>
              <a:rPr lang="fr-FR" dirty="0">
                <a:latin typeface="Calibri" panose="020F0502020204030204" pitchFamily="34" charset="0"/>
                <a:ea typeface="Calibri" panose="020F0502020204030204" pitchFamily="34" charset="0"/>
                <a:cs typeface="Times New Roman" panose="02020603050405020304" pitchFamily="18" charset="0"/>
              </a:rPr>
              <a:t> :</a:t>
            </a:r>
          </a:p>
          <a:p>
            <a:pPr marL="457200">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   - En se basant sur la demande de Mark et l'objectif du projet (qui n'est pas explicitement détaillé ici, mais on suppose qu'il s'agit d'analyser des indicateurs éducatifs liés au marché du travail, aux compétences et à l'économie), une liste de catégories `</a:t>
            </a:r>
            <a:r>
              <a:rPr lang="fr-FR" dirty="0" err="1">
                <a:latin typeface="Calibri" panose="020F0502020204030204" pitchFamily="34" charset="0"/>
                <a:ea typeface="Calibri" panose="020F0502020204030204" pitchFamily="34" charset="0"/>
                <a:cs typeface="Times New Roman" panose="02020603050405020304" pitchFamily="18" charset="0"/>
              </a:rPr>
              <a:t>categorie_pertinentes</a:t>
            </a:r>
            <a:r>
              <a:rPr lang="fr-FR" dirty="0">
                <a:latin typeface="Calibri" panose="020F0502020204030204" pitchFamily="34" charset="0"/>
                <a:ea typeface="Calibri" panose="020F0502020204030204" pitchFamily="34" charset="0"/>
                <a:cs typeface="Times New Roman" panose="02020603050405020304" pitchFamily="18" charset="0"/>
              </a:rPr>
              <a:t>` a été définie manuellement.</a:t>
            </a:r>
          </a:p>
          <a:p>
            <a:pPr marL="457200">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   - Ces catégories ont été choisies pour leur lien potentiel avec les aspects de l'éducation ayant un impact sur le marché du travail, le développement de compétences et les résultats d'apprentissage pertinents pour l'emploi.</a:t>
            </a:r>
          </a:p>
          <a:p>
            <a:pPr marL="457200">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1984232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63931" y="1434288"/>
            <a:ext cx="8399417" cy="3396699"/>
          </a:xfrm>
          <a:prstGeom prst="rect">
            <a:avLst/>
          </a:prstGeom>
        </p:spPr>
        <p:txBody>
          <a:bodyPr wrap="square">
            <a:spAutoFit/>
          </a:bodyPr>
          <a:lstStyle/>
          <a:p>
            <a:pPr marL="457200">
              <a:lnSpc>
                <a:spcPct val="107000"/>
              </a:lnSpc>
              <a:spcAft>
                <a:spcPts val="800"/>
              </a:spcAft>
            </a:pPr>
            <a:r>
              <a:rPr lang="fr-FR" sz="2000" b="1" dirty="0">
                <a:latin typeface="Calibri" panose="020F0502020204030204" pitchFamily="34" charset="0"/>
                <a:ea typeface="Calibri" panose="020F0502020204030204" pitchFamily="34" charset="0"/>
                <a:cs typeface="Times New Roman" panose="02020603050405020304" pitchFamily="18" charset="0"/>
              </a:rPr>
              <a:t>3. Filtrage des indicateurs</a:t>
            </a:r>
            <a:r>
              <a:rPr lang="fr-FR" dirty="0">
                <a:latin typeface="Calibri" panose="020F0502020204030204" pitchFamily="34" charset="0"/>
                <a:ea typeface="Calibri" panose="020F0502020204030204" pitchFamily="34" charset="0"/>
                <a:cs typeface="Times New Roman" panose="02020603050405020304" pitchFamily="18" charset="0"/>
              </a:rPr>
              <a:t> :</a:t>
            </a:r>
          </a:p>
          <a:p>
            <a:pPr marL="457200">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   - Le </a:t>
            </a:r>
            <a:r>
              <a:rPr lang="fr-FR" dirty="0" err="1">
                <a:latin typeface="Calibri" panose="020F0502020204030204" pitchFamily="34" charset="0"/>
                <a:ea typeface="Calibri" panose="020F0502020204030204" pitchFamily="34" charset="0"/>
                <a:cs typeface="Times New Roman" panose="02020603050405020304" pitchFamily="18" charset="0"/>
              </a:rPr>
              <a:t>DataFrame</a:t>
            </a:r>
            <a:r>
              <a:rPr lang="fr-FR" dirty="0">
                <a:latin typeface="Calibri" panose="020F0502020204030204" pitchFamily="34" charset="0"/>
                <a:ea typeface="Calibri" panose="020F0502020204030204" pitchFamily="34" charset="0"/>
                <a:cs typeface="Times New Roman" panose="02020603050405020304" pitchFamily="18" charset="0"/>
              </a:rPr>
              <a:t> `data_csv_5` (EdStatsSeries.csv) a été filtré pour ne conserver que les lignes dont la colonne `Topic` appartient à la liste `</a:t>
            </a:r>
            <a:r>
              <a:rPr lang="fr-FR" dirty="0" err="1">
                <a:latin typeface="Calibri" panose="020F0502020204030204" pitchFamily="34" charset="0"/>
                <a:ea typeface="Calibri" panose="020F0502020204030204" pitchFamily="34" charset="0"/>
                <a:cs typeface="Times New Roman" panose="02020603050405020304" pitchFamily="18" charset="0"/>
              </a:rPr>
              <a:t>categorie_pertinentes</a:t>
            </a:r>
            <a:r>
              <a:rPr lang="fr-FR" dirty="0">
                <a:latin typeface="Calibri" panose="020F0502020204030204" pitchFamily="34" charset="0"/>
                <a:ea typeface="Calibri" panose="020F0502020204030204" pitchFamily="34" charset="0"/>
                <a:cs typeface="Times New Roman" panose="02020603050405020304" pitchFamily="18" charset="0"/>
              </a:rPr>
              <a:t>`. Cela a permis de réduire le nombre d'indicateurs considérés.</a:t>
            </a:r>
          </a:p>
          <a:p>
            <a:pPr marL="457200">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   - Les codes d'indicateurs (`</a:t>
            </a:r>
            <a:r>
              <a:rPr lang="fr-FR" dirty="0" err="1">
                <a:latin typeface="Calibri" panose="020F0502020204030204" pitchFamily="34" charset="0"/>
                <a:ea typeface="Calibri" panose="020F0502020204030204" pitchFamily="34" charset="0"/>
                <a:cs typeface="Times New Roman" panose="02020603050405020304" pitchFamily="18" charset="0"/>
              </a:rPr>
              <a:t>Series</a:t>
            </a:r>
            <a:r>
              <a:rPr lang="fr-FR" dirty="0">
                <a:latin typeface="Calibri" panose="020F0502020204030204" pitchFamily="34" charset="0"/>
                <a:ea typeface="Calibri" panose="020F0502020204030204" pitchFamily="34" charset="0"/>
                <a:cs typeface="Times New Roman" panose="02020603050405020304" pitchFamily="18" charset="0"/>
              </a:rPr>
              <a:t> Code`) présents dans ce </a:t>
            </a:r>
            <a:r>
              <a:rPr lang="fr-FR" dirty="0" err="1">
                <a:latin typeface="Calibri" panose="020F0502020204030204" pitchFamily="34" charset="0"/>
                <a:ea typeface="Calibri" panose="020F0502020204030204" pitchFamily="34" charset="0"/>
                <a:cs typeface="Times New Roman" panose="02020603050405020304" pitchFamily="18" charset="0"/>
              </a:rPr>
              <a:t>DataFrame</a:t>
            </a:r>
            <a:r>
              <a:rPr lang="fr-FR" dirty="0">
                <a:latin typeface="Calibri" panose="020F0502020204030204" pitchFamily="34" charset="0"/>
                <a:ea typeface="Calibri" panose="020F0502020204030204" pitchFamily="34" charset="0"/>
                <a:cs typeface="Times New Roman" panose="02020603050405020304" pitchFamily="18" charset="0"/>
              </a:rPr>
              <a:t> filtré (`data_csv_5_filtrees`) ont été extraits.</a:t>
            </a:r>
          </a:p>
          <a:p>
            <a:pPr marL="457200">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   - Le </a:t>
            </a:r>
            <a:r>
              <a:rPr lang="fr-FR" dirty="0" err="1">
                <a:latin typeface="Calibri" panose="020F0502020204030204" pitchFamily="34" charset="0"/>
                <a:ea typeface="Calibri" panose="020F0502020204030204" pitchFamily="34" charset="0"/>
                <a:cs typeface="Times New Roman" panose="02020603050405020304" pitchFamily="18" charset="0"/>
              </a:rPr>
              <a:t>DataFrame</a:t>
            </a:r>
            <a:r>
              <a:rPr lang="fr-FR" dirty="0">
                <a:latin typeface="Calibri" panose="020F0502020204030204" pitchFamily="34" charset="0"/>
                <a:ea typeface="Calibri" panose="020F0502020204030204" pitchFamily="34" charset="0"/>
                <a:cs typeface="Times New Roman" panose="02020603050405020304" pitchFamily="18" charset="0"/>
              </a:rPr>
              <a:t> principal `data_csv_3` (EdStatsData.csv), qui contient les valeurs des indicateurs pour chaque pays et année, a été filtré pour ne conserver que les lignes dont la colonne `</a:t>
            </a:r>
            <a:r>
              <a:rPr lang="fr-FR" dirty="0" err="1">
                <a:latin typeface="Calibri" panose="020F0502020204030204" pitchFamily="34" charset="0"/>
                <a:ea typeface="Calibri" panose="020F0502020204030204" pitchFamily="34" charset="0"/>
                <a:cs typeface="Times New Roman" panose="02020603050405020304" pitchFamily="18" charset="0"/>
              </a:rPr>
              <a:t>Indicator</a:t>
            </a:r>
            <a:r>
              <a:rPr lang="fr-FR" dirty="0">
                <a:latin typeface="Calibri" panose="020F0502020204030204" pitchFamily="34" charset="0"/>
                <a:ea typeface="Calibri" panose="020F0502020204030204" pitchFamily="34" charset="0"/>
                <a:cs typeface="Times New Roman" panose="02020603050405020304" pitchFamily="18" charset="0"/>
              </a:rPr>
              <a:t> Code` correspond aux codes d'indicateurs pertinents identifiés à l'étape précédente.</a:t>
            </a:r>
          </a:p>
        </p:txBody>
      </p:sp>
    </p:spTree>
    <p:extLst>
      <p:ext uri="{BB962C8B-B14F-4D97-AF65-F5344CB8AC3E}">
        <p14:creationId xmlns:p14="http://schemas.microsoft.com/office/powerpoint/2010/main" val="4271783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2"/>
          <a:stretch>
            <a:fillRect/>
          </a:stretch>
        </p:blipFill>
        <p:spPr>
          <a:xfrm>
            <a:off x="3215092" y="1802674"/>
            <a:ext cx="5761815" cy="3409406"/>
          </a:xfrm>
          <a:prstGeom prst="rect">
            <a:avLst/>
          </a:prstGeom>
        </p:spPr>
      </p:pic>
    </p:spTree>
    <p:extLst>
      <p:ext uri="{BB962C8B-B14F-4D97-AF65-F5344CB8AC3E}">
        <p14:creationId xmlns:p14="http://schemas.microsoft.com/office/powerpoint/2010/main" val="24179090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2345563"/>
            <a:ext cx="7350034" cy="1870512"/>
          </a:xfrm>
          <a:prstGeom prst="rect">
            <a:avLst/>
          </a:prstGeom>
        </p:spPr>
        <p:txBody>
          <a:bodyPr wrap="square">
            <a:spAutoFit/>
          </a:bodyPr>
          <a:lstStyle/>
          <a:p>
            <a:pPr marL="457200">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Le sens métier des indicateurs finaux recommandés pour l'expansion à l'international est directement lié à l'évaluation de la qualité et de la pertinence du capital humain et du système éducatif dans les pays cibles. Pour une entreprise envisageant une expansion internationale, comprendre le paysage éducatif et les compétences disponibles est crucial pour plusieurs raisons stratégiques :</a:t>
            </a:r>
          </a:p>
        </p:txBody>
      </p:sp>
    </p:spTree>
    <p:extLst>
      <p:ext uri="{BB962C8B-B14F-4D97-AF65-F5344CB8AC3E}">
        <p14:creationId xmlns:p14="http://schemas.microsoft.com/office/powerpoint/2010/main" val="1397043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0606" y="-378709"/>
            <a:ext cx="10489474" cy="5050742"/>
          </a:xfrm>
          <a:prstGeom prst="rect">
            <a:avLst/>
          </a:prstGeom>
        </p:spPr>
        <p:txBody>
          <a:bodyPr wrap="square">
            <a:spAutoFit/>
          </a:bodyPr>
          <a:lstStyle/>
          <a:p>
            <a:pPr marL="800100" indent="-342900">
              <a:lnSpc>
                <a:spcPct val="107000"/>
              </a:lnSpc>
              <a:spcAft>
                <a:spcPts val="800"/>
              </a:spcAft>
              <a:buAutoNum type="arabicPeriod"/>
            </a:pPr>
            <a:endParaRPr lang="fr-FR" dirty="0" smtClean="0">
              <a:latin typeface="Calibri" panose="020F0502020204030204" pitchFamily="34" charset="0"/>
              <a:ea typeface="Calibri" panose="020F0502020204030204" pitchFamily="34" charset="0"/>
              <a:cs typeface="Times New Roman" panose="02020603050405020304" pitchFamily="18" charset="0"/>
            </a:endParaRPr>
          </a:p>
          <a:p>
            <a:pPr marL="800100" indent="-342900">
              <a:lnSpc>
                <a:spcPct val="107000"/>
              </a:lnSpc>
              <a:spcAft>
                <a:spcPts val="800"/>
              </a:spcAft>
              <a:buAutoNum type="arabicPeriod"/>
            </a:pPr>
            <a:endParaRPr lang="fr-FR" dirty="0">
              <a:latin typeface="Calibri" panose="020F0502020204030204" pitchFamily="34" charset="0"/>
              <a:ea typeface="Calibri" panose="020F0502020204030204" pitchFamily="34" charset="0"/>
              <a:cs typeface="Times New Roman" panose="02020603050405020304" pitchFamily="18" charset="0"/>
            </a:endParaRPr>
          </a:p>
          <a:p>
            <a:pPr marL="800100" indent="-342900">
              <a:lnSpc>
                <a:spcPct val="107000"/>
              </a:lnSpc>
              <a:spcAft>
                <a:spcPts val="800"/>
              </a:spcAft>
              <a:buAutoNum type="arabicPeriod"/>
            </a:pPr>
            <a:endParaRPr lang="fr-FR" dirty="0" smtClean="0">
              <a:latin typeface="Calibri" panose="020F0502020204030204" pitchFamily="34" charset="0"/>
              <a:ea typeface="Calibri" panose="020F0502020204030204" pitchFamily="34" charset="0"/>
              <a:cs typeface="Times New Roman" panose="02020603050405020304" pitchFamily="18" charset="0"/>
            </a:endParaRPr>
          </a:p>
          <a:p>
            <a:pPr marL="800100" indent="-342900">
              <a:lnSpc>
                <a:spcPct val="107000"/>
              </a:lnSpc>
              <a:spcAft>
                <a:spcPts val="800"/>
              </a:spcAft>
              <a:buAutoNum type="arabicPeriod"/>
            </a:pPr>
            <a:r>
              <a:rPr lang="fr-FR" dirty="0" smtClean="0">
                <a:latin typeface="Calibri" panose="020F0502020204030204" pitchFamily="34" charset="0"/>
                <a:ea typeface="Calibri" panose="020F0502020204030204" pitchFamily="34" charset="0"/>
                <a:cs typeface="Times New Roman" panose="02020603050405020304" pitchFamily="18" charset="0"/>
              </a:rPr>
              <a:t>Disponibilité </a:t>
            </a:r>
            <a:r>
              <a:rPr lang="fr-FR" dirty="0">
                <a:latin typeface="Calibri" panose="020F0502020204030204" pitchFamily="34" charset="0"/>
                <a:ea typeface="Calibri" panose="020F0502020204030204" pitchFamily="34" charset="0"/>
                <a:cs typeface="Times New Roman" panose="02020603050405020304" pitchFamily="18" charset="0"/>
              </a:rPr>
              <a:t>et Qualité de la Main-d'œuvre : Les indicateurs sur l'atteinte éducative, les résultats d'apprentissage et le développement des compétences donnent une idée claire du niveau d'éducation général de la population et de la disponibilité de travailleurs qualifiés. Cela permet d'évaluer la facilité de recruter localement une main-d'œuvre compétente et adaptée aux besoins de l'entreprise</a:t>
            </a:r>
            <a:r>
              <a:rPr lang="fr-FR" dirty="0" smtClean="0">
                <a:latin typeface="Calibri" panose="020F0502020204030204" pitchFamily="34" charset="0"/>
                <a:ea typeface="Calibri" panose="020F0502020204030204" pitchFamily="34" charset="0"/>
                <a:cs typeface="Times New Roman" panose="02020603050405020304" pitchFamily="18" charset="0"/>
              </a:rPr>
              <a:t>.</a:t>
            </a:r>
            <a:endParaRPr lang="fr-FR" dirty="0">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 </a:t>
            </a:r>
            <a:r>
              <a:rPr lang="fr-FR" dirty="0" smtClean="0">
                <a:latin typeface="Calibri" panose="020F0502020204030204" pitchFamily="34" charset="0"/>
                <a:ea typeface="Calibri" panose="020F0502020204030204" pitchFamily="34" charset="0"/>
                <a:cs typeface="Times New Roman" panose="02020603050405020304" pitchFamily="18" charset="0"/>
              </a:rPr>
              <a:t>2</a:t>
            </a:r>
            <a:r>
              <a:rPr lang="fr-FR" dirty="0">
                <a:latin typeface="Calibri" panose="020F0502020204030204" pitchFamily="34" charset="0"/>
                <a:ea typeface="Calibri" panose="020F0502020204030204" pitchFamily="34" charset="0"/>
                <a:cs typeface="Times New Roman" panose="02020603050405020304" pitchFamily="18" charset="0"/>
              </a:rPr>
              <a:t>.  Adéquation Formation-Emploi : Des indicateurs sur les compétences (notamment scientifiques et technologiques) et les liens entre l'éducation et la force de travail aident à comprendre si le système éducatif local produit des diplômés avec les compétences recherchées sur le marché du travail. Cela est vital pour anticiper les besoins en formation ou la difficulté à trouver des profils spécifiques.</a:t>
            </a:r>
          </a:p>
          <a:p>
            <a:pPr marL="457200">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 </a:t>
            </a:r>
            <a:r>
              <a:rPr lang="fr-FR" dirty="0" smtClean="0">
                <a:latin typeface="Calibri" panose="020F0502020204030204" pitchFamily="34" charset="0"/>
                <a:ea typeface="Calibri" panose="020F0502020204030204" pitchFamily="34" charset="0"/>
                <a:cs typeface="Times New Roman" panose="02020603050405020304" pitchFamily="18" charset="0"/>
              </a:rPr>
              <a:t>3</a:t>
            </a:r>
            <a:r>
              <a:rPr lang="fr-FR" dirty="0">
                <a:latin typeface="Calibri" panose="020F0502020204030204" pitchFamily="34" charset="0"/>
                <a:ea typeface="Calibri" panose="020F0502020204030204" pitchFamily="34" charset="0"/>
                <a:cs typeface="Times New Roman" panose="02020603050405020304" pitchFamily="18" charset="0"/>
              </a:rPr>
              <a:t>.  Environnement pour l'Innovation et la Technologie : Les indicateurs liés à la science et à la technologie, ainsi qu'aux investissements dans l'éducation, peuvent révéler le dynamisme d'un pays en matière d'innovation et sa capacité à adopter de nouvelles technologies, ce qui peut être un facteur clé pour certaines industries.</a:t>
            </a:r>
          </a:p>
        </p:txBody>
      </p:sp>
    </p:spTree>
    <p:extLst>
      <p:ext uri="{BB962C8B-B14F-4D97-AF65-F5344CB8AC3E}">
        <p14:creationId xmlns:p14="http://schemas.microsoft.com/office/powerpoint/2010/main" val="1839854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1006222"/>
            <a:ext cx="6096000" cy="4845557"/>
          </a:xfrm>
          <a:prstGeom prst="rect">
            <a:avLst/>
          </a:prstGeom>
        </p:spPr>
        <p:txBody>
          <a:bodyPr>
            <a:spAutoFit/>
          </a:bodyPr>
          <a:lstStyle/>
          <a:p>
            <a:pPr marL="457200">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 </a:t>
            </a:r>
          </a:p>
          <a:p>
            <a:pPr marL="457200">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4.  Coût et Efficacité de l'Éducation : Les indicateurs de finance éducative peuvent donner un aperçu des investissements publics dans l'éducation et, indirectement, de la priorité accordée au développement du capital humain. Bien que non directement lié au coût de la main-d'œuvre, cela peut influencer la qualité à long terme de la force de travail.</a:t>
            </a:r>
          </a:p>
          <a:p>
            <a:pPr marL="457200">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 </a:t>
            </a:r>
          </a:p>
          <a:p>
            <a:pPr marL="457200">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5.  Stabilité et Qualité du Système Éducatif : Des indicateurs sur les enseignants et les politiques éducatives peuvent refléter la stabilité, la qualité et l'orientation du système éducatif. Un système éducatif solide est un signe positif pour la croissance à long terme et la disponibilité d'une population active bien formée.</a:t>
            </a:r>
          </a:p>
        </p:txBody>
      </p:sp>
    </p:spTree>
    <p:extLst>
      <p:ext uri="{BB962C8B-B14F-4D97-AF65-F5344CB8AC3E}">
        <p14:creationId xmlns:p14="http://schemas.microsoft.com/office/powerpoint/2010/main" val="6402439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2"/>
          <a:stretch>
            <a:fillRect/>
          </a:stretch>
        </p:blipFill>
        <p:spPr>
          <a:xfrm>
            <a:off x="3215092" y="3076206"/>
            <a:ext cx="5761815" cy="705587"/>
          </a:xfrm>
          <a:prstGeom prst="rect">
            <a:avLst/>
          </a:prstGeom>
        </p:spPr>
      </p:pic>
    </p:spTree>
    <p:extLst>
      <p:ext uri="{BB962C8B-B14F-4D97-AF65-F5344CB8AC3E}">
        <p14:creationId xmlns:p14="http://schemas.microsoft.com/office/powerpoint/2010/main" val="39154939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105719"/>
            <a:ext cx="6096000" cy="6646563"/>
          </a:xfrm>
          <a:prstGeom prst="rect">
            <a:avLst/>
          </a:prstGeom>
        </p:spPr>
        <p:txBody>
          <a:bodyPr>
            <a:spAutoFit/>
          </a:bodyPr>
          <a:lstStyle/>
          <a:p>
            <a:pPr marL="457200">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En résumé, le sens métier de ces indicateurs est de fournir à l'entreprise une base de connaissances factuelle pour évaluer :</a:t>
            </a:r>
          </a:p>
          <a:p>
            <a:pPr marL="457200">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 </a:t>
            </a:r>
          </a:p>
          <a:p>
            <a:pPr marL="457200">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   Le potentiel de recrutement local de personnel qualifié.</a:t>
            </a:r>
          </a:p>
          <a:p>
            <a:pPr marL="457200">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   L'adéquation des compétences disponibles avec les besoins spécifiques de l'entreprise.</a:t>
            </a:r>
          </a:p>
          <a:p>
            <a:pPr marL="457200">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   L'environnement global en matière de développement du capital humain et d'innovation.</a:t>
            </a:r>
          </a:p>
          <a:p>
            <a:pPr marL="457200">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   Les risques et opportunités liés au marché du travail et au système éducatif du pays cible.</a:t>
            </a:r>
          </a:p>
          <a:p>
            <a:pPr marL="457200">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 </a:t>
            </a:r>
          </a:p>
          <a:p>
            <a:pPr marL="457200">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Ces informations permettront de prendre des décisions plus éclairées concernant le choix des pays d'expansion, la stratégie de ressources humaines, les besoins potentiels en formation locale, et l'adaptation des opérations aux réalités du marché local du travail et de l'éducation.</a:t>
            </a:r>
          </a:p>
          <a:p>
            <a:pPr marL="457200">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 </a:t>
            </a:r>
          </a:p>
          <a:p>
            <a:pPr marL="457200">
              <a:lnSpc>
                <a:spcPct val="107000"/>
              </a:lnSpc>
              <a:spcAft>
                <a:spcPts val="800"/>
              </a:spcAft>
            </a:pPr>
            <a:r>
              <a:rPr lang="fr-FR" dirty="0">
                <a:latin typeface="Calibri" panose="020F050202020403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24341322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2828836"/>
            <a:ext cx="6096000" cy="1200329"/>
          </a:xfrm>
          <a:prstGeom prst="rect">
            <a:avLst/>
          </a:prstGeom>
        </p:spPr>
        <p:txBody>
          <a:bodyPr>
            <a:spAutoFit/>
          </a:bodyPr>
          <a:lstStyle/>
          <a:p>
            <a:endParaRPr lang="fr-FR" dirty="0"/>
          </a:p>
          <a:p>
            <a:r>
              <a:rPr lang="fr-FR" dirty="0"/>
              <a:t>Nous illustrons notre conclusion avec les matrices de Pearson puis de Spearman et en Visualisant  les résultats avec une </a:t>
            </a:r>
            <a:r>
              <a:rPr lang="fr-FR" dirty="0" err="1"/>
              <a:t>heatmap</a:t>
            </a:r>
            <a:endParaRPr lang="fr-FR" dirty="0"/>
          </a:p>
        </p:txBody>
      </p:sp>
    </p:spTree>
    <p:extLst>
      <p:ext uri="{BB962C8B-B14F-4D97-AF65-F5344CB8AC3E}">
        <p14:creationId xmlns:p14="http://schemas.microsoft.com/office/powerpoint/2010/main" val="29562036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8910" y="0"/>
            <a:ext cx="7474179" cy="6858000"/>
          </a:xfrm>
          <a:prstGeom prst="rect">
            <a:avLst/>
          </a:prstGeom>
        </p:spPr>
      </p:pic>
    </p:spTree>
    <p:extLst>
      <p:ext uri="{BB962C8B-B14F-4D97-AF65-F5344CB8AC3E}">
        <p14:creationId xmlns:p14="http://schemas.microsoft.com/office/powerpoint/2010/main" val="9439707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8910" y="0"/>
            <a:ext cx="7474179" cy="6858000"/>
          </a:xfrm>
          <a:prstGeom prst="rect">
            <a:avLst/>
          </a:prstGeom>
        </p:spPr>
      </p:pic>
    </p:spTree>
    <p:extLst>
      <p:ext uri="{BB962C8B-B14F-4D97-AF65-F5344CB8AC3E}">
        <p14:creationId xmlns:p14="http://schemas.microsoft.com/office/powerpoint/2010/main" val="3241067149"/>
      </p:ext>
    </p:extLst>
  </p:cSld>
  <p:clrMapOvr>
    <a:masterClrMapping/>
  </p:clrMapOvr>
</p:sld>
</file>

<file path=ppt/theme/theme1.xml><?xml version="1.0" encoding="utf-8"?>
<a:theme xmlns:a="http://schemas.openxmlformats.org/drawingml/2006/main" name="Brin">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1689</TotalTime>
  <Words>580</Words>
  <Application>Microsoft Office PowerPoint</Application>
  <PresentationFormat>Grand écran</PresentationFormat>
  <Paragraphs>88</Paragraphs>
  <Slides>19</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19</vt:i4>
      </vt:variant>
    </vt:vector>
  </HeadingPairs>
  <TitlesOfParts>
    <vt:vector size="27" baseType="lpstr">
      <vt:lpstr>Arial</vt:lpstr>
      <vt:lpstr>Calibri</vt:lpstr>
      <vt:lpstr>Century Gothic</vt:lpstr>
      <vt:lpstr>Symbol</vt:lpstr>
      <vt:lpstr>Times New Roman</vt:lpstr>
      <vt:lpstr>Trebuchet MS</vt:lpstr>
      <vt:lpstr>Wingdings 3</vt:lpstr>
      <vt:lpstr>Brin</vt:lpstr>
      <vt:lpstr>projet d’expansion à l’international d’une entreprise de start-up de la EdTech nommé academy </vt:lpstr>
      <vt:lpstr>Présentation du projet      Academy Propose des contenus de formation en ligne pour un public de niveau lycée et université. L’objectif de ce projet est une d’analyse exploratoire, pour déterminer si les données sur l’éducation de la banque mondiale permettent d’enrichir la réflexion autour du projet d’expansion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d’expansion à l’international d’une entreprise de start-up de la EdTech nommé academy</dc:title>
  <dc:creator>User</dc:creator>
  <cp:lastModifiedBy>User</cp:lastModifiedBy>
  <cp:revision>14</cp:revision>
  <dcterms:created xsi:type="dcterms:W3CDTF">2025-07-18T17:47:04Z</dcterms:created>
  <dcterms:modified xsi:type="dcterms:W3CDTF">2025-11-05T20:24:07Z</dcterms:modified>
</cp:coreProperties>
</file>