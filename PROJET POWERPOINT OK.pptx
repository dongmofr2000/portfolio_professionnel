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4" r:id="rId3"/>
    <p:sldId id="257" r:id="rId4"/>
    <p:sldId id="258" r:id="rId5"/>
    <p:sldId id="259" r:id="rId6"/>
    <p:sldId id="260" r:id="rId7"/>
    <p:sldId id="261" r:id="rId8"/>
    <p:sldId id="262" r:id="rId9"/>
    <p:sldId id="264" r:id="rId10"/>
    <p:sldId id="265" r:id="rId11"/>
    <p:sldId id="266" r:id="rId12"/>
    <p:sldId id="267" r:id="rId13"/>
    <p:sldId id="268" r:id="rId14"/>
    <p:sldId id="269" r:id="rId15"/>
    <p:sldId id="270" r:id="rId16"/>
    <p:sldId id="272" r:id="rId17"/>
    <p:sldId id="273" r:id="rId18"/>
    <p:sldId id="274" r:id="rId19"/>
    <p:sldId id="276" r:id="rId20"/>
    <p:sldId id="277" r:id="rId21"/>
    <p:sldId id="278" r:id="rId22"/>
    <p:sldId id="279" r:id="rId23"/>
    <p:sldId id="280" r:id="rId24"/>
    <p:sldId id="282" r:id="rId25"/>
    <p:sldId id="283" r:id="rId26"/>
    <p:sldId id="287" r:id="rId27"/>
    <p:sldId id="286" r:id="rId28"/>
    <p:sldId id="288" r:id="rId29"/>
    <p:sldId id="285" r:id="rId30"/>
    <p:sldId id="289" r:id="rId31"/>
    <p:sldId id="290" r:id="rId32"/>
    <p:sldId id="29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smtClean="0"/>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smtClean="0"/>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42A54C80-263E-416B-A8E0-580EDEADCBDC}" type="datetimeFigureOut">
              <a:rPr lang="en-US" dirty="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11/5/2025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eattle-data-api-250346361499.europe-west9.run.app/"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07067" y="796834"/>
            <a:ext cx="7766936" cy="3254002"/>
          </a:xfrm>
        </p:spPr>
        <p:txBody>
          <a:bodyPr/>
          <a:lstStyle/>
          <a:p>
            <a:r>
              <a:rPr lang="fr-FR" dirty="0"/>
              <a:t>Analyse et modélisation de la performance énergétique des bâtiments de Seattle</a:t>
            </a:r>
          </a:p>
        </p:txBody>
      </p:sp>
      <p:sp>
        <p:nvSpPr>
          <p:cNvPr id="3" name="Sous-titre 2"/>
          <p:cNvSpPr>
            <a:spLocks noGrp="1"/>
          </p:cNvSpPr>
          <p:nvPr>
            <p:ph type="subTitle" idx="1"/>
          </p:nvPr>
        </p:nvSpPr>
        <p:spPr/>
        <p:txBody>
          <a:bodyPr/>
          <a:lstStyle/>
          <a:p>
            <a:r>
              <a:rPr lang="fr-FR" dirty="0"/>
              <a:t>Une approche par la Data Science</a:t>
            </a:r>
          </a:p>
        </p:txBody>
      </p:sp>
    </p:spTree>
    <p:extLst>
      <p:ext uri="{BB962C8B-B14F-4D97-AF65-F5344CB8AC3E}">
        <p14:creationId xmlns:p14="http://schemas.microsoft.com/office/powerpoint/2010/main" val="4071565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047574" y="1714260"/>
            <a:ext cx="6096851" cy="3429479"/>
          </a:xfrm>
          <a:prstGeom prst="rect">
            <a:avLst/>
          </a:prstGeom>
        </p:spPr>
      </p:pic>
      <p:sp>
        <p:nvSpPr>
          <p:cNvPr id="3" name="Rectangle 2"/>
          <p:cNvSpPr/>
          <p:nvPr/>
        </p:nvSpPr>
        <p:spPr>
          <a:xfrm>
            <a:off x="169817" y="245070"/>
            <a:ext cx="9379132" cy="2585323"/>
          </a:xfrm>
          <a:prstGeom prst="rect">
            <a:avLst/>
          </a:prstGeom>
        </p:spPr>
        <p:txBody>
          <a:bodyPr wrap="square">
            <a:spAutoFit/>
          </a:bodyPr>
          <a:lstStyle/>
          <a:p>
            <a:r>
              <a:rPr lang="fr-FR" dirty="0">
                <a:latin typeface="Arial" panose="020B0604020202020204" pitchFamily="34" charset="0"/>
                <a:cs typeface="Arial" panose="020B0604020202020204" pitchFamily="34" charset="0"/>
              </a:rPr>
              <a:t>Votre URL publique est </a:t>
            </a:r>
            <a:r>
              <a:rPr lang="fr-FR" dirty="0"/>
              <a:t>: </a:t>
            </a:r>
            <a:r>
              <a:rPr lang="fr-FR" dirty="0">
                <a:hlinkClick r:id="rId3"/>
              </a:rPr>
              <a:t>https://</a:t>
            </a:r>
            <a:r>
              <a:rPr lang="fr-FR" dirty="0" smtClean="0">
                <a:hlinkClick r:id="rId3"/>
              </a:rPr>
              <a:t>seattle-data-api-250346361499.europe-west9.run.app</a:t>
            </a:r>
            <a:endParaRPr lang="fr-FR" dirty="0" smtClean="0"/>
          </a:p>
          <a:p>
            <a:r>
              <a:rPr lang="fr-FR" dirty="0" smtClean="0">
                <a:latin typeface="Arial" panose="020B0604020202020204" pitchFamily="34" charset="0"/>
                <a:cs typeface="Arial" panose="020B0604020202020204" pitchFamily="34" charset="0"/>
              </a:rPr>
              <a:t>Retrouvez également le lien API dans le dépôt </a:t>
            </a:r>
            <a:r>
              <a:rPr lang="fr-FR" dirty="0">
                <a:latin typeface="Arial" panose="020B0604020202020204" pitchFamily="34" charset="0"/>
                <a:cs typeface="Arial" panose="020B0604020202020204" pitchFamily="34" charset="0"/>
              </a:rPr>
              <a:t>https://github.com/dongmofr2000/API-Seattle</a:t>
            </a:r>
            <a:endParaRPr lang="fr-FR" dirty="0" smtClean="0">
              <a:latin typeface="Arial" panose="020B0604020202020204" pitchFamily="34" charset="0"/>
              <a:cs typeface="Arial" panose="020B0604020202020204" pitchFamily="34" charset="0"/>
            </a:endParaRPr>
          </a:p>
          <a:p>
            <a:endParaRPr lang="fr-FR" dirty="0"/>
          </a:p>
          <a:p>
            <a:r>
              <a:rPr lang="fr-FR" dirty="0">
                <a:latin typeface="Arial" panose="020B0604020202020204" pitchFamily="34" charset="0"/>
                <a:cs typeface="Arial" panose="020B0604020202020204" pitchFamily="34" charset="0"/>
              </a:rPr>
              <a:t>https://github.com/dongmofr2000/projet_data_science/tree/main</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Les fichiers service.py , </a:t>
            </a:r>
            <a:r>
              <a:rPr lang="fr-FR" dirty="0" err="1" smtClean="0">
                <a:latin typeface="Arial" panose="020B0604020202020204" pitchFamily="34" charset="0"/>
                <a:cs typeface="Arial" panose="020B0604020202020204" pitchFamily="34" charset="0"/>
              </a:rPr>
              <a:t>bentofile.yaml</a:t>
            </a:r>
            <a:r>
              <a:rPr lang="fr-FR" dirty="0">
                <a:latin typeface="Arial" panose="020B0604020202020204" pitchFamily="34" charset="0"/>
                <a:cs typeface="Arial" panose="020B0604020202020204" pitchFamily="34" charset="0"/>
              </a:rPr>
              <a:t> et </a:t>
            </a:r>
            <a:r>
              <a:rPr lang="fr-FR" dirty="0" smtClean="0">
                <a:latin typeface="Arial" panose="020B0604020202020204" pitchFamily="34" charset="0"/>
                <a:cs typeface="Arial" panose="020B0604020202020204" pitchFamily="34" charset="0"/>
              </a:rPr>
              <a:t>test_api.py sont dans le </a:t>
            </a:r>
            <a:r>
              <a:rPr lang="fr-FR" dirty="0" err="1" smtClean="0">
                <a:latin typeface="Arial" panose="020B0604020202020204" pitchFamily="34" charset="0"/>
                <a:cs typeface="Arial" panose="020B0604020202020204" pitchFamily="34" charset="0"/>
              </a:rPr>
              <a:t>github</a:t>
            </a:r>
            <a:r>
              <a:rPr lang="fr-FR" dirty="0" smtClean="0">
                <a:latin typeface="Arial" panose="020B0604020202020204" pitchFamily="34" charset="0"/>
                <a:cs typeface="Arial" panose="020B0604020202020204" pitchFamily="34" charset="0"/>
              </a:rPr>
              <a:t> , branche main et dans le dépôt </a:t>
            </a:r>
            <a:r>
              <a:rPr lang="fr-FR" dirty="0" err="1" smtClean="0">
                <a:latin typeface="Arial" panose="020B0604020202020204" pitchFamily="34" charset="0"/>
                <a:cs typeface="Arial" panose="020B0604020202020204" pitchFamily="34" charset="0"/>
              </a:rPr>
              <a:t>projet_data_science</a:t>
            </a:r>
            <a:endParaRPr lang="fr-FR" dirty="0" smtClean="0">
              <a:latin typeface="Arial" panose="020B060402020202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340170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2862322"/>
          </a:xfrm>
          <a:prstGeom prst="rect">
            <a:avLst/>
          </a:prstGeom>
        </p:spPr>
        <p:txBody>
          <a:bodyPr wrap="square">
            <a:spAutoFit/>
          </a:bodyPr>
          <a:lstStyle/>
          <a:p>
            <a:pPr algn="just"/>
            <a:r>
              <a:rPr lang="fr-FR" dirty="0">
                <a:latin typeface="Arial" panose="020B0604020202020204" pitchFamily="34" charset="0"/>
                <a:cs typeface="Arial" panose="020B0604020202020204" pitchFamily="34" charset="0"/>
              </a:rPr>
              <a:t>Contexte et Problématique</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Contexte : La ville de Seattle a collecté des données sur la performance énergétique de ses bâtiments </a:t>
            </a:r>
            <a:r>
              <a:rPr lang="fr-FR" dirty="0" smtClean="0">
                <a:latin typeface="Arial" panose="020B0604020202020204" pitchFamily="34" charset="0"/>
                <a:cs typeface="Arial" panose="020B0604020202020204" pitchFamily="34" charset="0"/>
              </a:rPr>
              <a:t>non résidentiels.</a:t>
            </a:r>
            <a:endParaRPr lang="fr-FR" dirty="0">
              <a:latin typeface="Arial" panose="020B0604020202020204" pitchFamily="34" charset="0"/>
              <a:cs typeface="Arial" panose="020B0604020202020204" pitchFamily="34" charset="0"/>
            </a:endParaRP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Problématique : Comment peut-on modéliser et prédire l'impact environnemental des bâtiments afin d'identifier les plus énergivores et de les aider à s'améliorer ?</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Objectif : Développer un modèle de machine </a:t>
            </a:r>
            <a:r>
              <a:rPr lang="fr-FR" dirty="0" err="1">
                <a:latin typeface="Arial" panose="020B0604020202020204" pitchFamily="34" charset="0"/>
                <a:cs typeface="Arial" panose="020B0604020202020204" pitchFamily="34" charset="0"/>
              </a:rPr>
              <a:t>learning</a:t>
            </a:r>
            <a:r>
              <a:rPr lang="fr-FR" dirty="0">
                <a:latin typeface="Arial" panose="020B0604020202020204" pitchFamily="34" charset="0"/>
                <a:cs typeface="Arial" panose="020B0604020202020204" pitchFamily="34" charset="0"/>
              </a:rPr>
              <a:t> pour prédire l'Intensité des émissions de gaz à effet de serre (GES) des bâtiments</a:t>
            </a:r>
            <a:r>
              <a:rPr lang="fr-FR" dirty="0"/>
              <a:t>.</a:t>
            </a:r>
          </a:p>
        </p:txBody>
      </p:sp>
    </p:spTree>
    <p:extLst>
      <p:ext uri="{BB962C8B-B14F-4D97-AF65-F5344CB8AC3E}">
        <p14:creationId xmlns:p14="http://schemas.microsoft.com/office/powerpoint/2010/main" val="3370017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970318"/>
          </a:xfrm>
          <a:prstGeom prst="rect">
            <a:avLst/>
          </a:prstGeom>
        </p:spPr>
        <p:txBody>
          <a:bodyPr wrap="square">
            <a:spAutoFit/>
          </a:bodyPr>
          <a:lstStyle/>
          <a:p>
            <a:pPr algn="just"/>
            <a:r>
              <a:rPr lang="fr-FR" dirty="0">
                <a:latin typeface="Arial" panose="020B0604020202020204" pitchFamily="34" charset="0"/>
                <a:cs typeface="Arial" panose="020B0604020202020204" pitchFamily="34" charset="0"/>
              </a:rPr>
              <a:t> Les Données</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Contenu : Notre jeu de données contient des informations sur près de 3376 bâtiments, avec plus de 30 variables.</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Catégories de variables :</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Informations générales : Année de construction, adresse, nombre d'étages.</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Caractéristiques de structure : Surface totale, surface de parking, type de bâtiment.</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Données énergétiques : Consommation d'électricité, de gaz, de vapeur.</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Variable cible : L'intensité des émissions de GES</a:t>
            </a:r>
          </a:p>
        </p:txBody>
      </p:sp>
    </p:spTree>
    <p:extLst>
      <p:ext uri="{BB962C8B-B14F-4D97-AF65-F5344CB8AC3E}">
        <p14:creationId xmlns:p14="http://schemas.microsoft.com/office/powerpoint/2010/main" val="1930244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69332"/>
          </a:xfrm>
          <a:prstGeom prst="rect">
            <a:avLst/>
          </a:prstGeom>
        </p:spPr>
        <p:txBody>
          <a:bodyPr wrap="square">
            <a:spAutoFit/>
          </a:bodyPr>
          <a:lstStyle/>
          <a:p>
            <a:pPr algn="just"/>
            <a:r>
              <a:rPr lang="fr-FR" dirty="0"/>
              <a:t> </a:t>
            </a:r>
            <a:endParaRPr lang="fr-FR" dirty="0">
              <a:latin typeface="Arial" panose="020B0604020202020204" pitchFamily="34" charset="0"/>
              <a:cs typeface="Arial" panose="020B0604020202020204" pitchFamily="34" charset="0"/>
            </a:endParaRPr>
          </a:p>
        </p:txBody>
      </p:sp>
      <p:sp>
        <p:nvSpPr>
          <p:cNvPr id="3" name="Rectangle 2"/>
          <p:cNvSpPr/>
          <p:nvPr/>
        </p:nvSpPr>
        <p:spPr>
          <a:xfrm>
            <a:off x="0" y="0"/>
            <a:ext cx="9144000" cy="3416320"/>
          </a:xfrm>
          <a:prstGeom prst="rect">
            <a:avLst/>
          </a:prstGeom>
        </p:spPr>
        <p:txBody>
          <a:bodyPr wrap="square">
            <a:spAutoFit/>
          </a:bodyPr>
          <a:lstStyle/>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Introduction et Objectifs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Contexte du Projet</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Données : Informations détaillées sur les bâtiments de la ville de Seattle (caractéristiques physiques, âge, type, etc.).</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Problème : Prédire la consommation d'énergie (</a:t>
            </a:r>
            <a:r>
              <a:rPr lang="fr-FR" dirty="0" err="1">
                <a:latin typeface="Arial" panose="020B0604020202020204" pitchFamily="34" charset="0"/>
                <a:cs typeface="Arial" panose="020B0604020202020204" pitchFamily="34" charset="0"/>
              </a:rPr>
              <a:t>SiteEnergyUseWN</a:t>
            </a:r>
            <a:r>
              <a:rPr lang="fr-FR" dirty="0">
                <a:latin typeface="Arial" panose="020B0604020202020204" pitchFamily="34" charset="0"/>
                <a:cs typeface="Arial" panose="020B0604020202020204" pitchFamily="34" charset="0"/>
              </a:rPr>
              <a:t>) et l'émission de gaz à effet de serre des bâtiments.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Objectif : Développer un modèle de Machine Learning fiable et exploitable pour optimiser la gestion de l'énergie.</a:t>
            </a:r>
          </a:p>
        </p:txBody>
      </p:sp>
    </p:spTree>
    <p:extLst>
      <p:ext uri="{BB962C8B-B14F-4D97-AF65-F5344CB8AC3E}">
        <p14:creationId xmlns:p14="http://schemas.microsoft.com/office/powerpoint/2010/main" val="667309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139321"/>
          </a:xfrm>
          <a:prstGeom prst="rect">
            <a:avLst/>
          </a:prstGeom>
        </p:spPr>
        <p:txBody>
          <a:bodyPr wrap="square">
            <a:spAutoFit/>
          </a:bodyPr>
          <a:lstStyle/>
          <a:p>
            <a:r>
              <a:rPr lang="fr-FR" dirty="0">
                <a:latin typeface="Arial" panose="020B0604020202020204" pitchFamily="34" charset="0"/>
                <a:cs typeface="Arial" panose="020B0604020202020204" pitchFamily="34" charset="0"/>
              </a:rPr>
              <a:t>Phase d'Analyse Exploratoire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Comprendre nos données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Nettoyage des données : Gestion des valeurs manquantes et des erreurs.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Analyse de la variable cible : Découverte d'une distribution hautement asymétrique avec des valeurs extrêmes.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Visualisation : Utilisation de diagrammes en boîte pour identifier des anomalies et des graphiques de dispersion pour observer les relations entre les variables.</a:t>
            </a:r>
          </a:p>
        </p:txBody>
      </p:sp>
    </p:spTree>
    <p:extLst>
      <p:ext uri="{BB962C8B-B14F-4D97-AF65-F5344CB8AC3E}">
        <p14:creationId xmlns:p14="http://schemas.microsoft.com/office/powerpoint/2010/main" val="3415159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4247317"/>
          </a:xfrm>
          <a:prstGeom prst="rect">
            <a:avLst/>
          </a:prstGeom>
        </p:spPr>
        <p:txBody>
          <a:bodyPr wrap="square">
            <a:spAutoFit/>
          </a:bodyPr>
          <a:lstStyle/>
          <a:p>
            <a:r>
              <a:rPr lang="fr-FR" dirty="0">
                <a:latin typeface="Arial" panose="020B0604020202020204" pitchFamily="34" charset="0"/>
                <a:cs typeface="Arial" panose="020B0604020202020204" pitchFamily="34" charset="0"/>
              </a:rPr>
              <a:t>Préparation des Données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Transformer les données pour le modèle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Transformation Logarithmique : Application de la transformation log(x+1) à la variable cible pour réduire l'impact des valeurs extrêmes et rendre la distribution plus normale.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Ingénierie des variables : Création de nouvelles variables pertinentes (ex: </a:t>
            </a:r>
            <a:r>
              <a:rPr lang="fr-FR" dirty="0" err="1">
                <a:latin typeface="Arial" panose="020B0604020202020204" pitchFamily="34" charset="0"/>
                <a:cs typeface="Arial" panose="020B0604020202020204" pitchFamily="34" charset="0"/>
              </a:rPr>
              <a:t>AgeDuBatiment</a:t>
            </a:r>
            <a:r>
              <a:rPr lang="fr-FR" dirty="0">
                <a:latin typeface="Arial" panose="020B0604020202020204" pitchFamily="34" charset="0"/>
                <a:cs typeface="Arial" panose="020B0604020202020204" pitchFamily="34" charset="0"/>
              </a:rPr>
              <a:t>).</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Encodage des variables : Conversion des variables textuelles (ex: </a:t>
            </a:r>
            <a:r>
              <a:rPr lang="fr-FR" dirty="0" err="1">
                <a:latin typeface="Arial" panose="020B0604020202020204" pitchFamily="34" charset="0"/>
                <a:cs typeface="Arial" panose="020B0604020202020204" pitchFamily="34" charset="0"/>
              </a:rPr>
              <a:t>PrimaryPropertyType</a:t>
            </a:r>
            <a:r>
              <a:rPr lang="fr-FR" dirty="0">
                <a:latin typeface="Arial" panose="020B0604020202020204" pitchFamily="34" charset="0"/>
                <a:cs typeface="Arial" panose="020B0604020202020204" pitchFamily="34" charset="0"/>
              </a:rPr>
              <a:t>) en format numérique pour le modèle (One-Hot </a:t>
            </a:r>
            <a:r>
              <a:rPr lang="fr-FR" dirty="0" err="1">
                <a:latin typeface="Arial" panose="020B0604020202020204" pitchFamily="34" charset="0"/>
                <a:cs typeface="Arial" panose="020B0604020202020204" pitchFamily="34" charset="0"/>
              </a:rPr>
              <a:t>Encoding</a:t>
            </a:r>
            <a:r>
              <a:rPr lang="fr-FR" dirty="0">
                <a:latin typeface="Arial" panose="020B0604020202020204" pitchFamily="34" charset="0"/>
                <a:cs typeface="Arial" panose="020B0604020202020204" pitchFamily="34" charset="0"/>
              </a:rPr>
              <a:t>).</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Normalisation : Mise à l'échelle des variables numériques pour garantir leur poids équitable</a:t>
            </a:r>
            <a:r>
              <a:rPr lang="fr-FR" dirty="0"/>
              <a:t>.</a:t>
            </a:r>
          </a:p>
        </p:txBody>
      </p:sp>
    </p:spTree>
    <p:extLst>
      <p:ext uri="{BB962C8B-B14F-4D97-AF65-F5344CB8AC3E}">
        <p14:creationId xmlns:p14="http://schemas.microsoft.com/office/powerpoint/2010/main" val="620180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69332"/>
          </a:xfrm>
          <a:prstGeom prst="rect">
            <a:avLst/>
          </a:prstGeom>
        </p:spPr>
        <p:txBody>
          <a:bodyPr wrap="square">
            <a:spAutoFit/>
          </a:bodyPr>
          <a:lstStyle/>
          <a:p>
            <a:pPr algn="just"/>
            <a:r>
              <a:rPr lang="fr-FR" dirty="0"/>
              <a:t> </a:t>
            </a:r>
            <a:endParaRPr lang="fr-FR" dirty="0">
              <a:latin typeface="Arial" panose="020B0604020202020204" pitchFamily="34" charset="0"/>
              <a:cs typeface="Arial" panose="020B0604020202020204" pitchFamily="34" charset="0"/>
            </a:endParaRPr>
          </a:p>
        </p:txBody>
      </p:sp>
      <p:sp>
        <p:nvSpPr>
          <p:cNvPr id="3" name="Rectangle 2"/>
          <p:cNvSpPr/>
          <p:nvPr/>
        </p:nvSpPr>
        <p:spPr>
          <a:xfrm>
            <a:off x="0" y="0"/>
            <a:ext cx="9144000" cy="5078313"/>
          </a:xfrm>
          <a:prstGeom prst="rect">
            <a:avLst/>
          </a:prstGeom>
        </p:spPr>
        <p:txBody>
          <a:bodyPr wrap="square">
            <a:spAutoFit/>
          </a:bodyPr>
          <a:lstStyle/>
          <a:p>
            <a:r>
              <a:rPr lang="fr-FR" dirty="0">
                <a:latin typeface="Arial" panose="020B0604020202020204" pitchFamily="34" charset="0"/>
                <a:cs typeface="Arial" panose="020B0604020202020204" pitchFamily="34" charset="0"/>
              </a:rPr>
              <a:t>Comparaison et Sélection des Modèles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Trouver le meilleur algorithme de prédiction</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Approche : Comparaison de plusieurs modèles supervisés en utilisant la validation croisée (</a:t>
            </a:r>
            <a:r>
              <a:rPr lang="fr-FR" dirty="0" err="1">
                <a:latin typeface="Arial" panose="020B0604020202020204" pitchFamily="34" charset="0"/>
                <a:cs typeface="Arial" panose="020B0604020202020204" pitchFamily="34" charset="0"/>
              </a:rPr>
              <a:t>cross_validate</a:t>
            </a:r>
            <a:r>
              <a:rPr lang="fr-FR" dirty="0">
                <a:latin typeface="Arial" panose="020B0604020202020204" pitchFamily="34" charset="0"/>
                <a:cs typeface="Arial" panose="020B0604020202020204" pitchFamily="34" charset="0"/>
              </a:rPr>
              <a:t>) pour obtenir des scores fiables.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Modèles testés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Régression Linéaire : Modèle de base. Performance : Très mauvaise (R² négatif).</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Random</a:t>
            </a:r>
            <a:r>
              <a:rPr lang="fr-FR" dirty="0">
                <a:latin typeface="Arial" panose="020B0604020202020204" pitchFamily="34" charset="0"/>
                <a:cs typeface="Arial" panose="020B0604020202020204" pitchFamily="34" charset="0"/>
              </a:rPr>
              <a:t> Forest </a:t>
            </a:r>
            <a:r>
              <a:rPr lang="fr-FR" dirty="0" err="1">
                <a:latin typeface="Arial" panose="020B0604020202020204" pitchFamily="34" charset="0"/>
                <a:cs typeface="Arial" panose="020B0604020202020204" pitchFamily="34" charset="0"/>
              </a:rPr>
              <a:t>Regressor</a:t>
            </a:r>
            <a:r>
              <a:rPr lang="fr-FR" dirty="0">
                <a:latin typeface="Arial" panose="020B0604020202020204" pitchFamily="34" charset="0"/>
                <a:cs typeface="Arial" panose="020B0604020202020204" pitchFamily="34" charset="0"/>
              </a:rPr>
              <a:t> : Modèle non-linéaire. Performance : Bonne.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Gradient </a:t>
            </a:r>
            <a:r>
              <a:rPr lang="fr-FR" dirty="0" err="1">
                <a:latin typeface="Arial" panose="020B0604020202020204" pitchFamily="34" charset="0"/>
                <a:cs typeface="Arial" panose="020B0604020202020204" pitchFamily="34" charset="0"/>
              </a:rPr>
              <a:t>Boosting</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Regressor</a:t>
            </a:r>
            <a:r>
              <a:rPr lang="fr-FR" dirty="0">
                <a:latin typeface="Arial" panose="020B0604020202020204" pitchFamily="34" charset="0"/>
                <a:cs typeface="Arial" panose="020B0604020202020204" pitchFamily="34" charset="0"/>
              </a:rPr>
              <a:t> : Modèle avancé de "</a:t>
            </a:r>
            <a:r>
              <a:rPr lang="fr-FR" dirty="0" err="1">
                <a:latin typeface="Arial" panose="020B0604020202020204" pitchFamily="34" charset="0"/>
                <a:cs typeface="Arial" panose="020B0604020202020204" pitchFamily="34" charset="0"/>
              </a:rPr>
              <a:t>boosting</a:t>
            </a:r>
            <a:r>
              <a:rPr lang="fr-FR" dirty="0">
                <a:latin typeface="Arial" panose="020B0604020202020204" pitchFamily="34" charset="0"/>
                <a:cs typeface="Arial" panose="020B0604020202020204" pitchFamily="34" charset="0"/>
              </a:rPr>
              <a:t>". Performance : Excellente.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Conclusion : Le Gradient </a:t>
            </a:r>
            <a:r>
              <a:rPr lang="fr-FR" dirty="0" err="1">
                <a:latin typeface="Arial" panose="020B0604020202020204" pitchFamily="34" charset="0"/>
                <a:cs typeface="Arial" panose="020B0604020202020204" pitchFamily="34" charset="0"/>
              </a:rPr>
              <a:t>Boosting</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Regressor</a:t>
            </a:r>
            <a:r>
              <a:rPr lang="fr-FR" dirty="0">
                <a:latin typeface="Arial" panose="020B0604020202020204" pitchFamily="34" charset="0"/>
                <a:cs typeface="Arial" panose="020B0604020202020204" pitchFamily="34" charset="0"/>
              </a:rPr>
              <a:t> a été sélectionné pour sa robustesse et sa précision supérieure.</a:t>
            </a:r>
          </a:p>
        </p:txBody>
      </p:sp>
    </p:spTree>
    <p:extLst>
      <p:ext uri="{BB962C8B-B14F-4D97-AF65-F5344CB8AC3E}">
        <p14:creationId xmlns:p14="http://schemas.microsoft.com/office/powerpoint/2010/main" val="2423912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69332"/>
          </a:xfrm>
          <a:prstGeom prst="rect">
            <a:avLst/>
          </a:prstGeom>
        </p:spPr>
        <p:txBody>
          <a:bodyPr wrap="square">
            <a:spAutoFit/>
          </a:bodyPr>
          <a:lstStyle/>
          <a:p>
            <a:pPr algn="just"/>
            <a:r>
              <a:rPr lang="fr-FR" dirty="0"/>
              <a:t> </a:t>
            </a:r>
            <a:endParaRPr lang="fr-FR" dirty="0">
              <a:latin typeface="Arial" panose="020B0604020202020204" pitchFamily="34" charset="0"/>
              <a:cs typeface="Arial" panose="020B0604020202020204" pitchFamily="34" charset="0"/>
            </a:endParaRPr>
          </a:p>
        </p:txBody>
      </p:sp>
      <p:sp>
        <p:nvSpPr>
          <p:cNvPr id="3" name="Rectangle 2"/>
          <p:cNvSpPr/>
          <p:nvPr/>
        </p:nvSpPr>
        <p:spPr>
          <a:xfrm>
            <a:off x="0" y="-94129"/>
            <a:ext cx="9144000" cy="4247317"/>
          </a:xfrm>
          <a:prstGeom prst="rect">
            <a:avLst/>
          </a:prstGeom>
        </p:spPr>
        <p:txBody>
          <a:bodyPr wrap="square">
            <a:spAutoFit/>
          </a:bodyPr>
          <a:lstStyle/>
          <a:p>
            <a:r>
              <a:rPr lang="fr-FR" dirty="0">
                <a:latin typeface="Arial" panose="020B0604020202020204" pitchFamily="34" charset="0"/>
                <a:cs typeface="Arial" panose="020B0604020202020204" pitchFamily="34" charset="0"/>
              </a:rPr>
              <a:t> Performance du Modèle Final</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Résultats et Évaluation</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Modèle : Gradient </a:t>
            </a:r>
            <a:r>
              <a:rPr lang="fr-FR" dirty="0" err="1">
                <a:latin typeface="Arial" panose="020B0604020202020204" pitchFamily="34" charset="0"/>
                <a:cs typeface="Arial" panose="020B0604020202020204" pitchFamily="34" charset="0"/>
              </a:rPr>
              <a:t>Boosting</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Regressor</a:t>
            </a:r>
            <a:r>
              <a:rPr lang="fr-FR" dirty="0">
                <a:latin typeface="Arial" panose="020B0604020202020204" pitchFamily="34" charset="0"/>
                <a:cs typeface="Arial" panose="020B0604020202020204" pitchFamily="34" charset="0"/>
              </a:rPr>
              <a:t> (optimisé).</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Score R-carré (R²) : 0.9243</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Signification : Le modèle explique près de 92% de la variance de la consommation d'énergie des bâtiments. C'est un résultat exceptionnel.</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Erreur Absolue Moyenne (MAE) : 461 959 </a:t>
            </a:r>
            <a:r>
              <a:rPr lang="fr-FR" dirty="0" err="1">
                <a:latin typeface="Arial" panose="020B0604020202020204" pitchFamily="34" charset="0"/>
                <a:cs typeface="Arial" panose="020B0604020202020204" pitchFamily="34" charset="0"/>
              </a:rPr>
              <a:t>kBtu</a:t>
            </a:r>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Signification : En moyenne, l'erreur de prédiction du modèle est d'environ 462 000 </a:t>
            </a:r>
            <a:r>
              <a:rPr lang="fr-FR" dirty="0" err="1">
                <a:latin typeface="Arial" panose="020B0604020202020204" pitchFamily="34" charset="0"/>
                <a:cs typeface="Arial" panose="020B0604020202020204" pitchFamily="34" charset="0"/>
              </a:rPr>
              <a:t>kBtu</a:t>
            </a:r>
            <a:r>
              <a:rPr lang="fr-FR" dirty="0">
                <a:latin typeface="Arial" panose="020B0604020202020204" pitchFamily="34" charset="0"/>
                <a:cs typeface="Arial" panose="020B0604020202020204" pitchFamily="34" charset="0"/>
              </a:rPr>
              <a:t>, ce qui est très acceptable compte tenu de l'échelle des valeurs.</a:t>
            </a:r>
          </a:p>
        </p:txBody>
      </p:sp>
    </p:spTree>
    <p:extLst>
      <p:ext uri="{BB962C8B-B14F-4D97-AF65-F5344CB8AC3E}">
        <p14:creationId xmlns:p14="http://schemas.microsoft.com/office/powerpoint/2010/main" val="3871240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1024"/>
            <a:ext cx="9144000" cy="4922338"/>
          </a:xfrm>
          <a:prstGeom prst="rect">
            <a:avLst/>
          </a:prstGeom>
        </p:spPr>
        <p:txBody>
          <a:bodyPr wrap="square">
            <a:spAutoFit/>
          </a:bodyPr>
          <a:lstStyle/>
          <a:p>
            <a:r>
              <a:rPr lang="fr-FR" dirty="0">
                <a:latin typeface="Arial" panose="020B0604020202020204" pitchFamily="34" charset="0"/>
                <a:cs typeface="Arial" panose="020B0604020202020204" pitchFamily="34" charset="0"/>
              </a:rPr>
              <a:t>Interprétation du Modèle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Facteurs clés de la consommation d'énergie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Méthode : Utilisation de l'importance des variables (basée sur les arbres et par permutation) pour identifier les facteurs les plus influents.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Principales variables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Consommation d'électricité/gaz : C'est le facteur le plus déterminant, ce qui est très logique.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Surface du bâtiment (</a:t>
            </a:r>
            <a:r>
              <a:rPr lang="fr-FR" dirty="0" err="1">
                <a:latin typeface="Arial" panose="020B0604020202020204" pitchFamily="34" charset="0"/>
                <a:cs typeface="Arial" panose="020B0604020202020204" pitchFamily="34" charset="0"/>
              </a:rPr>
              <a:t>PropertyGFABuilding</a:t>
            </a:r>
            <a:r>
              <a:rPr lang="fr-FR" dirty="0">
                <a:latin typeface="Arial" panose="020B0604020202020204" pitchFamily="34" charset="0"/>
                <a:cs typeface="Arial" panose="020B0604020202020204" pitchFamily="34" charset="0"/>
              </a:rPr>
              <a:t>) : Plus un bâtiment est grand, plus il consomme.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Type de bâtiment (</a:t>
            </a:r>
            <a:r>
              <a:rPr lang="fr-FR" dirty="0" err="1">
                <a:latin typeface="Arial" panose="020B0604020202020204" pitchFamily="34" charset="0"/>
                <a:cs typeface="Arial" panose="020B0604020202020204" pitchFamily="34" charset="0"/>
              </a:rPr>
              <a:t>PrimaryPropertyType</a:t>
            </a:r>
            <a:r>
              <a:rPr lang="fr-FR" dirty="0">
                <a:latin typeface="Arial" panose="020B0604020202020204" pitchFamily="34" charset="0"/>
                <a:cs typeface="Arial" panose="020B0604020202020204" pitchFamily="34" charset="0"/>
              </a:rPr>
              <a:t>) : Les types de bâtiments industriels ou commerciaux ont une consommation différente.</a:t>
            </a:r>
          </a:p>
        </p:txBody>
      </p:sp>
    </p:spTree>
    <p:extLst>
      <p:ext uri="{BB962C8B-B14F-4D97-AF65-F5344CB8AC3E}">
        <p14:creationId xmlns:p14="http://schemas.microsoft.com/office/powerpoint/2010/main" val="2568164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
            <a:ext cx="9144000" cy="4801314"/>
          </a:xfrm>
          <a:prstGeom prst="rect">
            <a:avLst/>
          </a:prstGeom>
        </p:spPr>
        <p:txBody>
          <a:bodyPr wrap="square">
            <a:spAutoFit/>
          </a:bodyPr>
          <a:lstStyle/>
          <a:p>
            <a:r>
              <a:rPr lang="fr-FR" dirty="0">
                <a:latin typeface="Arial" panose="020B0604020202020204" pitchFamily="34" charset="0"/>
                <a:cs typeface="Arial" panose="020B0604020202020204" pitchFamily="34" charset="0"/>
              </a:rPr>
              <a:t>Exploitation des Résultats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Mise en service et futur</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Transformation en service : Le modèle a été encapsulé dans une API pour permettre une utilisation simple par les services métiers.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Accès : L'API fournit un point d'entrée unique pour obtenir une prédiction en temps réel en envoyant des données au format JSON.</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Applications métiers :</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Tableau de bord : Un tableau de bord interne peut utiliser l'API pour surveiller en temps réel les prédictions.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        Détection d'anomalies : Le modèle peut alerter si la consommation réelle d'un bâtiment est significativement différente de la prédiction</a:t>
            </a:r>
          </a:p>
        </p:txBody>
      </p:sp>
    </p:spTree>
    <p:extLst>
      <p:ext uri="{BB962C8B-B14F-4D97-AF65-F5344CB8AC3E}">
        <p14:creationId xmlns:p14="http://schemas.microsoft.com/office/powerpoint/2010/main" val="274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566" y="195943"/>
            <a:ext cx="9026434" cy="954107"/>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Sauvegardez le modèle entraîné de la première partie de la mission via </a:t>
            </a:r>
            <a:r>
              <a:rPr lang="fr-FR" sz="2800" dirty="0" err="1">
                <a:latin typeface="Arial" panose="020B0604020202020204" pitchFamily="34" charset="0"/>
                <a:cs typeface="Arial" panose="020B0604020202020204" pitchFamily="34" charset="0"/>
              </a:rPr>
              <a:t>BentoML</a:t>
            </a:r>
            <a:endParaRPr lang="fr-FR"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5815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91916" y="0"/>
            <a:ext cx="9108213" cy="6181880"/>
          </a:xfrm>
          <a:prstGeom prst="rect">
            <a:avLst/>
          </a:prstGeom>
        </p:spPr>
      </p:pic>
    </p:spTree>
    <p:extLst>
      <p:ext uri="{BB962C8B-B14F-4D97-AF65-F5344CB8AC3E}">
        <p14:creationId xmlns:p14="http://schemas.microsoft.com/office/powerpoint/2010/main" val="4047260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857" y="161168"/>
            <a:ext cx="9087394" cy="4832092"/>
          </a:xfrm>
          <a:prstGeom prst="rect">
            <a:avLst/>
          </a:prstGeom>
        </p:spPr>
        <p:txBody>
          <a:bodyPr wrap="square">
            <a:spAutoFit/>
          </a:bodyPr>
          <a:lstStyle/>
          <a:p>
            <a:pPr algn="just"/>
            <a:r>
              <a:rPr lang="fr-FR" sz="2800" dirty="0">
                <a:latin typeface="Arial" panose="020B0604020202020204" pitchFamily="34" charset="0"/>
                <a:cs typeface="Arial" panose="020B0604020202020204" pitchFamily="34" charset="0"/>
              </a:rPr>
              <a:t>Définissez dans un fichier service.py la logique de votre API et de votre </a:t>
            </a:r>
            <a:r>
              <a:rPr lang="fr-FR" sz="2800" dirty="0" err="1">
                <a:latin typeface="Arial" panose="020B0604020202020204" pitchFamily="34" charset="0"/>
                <a:cs typeface="Arial" panose="020B0604020202020204" pitchFamily="34" charset="0"/>
              </a:rPr>
              <a:t>endpoint</a:t>
            </a:r>
            <a:r>
              <a:rPr lang="fr-FR" sz="2800" dirty="0">
                <a:latin typeface="Arial" panose="020B0604020202020204" pitchFamily="34" charset="0"/>
                <a:cs typeface="Arial" panose="020B0604020202020204" pitchFamily="34" charset="0"/>
              </a:rPr>
              <a:t>.</a:t>
            </a:r>
          </a:p>
          <a:p>
            <a:pPr algn="just"/>
            <a:endParaRPr lang="fr-FR" sz="2800" dirty="0">
              <a:latin typeface="Arial" panose="020B0604020202020204" pitchFamily="34" charset="0"/>
              <a:cs typeface="Arial" panose="020B0604020202020204" pitchFamily="34" charset="0"/>
            </a:endParaRPr>
          </a:p>
          <a:p>
            <a:pPr algn="just"/>
            <a:r>
              <a:rPr lang="fr-FR" sz="2800" dirty="0">
                <a:latin typeface="Arial" panose="020B0604020202020204" pitchFamily="34" charset="0"/>
                <a:cs typeface="Arial" panose="020B0604020202020204" pitchFamily="34" charset="0"/>
              </a:rPr>
              <a:t>Le fichier est le suivant :service.py</a:t>
            </a:r>
          </a:p>
          <a:p>
            <a:pPr algn="just"/>
            <a:r>
              <a:rPr lang="fr-FR" sz="2800" dirty="0">
                <a:latin typeface="Arial" panose="020B0604020202020204" pitchFamily="34" charset="0"/>
                <a:cs typeface="Arial" panose="020B0604020202020204" pitchFamily="34" charset="0"/>
              </a:rPr>
              <a:t>Ce fichier est </a:t>
            </a:r>
            <a:r>
              <a:rPr lang="fr-FR" sz="2800" dirty="0" err="1">
                <a:latin typeface="Arial" panose="020B0604020202020204" pitchFamily="34" charset="0"/>
                <a:cs typeface="Arial" panose="020B0604020202020204" pitchFamily="34" charset="0"/>
              </a:rPr>
              <a:t>present</a:t>
            </a:r>
            <a:r>
              <a:rPr lang="fr-FR" sz="2800" dirty="0">
                <a:latin typeface="Arial" panose="020B0604020202020204" pitchFamily="34" charset="0"/>
                <a:cs typeface="Arial" panose="020B0604020202020204" pitchFamily="34" charset="0"/>
              </a:rPr>
              <a:t> dans le </a:t>
            </a:r>
            <a:r>
              <a:rPr lang="fr-FR" sz="2800" dirty="0" err="1">
                <a:latin typeface="Arial" panose="020B0604020202020204" pitchFamily="34" charset="0"/>
                <a:cs typeface="Arial" panose="020B0604020202020204" pitchFamily="34" charset="0"/>
              </a:rPr>
              <a:t>github</a:t>
            </a:r>
            <a:endParaRPr lang="fr-FR" sz="2800" dirty="0">
              <a:latin typeface="Arial" panose="020B0604020202020204" pitchFamily="34" charset="0"/>
              <a:cs typeface="Arial" panose="020B0604020202020204" pitchFamily="34" charset="0"/>
            </a:endParaRPr>
          </a:p>
          <a:p>
            <a:pPr algn="just"/>
            <a:r>
              <a:rPr lang="fr-FR" sz="2800" dirty="0">
                <a:latin typeface="Arial" panose="020B0604020202020204" pitchFamily="34" charset="0"/>
                <a:cs typeface="Arial" panose="020B0604020202020204" pitchFamily="34" charset="0"/>
              </a:rPr>
              <a:t>API sera alors accessible à l'adresse http://127.0.0.1:8000. Vous pouvez tester les </a:t>
            </a:r>
            <a:r>
              <a:rPr lang="fr-FR" sz="2800" dirty="0" err="1">
                <a:latin typeface="Arial" panose="020B0604020202020204" pitchFamily="34" charset="0"/>
                <a:cs typeface="Arial" panose="020B0604020202020204" pitchFamily="34" charset="0"/>
              </a:rPr>
              <a:t>endpoints</a:t>
            </a:r>
            <a:r>
              <a:rPr lang="fr-FR" sz="2800" dirty="0">
                <a:latin typeface="Arial" panose="020B0604020202020204" pitchFamily="34" charset="0"/>
                <a:cs typeface="Arial" panose="020B0604020202020204" pitchFamily="34" charset="0"/>
              </a:rPr>
              <a:t> directement dans votre navigateur ou avec un outil comme </a:t>
            </a:r>
            <a:r>
              <a:rPr lang="fr-FR" sz="2800" dirty="0" err="1">
                <a:latin typeface="Arial" panose="020B0604020202020204" pitchFamily="34" charset="0"/>
                <a:cs typeface="Arial" panose="020B0604020202020204" pitchFamily="34" charset="0"/>
              </a:rPr>
              <a:t>curl</a:t>
            </a:r>
            <a:r>
              <a:rPr lang="fr-FR" sz="2800" dirty="0">
                <a:latin typeface="Arial" panose="020B0604020202020204" pitchFamily="34" charset="0"/>
                <a:cs typeface="Arial" panose="020B0604020202020204" pitchFamily="34" charset="0"/>
              </a:rPr>
              <a:t> ou </a:t>
            </a:r>
            <a:r>
              <a:rPr lang="fr-FR" sz="2800" dirty="0" err="1">
                <a:latin typeface="Arial" panose="020B0604020202020204" pitchFamily="34" charset="0"/>
                <a:cs typeface="Arial" panose="020B0604020202020204" pitchFamily="34" charset="0"/>
              </a:rPr>
              <a:t>Postman</a:t>
            </a:r>
            <a:r>
              <a:rPr lang="fr-FR" sz="2800" dirty="0">
                <a:latin typeface="Arial" panose="020B0604020202020204" pitchFamily="34" charset="0"/>
                <a:cs typeface="Arial" panose="020B0604020202020204" pitchFamily="34" charset="0"/>
              </a:rPr>
              <a:t>. Pour voir la documentation interactive de votre API (avec </a:t>
            </a:r>
            <a:r>
              <a:rPr lang="fr-FR" sz="2800" dirty="0" err="1">
                <a:latin typeface="Arial" panose="020B0604020202020204" pitchFamily="34" charset="0"/>
                <a:cs typeface="Arial" panose="020B0604020202020204" pitchFamily="34" charset="0"/>
              </a:rPr>
              <a:t>Swagger</a:t>
            </a:r>
            <a:r>
              <a:rPr lang="fr-FR" sz="2800" dirty="0">
                <a:latin typeface="Arial" panose="020B0604020202020204" pitchFamily="34" charset="0"/>
                <a:cs typeface="Arial" panose="020B0604020202020204" pitchFamily="34" charset="0"/>
              </a:rPr>
              <a:t> UI), rendez-vous à l'adresse http://127.0.0.1:8000/docs</a:t>
            </a:r>
          </a:p>
        </p:txBody>
      </p:sp>
    </p:spTree>
    <p:extLst>
      <p:ext uri="{BB962C8B-B14F-4D97-AF65-F5344CB8AC3E}">
        <p14:creationId xmlns:p14="http://schemas.microsoft.com/office/powerpoint/2010/main" val="2928527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6755"/>
            <a:ext cx="9144000" cy="954107"/>
          </a:xfrm>
          <a:prstGeom prst="rect">
            <a:avLst/>
          </a:prstGeom>
        </p:spPr>
        <p:txBody>
          <a:bodyPr wrap="square">
            <a:spAutoFit/>
          </a:bodyPr>
          <a:lstStyle/>
          <a:p>
            <a:r>
              <a:rPr lang="fr-FR" sz="2800" dirty="0"/>
              <a:t>Testez le service en local, via des requêtes dans un script ou terminal, puis via l'interface </a:t>
            </a:r>
            <a:r>
              <a:rPr lang="fr-FR" sz="2800" dirty="0" err="1"/>
              <a:t>Swagger</a:t>
            </a:r>
            <a:r>
              <a:rPr lang="fr-FR" sz="2800" dirty="0"/>
              <a:t>.</a:t>
            </a:r>
          </a:p>
        </p:txBody>
      </p:sp>
    </p:spTree>
    <p:extLst>
      <p:ext uri="{BB962C8B-B14F-4D97-AF65-F5344CB8AC3E}">
        <p14:creationId xmlns:p14="http://schemas.microsoft.com/office/powerpoint/2010/main" val="4074470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74562"/>
            <a:ext cx="8206285" cy="523220"/>
          </a:xfrm>
          <a:prstGeom prst="rect">
            <a:avLst/>
          </a:prstGeom>
        </p:spPr>
        <p:txBody>
          <a:bodyPr wrap="none">
            <a:spAutoFit/>
          </a:bodyPr>
          <a:lstStyle/>
          <a:p>
            <a:r>
              <a:rPr lang="fr-FR" sz="2800" dirty="0">
                <a:latin typeface="Arial" panose="020B0604020202020204" pitchFamily="34" charset="0"/>
                <a:cs typeface="Arial" panose="020B0604020202020204" pitchFamily="34" charset="0"/>
              </a:rPr>
              <a:t>Tester le point de terminaison / (page d'accueil) :</a:t>
            </a:r>
          </a:p>
        </p:txBody>
      </p:sp>
    </p:spTree>
    <p:extLst>
      <p:ext uri="{BB962C8B-B14F-4D97-AF65-F5344CB8AC3E}">
        <p14:creationId xmlns:p14="http://schemas.microsoft.com/office/powerpoint/2010/main" val="1400719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8193734" cy="5541744"/>
          </a:xfrm>
          <a:prstGeom prst="rect">
            <a:avLst/>
          </a:prstGeom>
        </p:spPr>
      </p:pic>
    </p:spTree>
    <p:extLst>
      <p:ext uri="{BB962C8B-B14F-4D97-AF65-F5344CB8AC3E}">
        <p14:creationId xmlns:p14="http://schemas.microsoft.com/office/powerpoint/2010/main" val="3934477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236194" cy="1354217"/>
          </a:xfrm>
          <a:prstGeom prst="rect">
            <a:avLst/>
          </a:prstGeom>
        </p:spPr>
        <p:txBody>
          <a:bodyPr wrap="none">
            <a:spAutoFit/>
          </a:bodyPr>
          <a:lstStyle/>
          <a:p>
            <a:r>
              <a:rPr lang="fr-FR" sz="2800" dirty="0"/>
              <a:t>Tester le point de terminaison /data </a:t>
            </a:r>
            <a:r>
              <a:rPr lang="fr-FR" dirty="0" smtClean="0"/>
              <a:t>:</a:t>
            </a:r>
          </a:p>
          <a:p>
            <a:endParaRPr lang="fr-FR" dirty="0"/>
          </a:p>
          <a:p>
            <a:endParaRPr lang="fr-FR" dirty="0" smtClean="0"/>
          </a:p>
          <a:p>
            <a:endParaRPr lang="fr-FR" dirty="0"/>
          </a:p>
        </p:txBody>
      </p:sp>
      <p:pic>
        <p:nvPicPr>
          <p:cNvPr id="3" name="Image 2"/>
          <p:cNvPicPr>
            <a:picLocks noChangeAspect="1"/>
          </p:cNvPicPr>
          <p:nvPr/>
        </p:nvPicPr>
        <p:blipFill>
          <a:blip r:embed="rId2"/>
          <a:stretch>
            <a:fillRect/>
          </a:stretch>
        </p:blipFill>
        <p:spPr>
          <a:xfrm>
            <a:off x="0" y="1015213"/>
            <a:ext cx="10083658" cy="4749196"/>
          </a:xfrm>
          <a:prstGeom prst="rect">
            <a:avLst/>
          </a:prstGeom>
        </p:spPr>
      </p:pic>
    </p:spTree>
    <p:extLst>
      <p:ext uri="{BB962C8B-B14F-4D97-AF65-F5344CB8AC3E}">
        <p14:creationId xmlns:p14="http://schemas.microsoft.com/office/powerpoint/2010/main" val="3114656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321702" cy="523220"/>
          </a:xfrm>
          <a:prstGeom prst="rect">
            <a:avLst/>
          </a:prstGeom>
        </p:spPr>
        <p:txBody>
          <a:bodyPr wrap="none">
            <a:spAutoFit/>
          </a:bodyPr>
          <a:lstStyle/>
          <a:p>
            <a:r>
              <a:rPr lang="fr-FR" sz="2800" dirty="0"/>
              <a:t>Tester le point de terminaison /data/</a:t>
            </a:r>
            <a:r>
              <a:rPr lang="fr-FR" sz="2800" dirty="0" err="1"/>
              <a:t>year</a:t>
            </a:r>
            <a:r>
              <a:rPr lang="fr-FR" sz="2800" dirty="0"/>
              <a:t>/{</a:t>
            </a:r>
            <a:r>
              <a:rPr lang="fr-FR" sz="2800" dirty="0" err="1"/>
              <a:t>year</a:t>
            </a:r>
            <a:r>
              <a:rPr lang="fr-FR" sz="2800" dirty="0"/>
              <a:t>} :</a:t>
            </a:r>
          </a:p>
        </p:txBody>
      </p:sp>
      <p:pic>
        <p:nvPicPr>
          <p:cNvPr id="3" name="Image 2"/>
          <p:cNvPicPr>
            <a:picLocks noChangeAspect="1"/>
          </p:cNvPicPr>
          <p:nvPr/>
        </p:nvPicPr>
        <p:blipFill>
          <a:blip r:embed="rId2"/>
          <a:stretch>
            <a:fillRect/>
          </a:stretch>
        </p:blipFill>
        <p:spPr>
          <a:xfrm>
            <a:off x="-529" y="1130609"/>
            <a:ext cx="12193057" cy="4596782"/>
          </a:xfrm>
          <a:prstGeom prst="rect">
            <a:avLst/>
          </a:prstGeom>
        </p:spPr>
      </p:pic>
    </p:spTree>
    <p:extLst>
      <p:ext uri="{BB962C8B-B14F-4D97-AF65-F5344CB8AC3E}">
        <p14:creationId xmlns:p14="http://schemas.microsoft.com/office/powerpoint/2010/main" val="3667032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 y="230352"/>
            <a:ext cx="8982635" cy="1938992"/>
          </a:xfrm>
          <a:prstGeom prst="rect">
            <a:avLst/>
          </a:prstGeom>
        </p:spPr>
        <p:txBody>
          <a:bodyPr wrap="square">
            <a:spAutoFit/>
          </a:bodyPr>
          <a:lstStyle/>
          <a:p>
            <a:pPr algn="just"/>
            <a:r>
              <a:rPr lang="fr-FR" sz="2400" dirty="0">
                <a:latin typeface="Arial" panose="020B0604020202020204" pitchFamily="34" charset="0"/>
                <a:cs typeface="Arial" panose="020B0604020202020204" pitchFamily="34" charset="0"/>
              </a:rPr>
              <a:t>Test via l'interface </a:t>
            </a:r>
            <a:r>
              <a:rPr lang="fr-FR" sz="2400" dirty="0" err="1">
                <a:latin typeface="Arial" panose="020B0604020202020204" pitchFamily="34" charset="0"/>
                <a:cs typeface="Arial" panose="020B0604020202020204" pitchFamily="34" charset="0"/>
              </a:rPr>
              <a:t>Swagger</a:t>
            </a:r>
            <a:r>
              <a:rPr lang="fr-FR" sz="2400" dirty="0">
                <a:latin typeface="Arial" panose="020B0604020202020204" pitchFamily="34" charset="0"/>
                <a:cs typeface="Arial" panose="020B0604020202020204" pitchFamily="34" charset="0"/>
              </a:rPr>
              <a:t> (documentation interactive)</a:t>
            </a:r>
          </a:p>
          <a:p>
            <a:pPr algn="just"/>
            <a:endParaRPr lang="fr-FR" sz="2400" dirty="0">
              <a:latin typeface="Arial" panose="020B0604020202020204" pitchFamily="34" charset="0"/>
              <a:cs typeface="Arial" panose="020B0604020202020204" pitchFamily="34" charset="0"/>
            </a:endParaRPr>
          </a:p>
          <a:p>
            <a:pPr algn="just"/>
            <a:r>
              <a:rPr lang="fr-FR" sz="2400" dirty="0" err="1">
                <a:latin typeface="Arial" panose="020B0604020202020204" pitchFamily="34" charset="0"/>
                <a:cs typeface="Arial" panose="020B0604020202020204" pitchFamily="34" charset="0"/>
              </a:rPr>
              <a:t>FastAPI</a:t>
            </a:r>
            <a:r>
              <a:rPr lang="fr-FR" sz="2400" dirty="0">
                <a:latin typeface="Arial" panose="020B0604020202020204" pitchFamily="34" charset="0"/>
                <a:cs typeface="Arial" panose="020B0604020202020204" pitchFamily="34" charset="0"/>
              </a:rPr>
              <a:t> génère automatiquement une documentation interactive et une interface de test appelée </a:t>
            </a:r>
            <a:r>
              <a:rPr lang="fr-FR" sz="2400" dirty="0" err="1">
                <a:latin typeface="Arial" panose="020B0604020202020204" pitchFamily="34" charset="0"/>
                <a:cs typeface="Arial" panose="020B0604020202020204" pitchFamily="34" charset="0"/>
              </a:rPr>
              <a:t>Swagger</a:t>
            </a:r>
            <a:r>
              <a:rPr lang="fr-FR" sz="2400" dirty="0">
                <a:latin typeface="Arial" panose="020B0604020202020204" pitchFamily="34" charset="0"/>
                <a:cs typeface="Arial" panose="020B0604020202020204" pitchFamily="34" charset="0"/>
              </a:rPr>
              <a:t> UI. C'est le moyen le plus simple et le plus visuel de tester votre API.</a:t>
            </a:r>
          </a:p>
        </p:txBody>
      </p:sp>
    </p:spTree>
    <p:extLst>
      <p:ext uri="{BB962C8B-B14F-4D97-AF65-F5344CB8AC3E}">
        <p14:creationId xmlns:p14="http://schemas.microsoft.com/office/powerpoint/2010/main" val="734885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63308"/>
          </a:xfrm>
          <a:prstGeom prst="rect">
            <a:avLst/>
          </a:prstGeom>
        </p:spPr>
        <p:txBody>
          <a:bodyPr wrap="square">
            <a:spAutoFit/>
          </a:bodyPr>
          <a:lstStyle/>
          <a:p>
            <a:pPr algn="just"/>
            <a:r>
              <a:rPr lang="fr-FR" dirty="0">
                <a:latin typeface="Arial" panose="020B0604020202020204" pitchFamily="34" charset="0"/>
                <a:cs typeface="Arial" panose="020B0604020202020204" pitchFamily="34" charset="0"/>
              </a:rPr>
              <a:t>Assurez-vous que votre serveur est toujours en cours d'exécution.</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Ouvrez votre navigateur web et accédez à l'adresse suivante : http://127.0.0.1:8000/docs</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Vous verrez une page listant tous les </a:t>
            </a:r>
            <a:r>
              <a:rPr lang="fr-FR" dirty="0" err="1">
                <a:latin typeface="Arial" panose="020B0604020202020204" pitchFamily="34" charset="0"/>
                <a:cs typeface="Arial" panose="020B0604020202020204" pitchFamily="34" charset="0"/>
              </a:rPr>
              <a:t>endpoints</a:t>
            </a:r>
            <a:r>
              <a:rPr lang="fr-FR" dirty="0">
                <a:latin typeface="Arial" panose="020B0604020202020204" pitchFamily="34" charset="0"/>
                <a:cs typeface="Arial" panose="020B0604020202020204" pitchFamily="34" charset="0"/>
              </a:rPr>
              <a:t> de votre API (/, /data, /data/</a:t>
            </a:r>
            <a:r>
              <a:rPr lang="fr-FR" dirty="0" err="1">
                <a:latin typeface="Arial" panose="020B0604020202020204" pitchFamily="34" charset="0"/>
                <a:cs typeface="Arial" panose="020B0604020202020204" pitchFamily="34" charset="0"/>
              </a:rPr>
              <a:t>year</a:t>
            </a:r>
            <a:r>
              <a:rPr lang="fr-FR" dirty="0">
                <a:latin typeface="Arial" panose="020B0604020202020204" pitchFamily="34" charset="0"/>
                <a:cs typeface="Arial" panose="020B0604020202020204" pitchFamily="34" charset="0"/>
              </a:rPr>
              <a:t>/{</a:t>
            </a:r>
            <a:r>
              <a:rPr lang="fr-FR" dirty="0" err="1">
                <a:latin typeface="Arial" panose="020B0604020202020204" pitchFamily="34" charset="0"/>
                <a:cs typeface="Arial" panose="020B0604020202020204" pitchFamily="34" charset="0"/>
              </a:rPr>
              <a:t>year</a:t>
            </a:r>
            <a:r>
              <a:rPr lang="fr-FR" dirty="0">
                <a:latin typeface="Arial" panose="020B0604020202020204" pitchFamily="34" charset="0"/>
                <a:cs typeface="Arial" panose="020B0604020202020204" pitchFamily="34" charset="0"/>
              </a:rPr>
              <a:t>}).</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Pour tester un </a:t>
            </a:r>
            <a:r>
              <a:rPr lang="fr-FR" dirty="0" err="1">
                <a:latin typeface="Arial" panose="020B0604020202020204" pitchFamily="34" charset="0"/>
                <a:cs typeface="Arial" panose="020B0604020202020204" pitchFamily="34" charset="0"/>
              </a:rPr>
              <a:t>endpoint</a:t>
            </a:r>
            <a:r>
              <a:rPr lang="fr-FR" dirty="0">
                <a:latin typeface="Arial" panose="020B0604020202020204" pitchFamily="34" charset="0"/>
                <a:cs typeface="Arial" panose="020B0604020202020204" pitchFamily="34" charset="0"/>
              </a:rPr>
              <a:t>, cliquez sur l'une des sections pour la dérouler (par exemple, GET /data/</a:t>
            </a:r>
            <a:r>
              <a:rPr lang="fr-FR" dirty="0" err="1">
                <a:latin typeface="Arial" panose="020B0604020202020204" pitchFamily="34" charset="0"/>
                <a:cs typeface="Arial" panose="020B0604020202020204" pitchFamily="34" charset="0"/>
              </a:rPr>
              <a:t>year</a:t>
            </a:r>
            <a:r>
              <a:rPr lang="fr-FR" dirty="0">
                <a:latin typeface="Arial" panose="020B0604020202020204" pitchFamily="34" charset="0"/>
                <a:cs typeface="Arial" panose="020B0604020202020204" pitchFamily="34" charset="0"/>
              </a:rPr>
              <a:t>/{</a:t>
            </a:r>
            <a:r>
              <a:rPr lang="fr-FR" dirty="0" err="1">
                <a:latin typeface="Arial" panose="020B0604020202020204" pitchFamily="34" charset="0"/>
                <a:cs typeface="Arial" panose="020B0604020202020204" pitchFamily="34" charset="0"/>
              </a:rPr>
              <a:t>year</a:t>
            </a:r>
            <a:r>
              <a:rPr lang="fr-FR" dirty="0">
                <a:latin typeface="Arial" panose="020B0604020202020204" pitchFamily="34" charset="0"/>
                <a:cs typeface="Arial" panose="020B0604020202020204" pitchFamily="34" charset="0"/>
              </a:rPr>
              <a:t>}).</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Cliquez sur le bouton "</a:t>
            </a:r>
            <a:r>
              <a:rPr lang="fr-FR" dirty="0" err="1">
                <a:latin typeface="Arial" panose="020B0604020202020204" pitchFamily="34" charset="0"/>
                <a:cs typeface="Arial" panose="020B0604020202020204" pitchFamily="34" charset="0"/>
              </a:rPr>
              <a:t>Try</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it</a:t>
            </a:r>
            <a:r>
              <a:rPr lang="fr-FR" dirty="0">
                <a:latin typeface="Arial" panose="020B0604020202020204" pitchFamily="34" charset="0"/>
                <a:cs typeface="Arial" panose="020B0604020202020204" pitchFamily="34" charset="0"/>
              </a:rPr>
              <a:t> out".</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Entrez une valeur pour le paramètre {</a:t>
            </a:r>
            <a:r>
              <a:rPr lang="fr-FR" dirty="0" err="1">
                <a:latin typeface="Arial" panose="020B0604020202020204" pitchFamily="34" charset="0"/>
                <a:cs typeface="Arial" panose="020B0604020202020204" pitchFamily="34" charset="0"/>
              </a:rPr>
              <a:t>year</a:t>
            </a:r>
            <a:r>
              <a:rPr lang="fr-FR" dirty="0">
                <a:latin typeface="Arial" panose="020B0604020202020204" pitchFamily="34" charset="0"/>
                <a:cs typeface="Arial" panose="020B0604020202020204" pitchFamily="34" charset="0"/>
              </a:rPr>
              <a:t>} dans le champ de saisie (par exemple, 2016).</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Cliquez sur le bouton "</a:t>
            </a:r>
            <a:r>
              <a:rPr lang="fr-FR" dirty="0" err="1">
                <a:latin typeface="Arial" panose="020B0604020202020204" pitchFamily="34" charset="0"/>
                <a:cs typeface="Arial" panose="020B0604020202020204" pitchFamily="34" charset="0"/>
              </a:rPr>
              <a:t>Execute</a:t>
            </a:r>
            <a:r>
              <a:rPr lang="fr-FR" dirty="0">
                <a:latin typeface="Arial" panose="020B0604020202020204" pitchFamily="34" charset="0"/>
                <a:cs typeface="Arial" panose="020B0604020202020204" pitchFamily="34" charset="0"/>
              </a:rPr>
              <a:t>".</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L'interface vous montrera la requête complète envoyée au serveur et la réponse JSON que vous avez reçue, ainsi que le code de statut HTTP. C'est un excellent moyen de valider le comportement de votre API sans écrire de code.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Il faut taper cette adresse dans le navigateur :http://localhost:8000/docs</a:t>
            </a:r>
          </a:p>
        </p:txBody>
      </p:sp>
    </p:spTree>
    <p:extLst>
      <p:ext uri="{BB962C8B-B14F-4D97-AF65-F5344CB8AC3E}">
        <p14:creationId xmlns:p14="http://schemas.microsoft.com/office/powerpoint/2010/main" val="3758451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112096"/>
            <a:ext cx="12193057" cy="5614903"/>
          </a:xfrm>
          <a:prstGeom prst="rect">
            <a:avLst/>
          </a:prstGeom>
        </p:spPr>
      </p:pic>
    </p:spTree>
    <p:extLst>
      <p:ext uri="{BB962C8B-B14F-4D97-AF65-F5344CB8AC3E}">
        <p14:creationId xmlns:p14="http://schemas.microsoft.com/office/powerpoint/2010/main" val="489064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1440"/>
            <a:ext cx="9144000" cy="1569660"/>
          </a:xfrm>
          <a:prstGeom prst="rect">
            <a:avLst/>
          </a:prstGeom>
        </p:spPr>
        <p:txBody>
          <a:bodyPr wrap="square">
            <a:spAutoFit/>
          </a:bodyPr>
          <a:lstStyle/>
          <a:p>
            <a:pPr algn="just"/>
            <a:r>
              <a:rPr lang="fr-FR" sz="2400" dirty="0">
                <a:latin typeface="Arial" panose="020B0604020202020204" pitchFamily="34" charset="0"/>
                <a:cs typeface="Arial" panose="020B0604020202020204" pitchFamily="34" charset="0"/>
              </a:rPr>
              <a:t>En utilisant la librairie </a:t>
            </a:r>
            <a:r>
              <a:rPr lang="fr-FR" sz="2400" dirty="0" err="1">
                <a:latin typeface="Arial" panose="020B0604020202020204" pitchFamily="34" charset="0"/>
                <a:cs typeface="Arial" panose="020B0604020202020204" pitchFamily="34" charset="0"/>
              </a:rPr>
              <a:t>Pydantic</a:t>
            </a:r>
            <a:r>
              <a:rPr lang="fr-FR" sz="2400" dirty="0">
                <a:latin typeface="Arial" panose="020B0604020202020204" pitchFamily="34" charset="0"/>
                <a:cs typeface="Arial" panose="020B0604020202020204" pitchFamily="34" charset="0"/>
              </a:rPr>
              <a:t> ou </a:t>
            </a:r>
            <a:r>
              <a:rPr lang="fr-FR" sz="2400" dirty="0" err="1">
                <a:latin typeface="Arial" panose="020B0604020202020204" pitchFamily="34" charset="0"/>
                <a:cs typeface="Arial" panose="020B0604020202020204" pitchFamily="34" charset="0"/>
              </a:rPr>
              <a:t>Pandera</a:t>
            </a:r>
            <a:r>
              <a:rPr lang="fr-FR" sz="2400" dirty="0">
                <a:latin typeface="Arial" panose="020B0604020202020204" pitchFamily="34" charset="0"/>
                <a:cs typeface="Arial" panose="020B0604020202020204" pitchFamily="34" charset="0"/>
              </a:rPr>
              <a:t>, implémentez une logique de validation de la donnée envoyée à l'API, afin d'empêcher un utilisateur d’envoyer des informations incohérentes</a:t>
            </a:r>
          </a:p>
        </p:txBody>
      </p:sp>
    </p:spTree>
    <p:extLst>
      <p:ext uri="{BB962C8B-B14F-4D97-AF65-F5344CB8AC3E}">
        <p14:creationId xmlns:p14="http://schemas.microsoft.com/office/powerpoint/2010/main" val="1768954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12193057" cy="5066215"/>
          </a:xfrm>
          <a:prstGeom prst="rect">
            <a:avLst/>
          </a:prstGeom>
        </p:spPr>
      </p:pic>
    </p:spTree>
    <p:extLst>
      <p:ext uri="{BB962C8B-B14F-4D97-AF65-F5344CB8AC3E}">
        <p14:creationId xmlns:p14="http://schemas.microsoft.com/office/powerpoint/2010/main" val="2387361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418320" cy="3970318"/>
          </a:xfrm>
          <a:prstGeom prst="rect">
            <a:avLst/>
          </a:prstGeom>
        </p:spPr>
        <p:txBody>
          <a:bodyPr wrap="square">
            <a:spAutoFit/>
          </a:bodyPr>
          <a:lstStyle/>
          <a:p>
            <a:pPr algn="just"/>
            <a:r>
              <a:rPr lang="fr-FR" dirty="0">
                <a:latin typeface="Arial" panose="020B0604020202020204" pitchFamily="34" charset="0"/>
                <a:cs typeface="Arial" panose="020B0604020202020204" pitchFamily="34" charset="0"/>
              </a:rPr>
              <a:t>Comment tester la validation avec </a:t>
            </a:r>
            <a:r>
              <a:rPr lang="fr-FR" dirty="0" err="1">
                <a:latin typeface="Arial" panose="020B0604020202020204" pitchFamily="34" charset="0"/>
                <a:cs typeface="Arial" panose="020B0604020202020204" pitchFamily="34" charset="0"/>
              </a:rPr>
              <a:t>Swagger</a:t>
            </a:r>
            <a:r>
              <a:rPr lang="fr-FR" dirty="0">
                <a:latin typeface="Arial" panose="020B0604020202020204" pitchFamily="34" charset="0"/>
                <a:cs typeface="Arial" panose="020B0604020202020204" pitchFamily="34" charset="0"/>
              </a:rPr>
              <a:t> UI</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Une fois que vous avez mis à jour votre fichier service.py, relancez le serveur </a:t>
            </a:r>
            <a:r>
              <a:rPr lang="fr-FR" dirty="0" err="1">
                <a:latin typeface="Arial" panose="020B0604020202020204" pitchFamily="34" charset="0"/>
                <a:cs typeface="Arial" panose="020B0604020202020204" pitchFamily="34" charset="0"/>
              </a:rPr>
              <a:t>Uvicorn</a:t>
            </a:r>
            <a:r>
              <a:rPr lang="fr-FR" dirty="0">
                <a:latin typeface="Arial" panose="020B0604020202020204" pitchFamily="34" charset="0"/>
                <a:cs typeface="Arial" panose="020B0604020202020204" pitchFamily="34" charset="0"/>
              </a:rPr>
              <a:t> avec la commande </a:t>
            </a:r>
            <a:r>
              <a:rPr lang="fr-FR" dirty="0" err="1">
                <a:latin typeface="Arial" panose="020B0604020202020204" pitchFamily="34" charset="0"/>
                <a:cs typeface="Arial" panose="020B0604020202020204" pitchFamily="34" charset="0"/>
              </a:rPr>
              <a:t>uvicorn</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service:app</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reload</a:t>
            </a:r>
            <a:r>
              <a:rPr lang="fr-FR" dirty="0">
                <a:latin typeface="Arial" panose="020B0604020202020204" pitchFamily="34" charset="0"/>
                <a:cs typeface="Arial" panose="020B0604020202020204" pitchFamily="34" charset="0"/>
              </a:rPr>
              <a:t>.</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Ouvrez votre navigateur et rendez-vous sur l'interface de documentation : http://127.0.0.1:8000/docs</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Vous verrez maintenant un nouvel </a:t>
            </a:r>
            <a:r>
              <a:rPr lang="fr-FR" dirty="0" err="1">
                <a:latin typeface="Arial" panose="020B0604020202020204" pitchFamily="34" charset="0"/>
                <a:cs typeface="Arial" panose="020B0604020202020204" pitchFamily="34" charset="0"/>
              </a:rPr>
              <a:t>endpoint</a:t>
            </a:r>
            <a:r>
              <a:rPr lang="fr-FR" dirty="0">
                <a:latin typeface="Arial" panose="020B0604020202020204" pitchFamily="34" charset="0"/>
                <a:cs typeface="Arial" panose="020B0604020202020204" pitchFamily="34" charset="0"/>
              </a:rPr>
              <a:t> POST /data/</a:t>
            </a:r>
            <a:r>
              <a:rPr lang="fr-FR" dirty="0" err="1">
                <a:latin typeface="Arial" panose="020B0604020202020204" pitchFamily="34" charset="0"/>
                <a:cs typeface="Arial" panose="020B0604020202020204" pitchFamily="34" charset="0"/>
              </a:rPr>
              <a:t>submit</a:t>
            </a:r>
            <a:r>
              <a:rPr lang="fr-FR" dirty="0">
                <a:latin typeface="Arial" panose="020B0604020202020204" pitchFamily="34" charset="0"/>
                <a:cs typeface="Arial" panose="020B0604020202020204" pitchFamily="34" charset="0"/>
              </a:rPr>
              <a:t>.</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Cliquez sur cette section pour la dérouler, puis cliquez sur "</a:t>
            </a:r>
            <a:r>
              <a:rPr lang="fr-FR" dirty="0" err="1">
                <a:latin typeface="Arial" panose="020B0604020202020204" pitchFamily="34" charset="0"/>
                <a:cs typeface="Arial" panose="020B0604020202020204" pitchFamily="34" charset="0"/>
              </a:rPr>
              <a:t>Try</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it</a:t>
            </a:r>
            <a:r>
              <a:rPr lang="fr-FR" dirty="0">
                <a:latin typeface="Arial" panose="020B0604020202020204" pitchFamily="34" charset="0"/>
                <a:cs typeface="Arial" panose="020B0604020202020204" pitchFamily="34" charset="0"/>
              </a:rPr>
              <a:t> out".</a:t>
            </a:r>
          </a:p>
          <a:p>
            <a:pPr algn="just"/>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    L'interface vous fournira un exemple de corps de requête (</a:t>
            </a:r>
            <a:r>
              <a:rPr lang="fr-FR" dirty="0" err="1">
                <a:latin typeface="Arial" panose="020B0604020202020204" pitchFamily="34" charset="0"/>
                <a:cs typeface="Arial" panose="020B0604020202020204" pitchFamily="34" charset="0"/>
              </a:rPr>
              <a:t>Request</a:t>
            </a:r>
            <a:r>
              <a:rPr lang="fr-FR" dirty="0">
                <a:latin typeface="Arial" panose="020B0604020202020204" pitchFamily="34" charset="0"/>
                <a:cs typeface="Arial" panose="020B0604020202020204" pitchFamily="34" charset="0"/>
              </a:rPr>
              <a:t> body) avec le schéma de données attendu.</a:t>
            </a:r>
          </a:p>
        </p:txBody>
      </p:sp>
    </p:spTree>
    <p:extLst>
      <p:ext uri="{BB962C8B-B14F-4D97-AF65-F5344CB8AC3E}">
        <p14:creationId xmlns:p14="http://schemas.microsoft.com/office/powerpoint/2010/main" val="1958132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182880"/>
            <a:ext cx="8817429" cy="923330"/>
          </a:xfrm>
          <a:prstGeom prst="rect">
            <a:avLst/>
          </a:prstGeom>
        </p:spPr>
        <p:txBody>
          <a:bodyPr wrap="square">
            <a:spAutoFit/>
          </a:bodyPr>
          <a:lstStyle/>
          <a:p>
            <a:r>
              <a:rPr lang="fr-FR" dirty="0">
                <a:latin typeface="Arial" panose="020B0604020202020204" pitchFamily="34" charset="0"/>
                <a:cs typeface="Arial" panose="020B0604020202020204" pitchFamily="34" charset="0"/>
              </a:rPr>
              <a:t>Voici une capture d’écran du compte actif sur une plateforme Cloud (Google Cloud Platform)</a:t>
            </a:r>
          </a:p>
          <a:p>
            <a:r>
              <a:rPr lang="fr-FR" dirty="0">
                <a:latin typeface="Arial" panose="020B0604020202020204" pitchFamily="34" charset="0"/>
                <a:cs typeface="Arial" panose="020B0604020202020204" pitchFamily="34" charset="0"/>
              </a:rPr>
              <a:t>Pour se connecter ,faut juste la commande suivante : </a:t>
            </a:r>
            <a:r>
              <a:rPr lang="fr-FR" dirty="0" err="1">
                <a:latin typeface="Arial" panose="020B0604020202020204" pitchFamily="34" charset="0"/>
                <a:cs typeface="Arial" panose="020B0604020202020204" pitchFamily="34" charset="0"/>
              </a:rPr>
              <a:t>gcloud</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auth</a:t>
            </a:r>
            <a:r>
              <a:rPr lang="fr-FR" dirty="0">
                <a:latin typeface="Arial" panose="020B0604020202020204" pitchFamily="34" charset="0"/>
                <a:cs typeface="Arial" panose="020B0604020202020204" pitchFamily="34" charset="0"/>
              </a:rPr>
              <a:t> login</a:t>
            </a:r>
          </a:p>
        </p:txBody>
      </p:sp>
    </p:spTree>
    <p:extLst>
      <p:ext uri="{BB962C8B-B14F-4D97-AF65-F5344CB8AC3E}">
        <p14:creationId xmlns:p14="http://schemas.microsoft.com/office/powerpoint/2010/main" val="1686477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039957" cy="4506686"/>
          </a:xfrm>
          <a:prstGeom prst="rect">
            <a:avLst/>
          </a:prstGeom>
        </p:spPr>
      </p:pic>
    </p:spTree>
    <p:extLst>
      <p:ext uri="{BB962C8B-B14F-4D97-AF65-F5344CB8AC3E}">
        <p14:creationId xmlns:p14="http://schemas.microsoft.com/office/powerpoint/2010/main" val="3248205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0629"/>
            <a:ext cx="9144000" cy="1815882"/>
          </a:xfrm>
          <a:prstGeom prst="rect">
            <a:avLst/>
          </a:prstGeom>
        </p:spPr>
        <p:txBody>
          <a:bodyPr wrap="square">
            <a:spAutoFit/>
          </a:bodyPr>
          <a:lstStyle/>
          <a:p>
            <a:r>
              <a:rPr lang="fr-FR" sz="2800" dirty="0">
                <a:latin typeface="Arial" panose="020B0604020202020204" pitchFamily="34" charset="0"/>
                <a:cs typeface="Arial" panose="020B0604020202020204" pitchFamily="34" charset="0"/>
              </a:rPr>
              <a:t>La capture </a:t>
            </a:r>
            <a:r>
              <a:rPr lang="fr-FR" sz="2800" dirty="0" smtClean="0">
                <a:latin typeface="Arial" panose="020B0604020202020204" pitchFamily="34" charset="0"/>
                <a:cs typeface="Arial" panose="020B0604020202020204" pitchFamily="34" charset="0"/>
              </a:rPr>
              <a:t>d’</a:t>
            </a:r>
            <a:r>
              <a:rPr lang="fr-FR" sz="2800" dirty="0" err="1" smtClean="0">
                <a:latin typeface="Arial" panose="020B0604020202020204" pitchFamily="34" charset="0"/>
                <a:cs typeface="Arial" panose="020B0604020202020204" pitchFamily="34" charset="0"/>
              </a:rPr>
              <a:t>ecran</a:t>
            </a:r>
            <a:r>
              <a:rPr lang="fr-FR" sz="2800" dirty="0" smtClean="0">
                <a:latin typeface="Arial" panose="020B0604020202020204" pitchFamily="34" charset="0"/>
                <a:cs typeface="Arial" panose="020B0604020202020204" pitchFamily="34" charset="0"/>
              </a:rPr>
              <a:t> </a:t>
            </a:r>
            <a:r>
              <a:rPr lang="fr-FR" sz="2800" dirty="0">
                <a:latin typeface="Arial" panose="020B0604020202020204" pitchFamily="34" charset="0"/>
                <a:cs typeface="Arial" panose="020B0604020202020204" pitchFamily="34" charset="0"/>
              </a:rPr>
              <a:t>suivante </a:t>
            </a:r>
            <a:r>
              <a:rPr lang="fr-FR" sz="2800" dirty="0" smtClean="0">
                <a:latin typeface="Arial" panose="020B0604020202020204" pitchFamily="34" charset="0"/>
                <a:cs typeface="Arial" panose="020B0604020202020204" pitchFamily="34" charset="0"/>
              </a:rPr>
              <a:t>,la création  d’une </a:t>
            </a:r>
            <a:r>
              <a:rPr lang="fr-FR" sz="2800" dirty="0">
                <a:latin typeface="Arial" panose="020B0604020202020204" pitchFamily="34" charset="0"/>
                <a:cs typeface="Arial" panose="020B0604020202020204" pitchFamily="34" charset="0"/>
              </a:rPr>
              <a:t>image Docker via </a:t>
            </a:r>
            <a:r>
              <a:rPr lang="fr-FR" sz="2800" dirty="0" err="1" smtClean="0">
                <a:latin typeface="Arial" panose="020B0604020202020204" pitchFamily="34" charset="0"/>
                <a:cs typeface="Arial" panose="020B0604020202020204" pitchFamily="34" charset="0"/>
              </a:rPr>
              <a:t>BentoM.L</a:t>
            </a:r>
            <a:endParaRPr lang="fr-FR" sz="2800" dirty="0" smtClean="0">
              <a:latin typeface="Arial" panose="020B0604020202020204" pitchFamily="34" charset="0"/>
              <a:cs typeface="Arial" panose="020B0604020202020204" pitchFamily="34" charset="0"/>
            </a:endParaRPr>
          </a:p>
          <a:p>
            <a:endParaRPr lang="fr-FR" sz="2800" dirty="0">
              <a:latin typeface="Arial" panose="020B0604020202020204" pitchFamily="34" charset="0"/>
              <a:cs typeface="Arial" panose="020B0604020202020204" pitchFamily="34" charset="0"/>
            </a:endParaRPr>
          </a:p>
          <a:p>
            <a:r>
              <a:rPr lang="fr-FR" sz="2800" dirty="0" smtClean="0">
                <a:latin typeface="Arial" panose="020B0604020202020204" pitchFamily="34" charset="0"/>
                <a:cs typeface="Arial" panose="020B0604020202020204" pitchFamily="34" charset="0"/>
              </a:rPr>
              <a:t>Pour afficher l’image ,la commande :docker image</a:t>
            </a:r>
            <a:endParaRPr lang="fr-FR"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9299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566"/>
            <a:ext cx="9297698" cy="3236864"/>
          </a:xfrm>
          <a:prstGeom prst="rect">
            <a:avLst/>
          </a:prstGeom>
        </p:spPr>
      </p:pic>
    </p:spTree>
    <p:extLst>
      <p:ext uri="{BB962C8B-B14F-4D97-AF65-F5344CB8AC3E}">
        <p14:creationId xmlns:p14="http://schemas.microsoft.com/office/powerpoint/2010/main" val="3615245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00157"/>
            <a:ext cx="12192000" cy="5257686"/>
          </a:xfrm>
          <a:prstGeom prst="rect">
            <a:avLst/>
          </a:prstGeom>
        </p:spPr>
      </p:pic>
    </p:spTree>
    <p:extLst>
      <p:ext uri="{BB962C8B-B14F-4D97-AF65-F5344CB8AC3E}">
        <p14:creationId xmlns:p14="http://schemas.microsoft.com/office/powerpoint/2010/main" val="2215468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34982"/>
            <a:ext cx="12192000" cy="3588036"/>
          </a:xfrm>
          <a:prstGeom prst="rect">
            <a:avLst/>
          </a:prstGeom>
        </p:spPr>
      </p:pic>
    </p:spTree>
    <p:extLst>
      <p:ext uri="{BB962C8B-B14F-4D97-AF65-F5344CB8AC3E}">
        <p14:creationId xmlns:p14="http://schemas.microsoft.com/office/powerpoint/2010/main" val="15005690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43021"/>
            <a:ext cx="12192000" cy="3771958"/>
          </a:xfrm>
          <a:prstGeom prst="rect">
            <a:avLst/>
          </a:prstGeom>
        </p:spPr>
      </p:pic>
    </p:spTree>
    <p:extLst>
      <p:ext uri="{BB962C8B-B14F-4D97-AF65-F5344CB8AC3E}">
        <p14:creationId xmlns:p14="http://schemas.microsoft.com/office/powerpoint/2010/main" val="3389511680"/>
      </p:ext>
    </p:extLst>
  </p:cSld>
  <p:clrMapOvr>
    <a:masterClrMapping/>
  </p:clrMapOvr>
</p:sld>
</file>

<file path=ppt/theme/theme1.xml><?xml version="1.0" encoding="utf-8"?>
<a:theme xmlns:a="http://schemas.openxmlformats.org/drawingml/2006/main" name="Facette">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11530</TotalTime>
  <Words>1329</Words>
  <Application>Microsoft Office PowerPoint</Application>
  <PresentationFormat>Grand écran</PresentationFormat>
  <Paragraphs>162</Paragraphs>
  <Slides>32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32</vt:i4>
      </vt:variant>
    </vt:vector>
  </HeadingPairs>
  <TitlesOfParts>
    <vt:vector size="36" baseType="lpstr">
      <vt:lpstr>Arial</vt:lpstr>
      <vt:lpstr>Trebuchet MS</vt:lpstr>
      <vt:lpstr>Wingdings 3</vt:lpstr>
      <vt:lpstr>Facette</vt:lpstr>
      <vt:lpstr>Analyse et modélisation de la performance énergétique des bâtiments de Seattle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User</cp:lastModifiedBy>
  <cp:revision>24</cp:revision>
  <dcterms:created xsi:type="dcterms:W3CDTF">2025-08-27T18:38:07Z</dcterms:created>
  <dcterms:modified xsi:type="dcterms:W3CDTF">2025-11-05T21:52:45Z</dcterms:modified>
</cp:coreProperties>
</file>