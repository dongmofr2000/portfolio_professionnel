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06"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4" r:id="rId19"/>
    <p:sldId id="275" r:id="rId20"/>
    <p:sldId id="276" r:id="rId21"/>
    <p:sldId id="277" r:id="rId22"/>
    <p:sldId id="282" r:id="rId23"/>
    <p:sldId id="283" r:id="rId24"/>
    <p:sldId id="284" r:id="rId25"/>
    <p:sldId id="286" r:id="rId26"/>
    <p:sldId id="273" r:id="rId27"/>
    <p:sldId id="266" r:id="rId28"/>
    <p:sldId id="278" r:id="rId29"/>
    <p:sldId id="279" r:id="rId30"/>
    <p:sldId id="280"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28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dongmofr2000/projet_redpanda/tree/main"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7067" y="753035"/>
            <a:ext cx="7766936" cy="3297801"/>
          </a:xfrm>
        </p:spPr>
        <p:txBody>
          <a:bodyPr/>
          <a:lstStyle/>
          <a:p>
            <a:r>
              <a:rPr lang="fr-FR" dirty="0"/>
              <a:t>POC (Proof Of Concept) sur un système de gestion de tickets clients. </a:t>
            </a:r>
          </a:p>
        </p:txBody>
      </p:sp>
      <p:sp>
        <p:nvSpPr>
          <p:cNvPr id="3" name="Sous-titre 2"/>
          <p:cNvSpPr>
            <a:spLocks noGrp="1"/>
          </p:cNvSpPr>
          <p:nvPr>
            <p:ph type="subTitle" idx="1"/>
          </p:nvPr>
        </p:nvSpPr>
        <p:spPr/>
        <p:txBody>
          <a:bodyPr/>
          <a:lstStyle/>
          <a:p>
            <a:r>
              <a:rPr lang="fr-FR" dirty="0"/>
              <a:t> </a:t>
            </a:r>
            <a:r>
              <a:rPr lang="fr-FR" dirty="0" err="1"/>
              <a:t>InduTech</a:t>
            </a:r>
            <a:endParaRPr lang="fr-FR" dirty="0"/>
          </a:p>
        </p:txBody>
      </p:sp>
    </p:spTree>
    <p:extLst>
      <p:ext uri="{BB962C8B-B14F-4D97-AF65-F5344CB8AC3E}">
        <p14:creationId xmlns:p14="http://schemas.microsoft.com/office/powerpoint/2010/main" val="1964418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923330"/>
          </a:xfrm>
          <a:prstGeom prst="rect">
            <a:avLst/>
          </a:prstGeom>
        </p:spPr>
        <p:txBody>
          <a:bodyPr wrap="square">
            <a:spAutoFit/>
          </a:bodyPr>
          <a:lstStyle/>
          <a:p>
            <a:r>
              <a:rPr lang="fr-FR" dirty="0">
                <a:hlinkClick r:id="rId2"/>
              </a:rPr>
              <a:t>https://</a:t>
            </a:r>
            <a:r>
              <a:rPr lang="fr-FR" dirty="0" smtClean="0">
                <a:hlinkClick r:id="rId2"/>
              </a:rPr>
              <a:t>github.com/dongmofr2000/projet_redpanda/tree/main</a:t>
            </a:r>
            <a:endParaRPr lang="fr-FR" dirty="0" smtClean="0"/>
          </a:p>
          <a:p>
            <a:endParaRPr lang="fr-FR" dirty="0"/>
          </a:p>
          <a:p>
            <a:r>
              <a:rPr lang="fr-FR" dirty="0" smtClean="0"/>
              <a:t>Lien </a:t>
            </a:r>
            <a:r>
              <a:rPr lang="fr-FR" dirty="0" err="1" smtClean="0"/>
              <a:t>github</a:t>
            </a:r>
            <a:r>
              <a:rPr lang="fr-FR" dirty="0" smtClean="0"/>
              <a:t> contenant le </a:t>
            </a:r>
            <a:r>
              <a:rPr lang="fr-FR" dirty="0" err="1" smtClean="0"/>
              <a:t>readme</a:t>
            </a:r>
            <a:r>
              <a:rPr lang="fr-FR" dirty="0" smtClean="0"/>
              <a:t> et tous les scripts</a:t>
            </a:r>
            <a:endParaRPr lang="fr-FR" dirty="0"/>
          </a:p>
        </p:txBody>
      </p:sp>
    </p:spTree>
    <p:extLst>
      <p:ext uri="{BB962C8B-B14F-4D97-AF65-F5344CB8AC3E}">
        <p14:creationId xmlns:p14="http://schemas.microsoft.com/office/powerpoint/2010/main" val="1931140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200329"/>
          </a:xfrm>
          <a:prstGeom prst="rect">
            <a:avLst/>
          </a:prstGeom>
        </p:spPr>
        <p:txBody>
          <a:bodyPr wrap="square">
            <a:spAutoFit/>
          </a:bodyPr>
          <a:lstStyle/>
          <a:p>
            <a:r>
              <a:rPr lang="fr-FR" dirty="0">
                <a:latin typeface="Arial" panose="020B0604020202020204" pitchFamily="34" charset="0"/>
                <a:cs typeface="Arial" panose="020B0604020202020204" pitchFamily="34" charset="0"/>
              </a:rPr>
              <a:t>À partir des besoins mentionnés, et en utilisant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sélectionnez les services cloud les plus adaptés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Stockage de données non structurées (logs, données brutes </a:t>
            </a:r>
            <a:r>
              <a:rPr lang="fr-FR" dirty="0" err="1">
                <a:latin typeface="Arial" panose="020B0604020202020204" pitchFamily="34" charset="0"/>
                <a:cs typeface="Arial" panose="020B0604020202020204" pitchFamily="34" charset="0"/>
              </a:rPr>
              <a:t>IoT</a:t>
            </a:r>
            <a:r>
              <a:rPr lang="fr-FR" dirty="0">
                <a:latin typeface="Arial" panose="020B0604020202020204" pitchFamily="34" charset="0"/>
                <a:cs typeface="Arial" panose="020B0604020202020204" pitchFamily="34" charset="0"/>
              </a:rPr>
              <a:t>, fichiers utilisateurs) :</a:t>
            </a:r>
          </a:p>
        </p:txBody>
      </p:sp>
    </p:spTree>
    <p:extLst>
      <p:ext uri="{BB962C8B-B14F-4D97-AF65-F5344CB8AC3E}">
        <p14:creationId xmlns:p14="http://schemas.microsoft.com/office/powerpoint/2010/main" val="40303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2893100"/>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Utilisez un service de stockage d’objets dans le cloud, pour héberger les données non </a:t>
            </a:r>
            <a:r>
              <a:rPr lang="fr-FR" sz="2800" dirty="0" smtClean="0">
                <a:latin typeface="Arial" panose="020B0604020202020204" pitchFamily="34" charset="0"/>
                <a:cs typeface="Arial" panose="020B0604020202020204" pitchFamily="34" charset="0"/>
              </a:rPr>
              <a:t>structurées </a:t>
            </a:r>
            <a:r>
              <a:rPr lang="fr-FR" dirty="0" smtClean="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Pour le stockage des données non structurées, la meilleure solution dans l'écosystème AWS pour une entreprise comme </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est AWS Simple Storage Service (S3).</a:t>
            </a:r>
          </a:p>
        </p:txBody>
      </p:sp>
    </p:spTree>
    <p:extLst>
      <p:ext uri="{BB962C8B-B14F-4D97-AF65-F5344CB8AC3E}">
        <p14:creationId xmlns:p14="http://schemas.microsoft.com/office/powerpoint/2010/main" val="3600573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6647974"/>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Justifiez votre choix en termes de </a:t>
            </a:r>
            <a:r>
              <a:rPr lang="fr-FR" sz="2800" dirty="0" err="1">
                <a:latin typeface="Arial" panose="020B0604020202020204" pitchFamily="34" charset="0"/>
                <a:cs typeface="Arial" panose="020B0604020202020204" pitchFamily="34" charset="0"/>
              </a:rPr>
              <a:t>scalabilité</a:t>
            </a:r>
            <a:r>
              <a:rPr lang="fr-FR" sz="2800" dirty="0">
                <a:latin typeface="Arial" panose="020B0604020202020204" pitchFamily="34" charset="0"/>
                <a:cs typeface="Arial" panose="020B0604020202020204" pitchFamily="34" charset="0"/>
              </a:rPr>
              <a:t>, sécurité, et interopérabilité avec </a:t>
            </a:r>
            <a:r>
              <a:rPr lang="fr-FR" sz="2800" dirty="0" err="1" smtClean="0">
                <a:latin typeface="Arial" panose="020B0604020202020204" pitchFamily="34" charset="0"/>
                <a:cs typeface="Arial" panose="020B0604020202020204" pitchFamily="34" charset="0"/>
              </a:rPr>
              <a:t>Redpanda</a:t>
            </a:r>
            <a:endParaRPr lang="fr-FR" sz="2800" dirty="0" smtClean="0">
              <a:latin typeface="Arial" panose="020B0604020202020204" pitchFamily="34" charset="0"/>
              <a:cs typeface="Arial" panose="020B0604020202020204" pitchFamily="34" charset="0"/>
            </a:endParaRPr>
          </a:p>
          <a:p>
            <a:endParaRPr lang="fr-FR" sz="2800"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Service Sélectionné : AWS S3 (Simple Storage Service)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AWS S3 est le service de stockage d'objets leader du marché et il répond parfaitement aux exigences de l'infrastructure hybride, notamment pour absorber les 10 To de données existantes et les nouveaux flux </a:t>
            </a:r>
            <a:r>
              <a:rPr lang="fr-FR" dirty="0" err="1" smtClean="0">
                <a:latin typeface="Arial" panose="020B0604020202020204" pitchFamily="34" charset="0"/>
                <a:cs typeface="Arial" panose="020B0604020202020204" pitchFamily="34" charset="0"/>
              </a:rPr>
              <a:t>IoT</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1. </a:t>
            </a:r>
            <a:r>
              <a:rPr lang="fr-FR" dirty="0" err="1">
                <a:latin typeface="Arial" panose="020B0604020202020204" pitchFamily="34" charset="0"/>
                <a:cs typeface="Arial" panose="020B0604020202020204" pitchFamily="34" charset="0"/>
              </a:rPr>
              <a:t>Scalabilité</a:t>
            </a:r>
            <a:r>
              <a:rPr lang="fr-FR" dirty="0">
                <a:latin typeface="Arial" panose="020B0604020202020204" pitchFamily="34" charset="0"/>
                <a:cs typeface="Arial" panose="020B0604020202020204" pitchFamily="34" charset="0"/>
              </a:rPr>
              <a:t> (Évolutivité)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Illimité et Élastique : S3 offre une capacité de stockage virtuellement illimitée. Cela résout directement la contrainte actuelle de capacité du </a:t>
            </a:r>
            <a:r>
              <a:rPr lang="fr-FR" dirty="0" err="1">
                <a:latin typeface="Arial" panose="020B0604020202020204" pitchFamily="34" charset="0"/>
                <a:cs typeface="Arial" panose="020B0604020202020204" pitchFamily="34" charset="0"/>
              </a:rPr>
              <a:t>datacenter</a:t>
            </a:r>
            <a:r>
              <a:rPr lang="fr-FR" dirty="0">
                <a:latin typeface="Arial" panose="020B0604020202020204" pitchFamily="34" charset="0"/>
                <a:cs typeface="Arial" panose="020B0604020202020204" pitchFamily="34" charset="0"/>
              </a:rPr>
              <a:t>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d'</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Il peut facilement absorber l'augmentation mensuelle de 50 Go de données en temps réel sans aucune intervention manuelle.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Performance : Bien que ce soit du stockage d'objets, il est conçu pour une haute performance, ce qui le rend idéal pour les lacs de données (Data </a:t>
            </a:r>
            <a:r>
              <a:rPr lang="fr-FR" dirty="0" err="1">
                <a:latin typeface="Arial" panose="020B0604020202020204" pitchFamily="34" charset="0"/>
                <a:cs typeface="Arial" panose="020B0604020202020204" pitchFamily="34" charset="0"/>
              </a:rPr>
              <a:t>Lakes</a:t>
            </a:r>
            <a:r>
              <a:rPr lang="fr-FR" dirty="0">
                <a:latin typeface="Arial" panose="020B0604020202020204" pitchFamily="34" charset="0"/>
                <a:cs typeface="Arial" panose="020B0604020202020204" pitchFamily="34" charset="0"/>
              </a:rPr>
              <a:t>) où les données brutes des capteurs </a:t>
            </a:r>
            <a:r>
              <a:rPr lang="fr-FR" dirty="0" err="1">
                <a:latin typeface="Arial" panose="020B0604020202020204" pitchFamily="34" charset="0"/>
                <a:cs typeface="Arial" panose="020B0604020202020204" pitchFamily="34" charset="0"/>
              </a:rPr>
              <a:t>IoT</a:t>
            </a:r>
            <a:r>
              <a:rPr lang="fr-FR" dirty="0">
                <a:latin typeface="Arial" panose="020B0604020202020204" pitchFamily="34" charset="0"/>
                <a:cs typeface="Arial" panose="020B0604020202020204" pitchFamily="34" charset="0"/>
              </a:rPr>
              <a:t> sont déposées à un rythme élevé (fréquemment appelées landing zone).</a:t>
            </a:r>
          </a:p>
        </p:txBody>
      </p:sp>
    </p:spTree>
    <p:extLst>
      <p:ext uri="{BB962C8B-B14F-4D97-AF65-F5344CB8AC3E}">
        <p14:creationId xmlns:p14="http://schemas.microsoft.com/office/powerpoint/2010/main" val="37389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740307"/>
          </a:xfrm>
          <a:prstGeom prst="rect">
            <a:avLst/>
          </a:prstGeom>
        </p:spPr>
        <p:txBody>
          <a:bodyPr wrap="square">
            <a:spAutoFit/>
          </a:bodyPr>
          <a:lstStyle/>
          <a:p>
            <a:r>
              <a:rPr lang="fr-FR" dirty="0">
                <a:latin typeface="Arial" panose="020B0604020202020204" pitchFamily="34" charset="0"/>
                <a:cs typeface="Arial" panose="020B0604020202020204" pitchFamily="34" charset="0"/>
              </a:rPr>
              <a:t>2. Sécurité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Durabilité et Résilience : S3 est conçu pour une durabilité de 99.999999999% (onze neuf), ce qui assure que les 10 To de données critiques ne seront jamais perdues.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Chiffrement par Défaut : S3 applique le chiffrement au repos par défaut (avec des clés gérées par AWS S3 ou AWS KMS).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Gestion des Accès (IAM) : La sécurité est gérée par les politiques AWS IAM (</a:t>
            </a:r>
            <a:r>
              <a:rPr lang="fr-FR" dirty="0" err="1">
                <a:latin typeface="Arial" panose="020B0604020202020204" pitchFamily="34" charset="0"/>
                <a:cs typeface="Arial" panose="020B0604020202020204" pitchFamily="34" charset="0"/>
              </a:rPr>
              <a:t>Identity</a:t>
            </a:r>
            <a:r>
              <a:rPr lang="fr-FR" dirty="0">
                <a:latin typeface="Arial" panose="020B0604020202020204" pitchFamily="34" charset="0"/>
                <a:cs typeface="Arial" panose="020B0604020202020204" pitchFamily="34" charset="0"/>
              </a:rPr>
              <a:t> and Access Management) et les politiques de </a:t>
            </a:r>
            <a:r>
              <a:rPr lang="fr-FR" dirty="0" err="1">
                <a:latin typeface="Arial" panose="020B0604020202020204" pitchFamily="34" charset="0"/>
                <a:cs typeface="Arial" panose="020B0604020202020204" pitchFamily="34" charset="0"/>
              </a:rPr>
              <a:t>Bucket</a:t>
            </a:r>
            <a:r>
              <a:rPr lang="fr-FR" dirty="0">
                <a:latin typeface="Arial" panose="020B0604020202020204" pitchFamily="34" charset="0"/>
                <a:cs typeface="Arial" panose="020B0604020202020204" pitchFamily="34" charset="0"/>
              </a:rPr>
              <a:t>. En intégrant AWS </a:t>
            </a:r>
            <a:r>
              <a:rPr lang="fr-FR" dirty="0" err="1">
                <a:latin typeface="Arial" panose="020B0604020202020204" pitchFamily="34" charset="0"/>
                <a:cs typeface="Arial" panose="020B0604020202020204" pitchFamily="34" charset="0"/>
              </a:rPr>
              <a:t>Managed</a:t>
            </a:r>
            <a:r>
              <a:rPr lang="fr-FR" dirty="0">
                <a:latin typeface="Arial" panose="020B0604020202020204" pitchFamily="34" charset="0"/>
                <a:cs typeface="Arial" panose="020B0604020202020204" pitchFamily="34" charset="0"/>
              </a:rPr>
              <a:t> Microsoft AD, vous pouvez vous assurer que seuls les rôles d'utilisateurs autorisés par l'AD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peuvent accéder aux données stockées sur S3</a:t>
            </a:r>
            <a:r>
              <a:rPr lang="fr-FR" dirty="0" smtClean="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3. Interopérabilité avec </a:t>
            </a:r>
            <a:r>
              <a:rPr lang="fr-FR" dirty="0" err="1">
                <a:latin typeface="Arial" panose="020B0604020202020204" pitchFamily="34" charset="0"/>
                <a:cs typeface="Arial" panose="020B0604020202020204" pitchFamily="34" charset="0"/>
              </a:rPr>
              <a:t>Redpanda</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Intégration Naturelle du Streaming : S3 est la destination d'archivage la plus courante pour les systèmes basés sur Kafka/</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Connecteur S3 (</a:t>
            </a:r>
            <a:r>
              <a:rPr lang="fr-FR" dirty="0" err="1">
                <a:latin typeface="Arial" panose="020B0604020202020204" pitchFamily="34" charset="0"/>
                <a:cs typeface="Arial" panose="020B0604020202020204" pitchFamily="34" charset="0"/>
              </a:rPr>
              <a:t>Sink</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Connector</a:t>
            </a:r>
            <a:r>
              <a:rPr lang="fr-FR" dirty="0">
                <a:latin typeface="Arial" panose="020B0604020202020204" pitchFamily="34" charset="0"/>
                <a:cs typeface="Arial" panose="020B0604020202020204" pitchFamily="34" charset="0"/>
              </a:rPr>
              <a:t>) :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utilise des </a:t>
            </a:r>
            <a:r>
              <a:rPr lang="fr-FR" dirty="0" err="1">
                <a:latin typeface="Arial" panose="020B0604020202020204" pitchFamily="34" charset="0"/>
                <a:cs typeface="Arial" panose="020B0604020202020204" pitchFamily="34" charset="0"/>
              </a:rPr>
              <a:t>Sink</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Connectors</a:t>
            </a:r>
            <a:r>
              <a:rPr lang="fr-FR" dirty="0">
                <a:latin typeface="Arial" panose="020B0604020202020204" pitchFamily="34" charset="0"/>
                <a:cs typeface="Arial" panose="020B0604020202020204" pitchFamily="34" charset="0"/>
              </a:rPr>
              <a:t> (des extensions qui envoient les données) pour lire les flux continus (logs, </a:t>
            </a:r>
            <a:r>
              <a:rPr lang="fr-FR" dirty="0" err="1">
                <a:latin typeface="Arial" panose="020B0604020202020204" pitchFamily="34" charset="0"/>
                <a:cs typeface="Arial" panose="020B0604020202020204" pitchFamily="34" charset="0"/>
              </a:rPr>
              <a:t>IoT</a:t>
            </a:r>
            <a:r>
              <a:rPr lang="fr-FR" dirty="0">
                <a:latin typeface="Arial" panose="020B0604020202020204" pitchFamily="34" charset="0"/>
                <a:cs typeface="Arial" panose="020B0604020202020204" pitchFamily="34" charset="0"/>
              </a:rPr>
              <a:t> brutes) du topic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et les charger automatiquement dans un </a:t>
            </a:r>
            <a:r>
              <a:rPr lang="fr-FR" dirty="0" err="1">
                <a:latin typeface="Arial" panose="020B0604020202020204" pitchFamily="34" charset="0"/>
                <a:cs typeface="Arial" panose="020B0604020202020204" pitchFamily="34" charset="0"/>
              </a:rPr>
              <a:t>bucket</a:t>
            </a:r>
            <a:r>
              <a:rPr lang="fr-FR" dirty="0">
                <a:latin typeface="Arial" panose="020B0604020202020204" pitchFamily="34" charset="0"/>
                <a:cs typeface="Arial" panose="020B0604020202020204" pitchFamily="34" charset="0"/>
              </a:rPr>
              <a:t> S3, généralement après les avoir regroupées par lot de temps ou de taille. Cela permet un processus ETL (</a:t>
            </a:r>
            <a:r>
              <a:rPr lang="fr-FR" dirty="0" err="1">
                <a:latin typeface="Arial" panose="020B0604020202020204" pitchFamily="34" charset="0"/>
                <a:cs typeface="Arial" panose="020B0604020202020204" pitchFamily="34" charset="0"/>
              </a:rPr>
              <a:t>Extract</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Transform</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Load</a:t>
            </a:r>
            <a:r>
              <a:rPr lang="fr-FR" dirty="0">
                <a:latin typeface="Arial" panose="020B0604020202020204" pitchFamily="34" charset="0"/>
                <a:cs typeface="Arial" panose="020B0604020202020204" pitchFamily="34" charset="0"/>
              </a:rPr>
              <a:t>) simple pour archiver les données brutes dans le cloud pour une analyse offline ou rétrospective (le Data Lake).</a:t>
            </a:r>
          </a:p>
        </p:txBody>
      </p:sp>
    </p:spTree>
    <p:extLst>
      <p:ext uri="{BB962C8B-B14F-4D97-AF65-F5344CB8AC3E}">
        <p14:creationId xmlns:p14="http://schemas.microsoft.com/office/powerpoint/2010/main" val="422647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046988"/>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Sélectionnez un entrepôt de données cloud. Il permettra de centraliser les données analytiques et de supporter des requêtes SQL </a:t>
            </a:r>
            <a:r>
              <a:rPr lang="fr-FR" sz="2800" dirty="0" smtClean="0">
                <a:latin typeface="Arial" panose="020B0604020202020204" pitchFamily="34" charset="0"/>
                <a:cs typeface="Arial" panose="020B0604020202020204" pitchFamily="34" charset="0"/>
              </a:rPr>
              <a:t>complexes</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Service Sélectionné : AWS Redshift</a:t>
            </a:r>
          </a:p>
        </p:txBody>
      </p:sp>
    </p:spTree>
    <p:extLst>
      <p:ext uri="{BB962C8B-B14F-4D97-AF65-F5344CB8AC3E}">
        <p14:creationId xmlns:p14="http://schemas.microsoft.com/office/powerpoint/2010/main" val="2973948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6924973"/>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Expliquez comment synchroniser les bases SQL Server on-</a:t>
            </a:r>
            <a:r>
              <a:rPr lang="fr-FR" sz="2800" dirty="0" err="1">
                <a:latin typeface="Arial" panose="020B0604020202020204" pitchFamily="34" charset="0"/>
                <a:cs typeface="Arial" panose="020B0604020202020204" pitchFamily="34" charset="0"/>
              </a:rPr>
              <a:t>premise</a:t>
            </a:r>
            <a:r>
              <a:rPr lang="fr-FR" sz="2800" dirty="0">
                <a:latin typeface="Arial" panose="020B0604020202020204" pitchFamily="34" charset="0"/>
                <a:cs typeface="Arial" panose="020B0604020202020204" pitchFamily="34" charset="0"/>
              </a:rPr>
              <a:t> avec la solution cloud </a:t>
            </a:r>
            <a:r>
              <a:rPr lang="fr-FR" sz="2800" dirty="0" smtClean="0">
                <a:latin typeface="Arial" panose="020B0604020202020204" pitchFamily="34" charset="0"/>
                <a:cs typeface="Arial" panose="020B0604020202020204" pitchFamily="34" charset="0"/>
              </a:rPr>
              <a:t>choisie</a:t>
            </a:r>
          </a:p>
          <a:p>
            <a:endParaRPr lang="fr-FR" sz="2800"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1. Approche Batch/CDC (Change Data Capture) pour l'Historique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C'est la méthode privilégiée pour la migration initiale et la gestion des données historiques volumineuses.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Outil Principal : AWS Data Migration Service (DMS)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Mise en Place de la Connectivité Sécurisée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Un lien réseau sécurisé (VPN Site-to-Site ou AWS Direct </a:t>
            </a:r>
            <a:r>
              <a:rPr lang="fr-FR" dirty="0" err="1">
                <a:latin typeface="Arial" panose="020B0604020202020204" pitchFamily="34" charset="0"/>
                <a:cs typeface="Arial" panose="020B0604020202020204" pitchFamily="34" charset="0"/>
              </a:rPr>
              <a:t>Connect</a:t>
            </a:r>
            <a:r>
              <a:rPr lang="fr-FR" dirty="0">
                <a:latin typeface="Arial" panose="020B0604020202020204" pitchFamily="34" charset="0"/>
                <a:cs typeface="Arial" panose="020B0604020202020204" pitchFamily="34" charset="0"/>
              </a:rPr>
              <a:t>) doit exister entre le Datacenter </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et le Virtual </a:t>
            </a:r>
            <a:r>
              <a:rPr lang="fr-FR" dirty="0" err="1">
                <a:latin typeface="Arial" panose="020B0604020202020204" pitchFamily="34" charset="0"/>
                <a:cs typeface="Arial" panose="020B0604020202020204" pitchFamily="34" charset="0"/>
              </a:rPr>
              <a:t>Private</a:t>
            </a:r>
            <a:r>
              <a:rPr lang="fr-FR" dirty="0">
                <a:latin typeface="Arial" panose="020B0604020202020204" pitchFamily="34" charset="0"/>
                <a:cs typeface="Arial" panose="020B0604020202020204" pitchFamily="34" charset="0"/>
              </a:rPr>
              <a:t> Cloud (VPC) AWS.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Ceci permet au service DMS, hébergé dans AWS, d'accéder au cluster SQL Server dans l'environnement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08528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63308"/>
          </a:xfrm>
          <a:prstGeom prst="rect">
            <a:avLst/>
          </a:prstGeom>
        </p:spPr>
        <p:txBody>
          <a:bodyPr wrap="square">
            <a:spAutoFit/>
          </a:bodyPr>
          <a:lstStyle/>
          <a:p>
            <a:r>
              <a:rPr lang="fr-FR" dirty="0"/>
              <a:t> </a:t>
            </a:r>
            <a:r>
              <a:rPr lang="fr-FR" dirty="0" smtClean="0">
                <a:latin typeface="Arial" panose="020B0604020202020204" pitchFamily="34" charset="0"/>
                <a:cs typeface="Arial" panose="020B0604020202020204" pitchFamily="34" charset="0"/>
              </a:rPr>
              <a:t>2.Configuration </a:t>
            </a:r>
            <a:r>
              <a:rPr lang="fr-FR" dirty="0">
                <a:latin typeface="Arial" panose="020B0604020202020204" pitchFamily="34" charset="0"/>
                <a:cs typeface="Arial" panose="020B0604020202020204" pitchFamily="34" charset="0"/>
              </a:rPr>
              <a:t>du Moteur DMS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Source </a:t>
            </a:r>
            <a:r>
              <a:rPr lang="fr-FR" dirty="0" err="1">
                <a:latin typeface="Arial" panose="020B0604020202020204" pitchFamily="34" charset="0"/>
                <a:cs typeface="Arial" panose="020B0604020202020204" pitchFamily="34" charset="0"/>
              </a:rPr>
              <a:t>Endpoint</a:t>
            </a:r>
            <a:r>
              <a:rPr lang="fr-FR" dirty="0">
                <a:latin typeface="Arial" panose="020B0604020202020204" pitchFamily="34" charset="0"/>
                <a:cs typeface="Arial" panose="020B0604020202020204" pitchFamily="34" charset="0"/>
              </a:rPr>
              <a:t> : Configurez DMS pour pointer vers le cluster SQL Server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(via l'adresse IP privée accessible par le lien sécurisé).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Target </a:t>
            </a:r>
            <a:r>
              <a:rPr lang="fr-FR" dirty="0" err="1">
                <a:latin typeface="Arial" panose="020B0604020202020204" pitchFamily="34" charset="0"/>
                <a:cs typeface="Arial" panose="020B0604020202020204" pitchFamily="34" charset="0"/>
              </a:rPr>
              <a:t>Endpoint</a:t>
            </a:r>
            <a:r>
              <a:rPr lang="fr-FR" dirty="0">
                <a:latin typeface="Arial" panose="020B0604020202020204" pitchFamily="34" charset="0"/>
                <a:cs typeface="Arial" panose="020B0604020202020204" pitchFamily="34" charset="0"/>
              </a:rPr>
              <a:t> : Configurez DMS pour pointer vers l'instance AWS Redshift.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3.Phase </a:t>
            </a:r>
            <a:r>
              <a:rPr lang="fr-FR" dirty="0">
                <a:latin typeface="Arial" panose="020B0604020202020204" pitchFamily="34" charset="0"/>
                <a:cs typeface="Arial" panose="020B0604020202020204" pitchFamily="34" charset="0"/>
              </a:rPr>
              <a:t>de Migration (Full </a:t>
            </a:r>
            <a:r>
              <a:rPr lang="fr-FR" dirty="0" err="1">
                <a:latin typeface="Arial" panose="020B0604020202020204" pitchFamily="34" charset="0"/>
                <a:cs typeface="Arial" panose="020B0604020202020204" pitchFamily="34" charset="0"/>
              </a:rPr>
              <a:t>Load</a:t>
            </a:r>
            <a:r>
              <a:rPr lang="fr-FR" dirty="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DMS exécute une charge complète (Full </a:t>
            </a:r>
            <a:r>
              <a:rPr lang="fr-FR" dirty="0" err="1">
                <a:latin typeface="Arial" panose="020B0604020202020204" pitchFamily="34" charset="0"/>
                <a:cs typeface="Arial" panose="020B0604020202020204" pitchFamily="34" charset="0"/>
              </a:rPr>
              <a:t>Load</a:t>
            </a:r>
            <a:r>
              <a:rPr lang="fr-FR" dirty="0">
                <a:latin typeface="Arial" panose="020B0604020202020204" pitchFamily="34" charset="0"/>
                <a:cs typeface="Arial" panose="020B0604020202020204" pitchFamily="34" charset="0"/>
              </a:rPr>
              <a:t>) des 40 To de données SQL Server vers Redshift.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4.Phase </a:t>
            </a:r>
            <a:r>
              <a:rPr lang="fr-FR" dirty="0">
                <a:latin typeface="Arial" panose="020B0604020202020204" pitchFamily="34" charset="0"/>
                <a:cs typeface="Arial" panose="020B0604020202020204" pitchFamily="34" charset="0"/>
              </a:rPr>
              <a:t>de Synchronisation Continue (CDC)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Après la charge initiale, DMS active le Change Data Capture (CDC) en lisant les journaux de transactions (logs) du cluster SQL Server.</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Chaque insertion, mise à jour ou suppression dans les bases SQL Server est capturée et appliquée de manière transactionnelle à l'entrepôt Redshift, garantissant que Redshift reste synchronisé avec le SI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Avantage : DMS gère la complexité de la migration et de la transformation des schémas (SQL Server est transactionnel, Redshift est analytique).</a:t>
            </a:r>
          </a:p>
        </p:txBody>
      </p:sp>
    </p:spTree>
    <p:extLst>
      <p:ext uri="{BB962C8B-B14F-4D97-AF65-F5344CB8AC3E}">
        <p14:creationId xmlns:p14="http://schemas.microsoft.com/office/powerpoint/2010/main" val="17734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305211" cy="7017306"/>
          </a:xfrm>
          <a:prstGeom prst="rect">
            <a:avLst/>
          </a:prstGeom>
        </p:spPr>
        <p:txBody>
          <a:bodyPr wrap="square">
            <a:spAutoFit/>
          </a:bodyPr>
          <a:lstStyle/>
          <a:p>
            <a:r>
              <a:rPr lang="fr-FR" dirty="0">
                <a:latin typeface="Arial" panose="020B0604020202020204" pitchFamily="34" charset="0"/>
                <a:cs typeface="Arial" panose="020B0604020202020204" pitchFamily="34" charset="0"/>
              </a:rPr>
              <a:t>2. Approche Temps Réel (Streaming) avec </a:t>
            </a:r>
            <a:r>
              <a:rPr lang="fr-FR" dirty="0" err="1">
                <a:latin typeface="Arial" panose="020B0604020202020204" pitchFamily="34" charset="0"/>
                <a:cs typeface="Arial" panose="020B0604020202020204" pitchFamily="34" charset="0"/>
              </a:rPr>
              <a:t>Redpanda</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Cette approche est utilisée pour les données nécessitant une faible latence ou pour les architectures futures où les applications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publient directement dans le cloud.</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Outils :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et Kafka </a:t>
            </a:r>
            <a:r>
              <a:rPr lang="fr-FR" dirty="0" err="1">
                <a:latin typeface="Arial" panose="020B0604020202020204" pitchFamily="34" charset="0"/>
                <a:cs typeface="Arial" panose="020B0604020202020204" pitchFamily="34" charset="0"/>
              </a:rPr>
              <a:t>Connect</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Capture des Données (Source </a:t>
            </a:r>
            <a:r>
              <a:rPr lang="fr-FR" dirty="0" err="1">
                <a:latin typeface="Arial" panose="020B0604020202020204" pitchFamily="34" charset="0"/>
                <a:cs typeface="Arial" panose="020B0604020202020204" pitchFamily="34" charset="0"/>
              </a:rPr>
              <a:t>Connector</a:t>
            </a:r>
            <a:r>
              <a:rPr lang="fr-FR" dirty="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Un connecteur Source compatible </a:t>
            </a:r>
            <a:r>
              <a:rPr lang="fr-FR" dirty="0" err="1">
                <a:latin typeface="Arial" panose="020B0604020202020204" pitchFamily="34" charset="0"/>
                <a:cs typeface="Arial" panose="020B0604020202020204" pitchFamily="34" charset="0"/>
              </a:rPr>
              <a:t>Debezium</a:t>
            </a:r>
            <a:r>
              <a:rPr lang="fr-FR" dirty="0">
                <a:latin typeface="Arial" panose="020B0604020202020204" pitchFamily="34" charset="0"/>
                <a:cs typeface="Arial" panose="020B0604020202020204" pitchFamily="34" charset="0"/>
              </a:rPr>
              <a:t> (qui lit les logs de transactions d'une base de données) est déployé.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Ce connecteur se connecte au cluster SQL Server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(via le lien sécurisé) et capture tous les changements de données.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Streaming via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Les changements (événements) capturés sont publiés dans un topic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hébergé dans AWS.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sert ici de tampon élastique et de hub de distribution.</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Chargement dans Redshift (</a:t>
            </a:r>
            <a:r>
              <a:rPr lang="fr-FR" dirty="0" err="1">
                <a:latin typeface="Arial" panose="020B0604020202020204" pitchFamily="34" charset="0"/>
                <a:cs typeface="Arial" panose="020B0604020202020204" pitchFamily="34" charset="0"/>
              </a:rPr>
              <a:t>Sink</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Connector</a:t>
            </a:r>
            <a:r>
              <a:rPr lang="fr-FR" dirty="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Un connecteur </a:t>
            </a:r>
            <a:r>
              <a:rPr lang="fr-FR" dirty="0" err="1">
                <a:latin typeface="Arial" panose="020B0604020202020204" pitchFamily="34" charset="0"/>
                <a:cs typeface="Arial" panose="020B0604020202020204" pitchFamily="34" charset="0"/>
              </a:rPr>
              <a:t>Sink</a:t>
            </a:r>
            <a:r>
              <a:rPr lang="fr-FR" dirty="0">
                <a:latin typeface="Arial" panose="020B0604020202020204" pitchFamily="34" charset="0"/>
                <a:cs typeface="Arial" panose="020B0604020202020204" pitchFamily="34" charset="0"/>
              </a:rPr>
              <a:t> pour Redshift est configuré.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Il lit le topic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regroupe les événements en micro-lots, et les charge efficacement dans l'entrepôt Redshift.</a:t>
            </a:r>
          </a:p>
        </p:txBody>
      </p:sp>
    </p:spTree>
    <p:extLst>
      <p:ext uri="{BB962C8B-B14F-4D97-AF65-F5344CB8AC3E}">
        <p14:creationId xmlns:p14="http://schemas.microsoft.com/office/powerpoint/2010/main" val="1818202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23330"/>
          </a:xfrm>
          <a:prstGeom prst="rect">
            <a:avLst/>
          </a:prstGeom>
        </p:spPr>
        <p:txBody>
          <a:bodyPr wrap="square">
            <a:spAutoFit/>
          </a:bodyPr>
          <a:lstStyle/>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p:txBody>
      </p:sp>
      <p:sp>
        <p:nvSpPr>
          <p:cNvPr id="3" name="Rectangle 2"/>
          <p:cNvSpPr/>
          <p:nvPr/>
        </p:nvSpPr>
        <p:spPr>
          <a:xfrm>
            <a:off x="-91440" y="0"/>
            <a:ext cx="9235440" cy="1785104"/>
          </a:xfrm>
          <a:prstGeom prst="rect">
            <a:avLst/>
          </a:prstGeom>
        </p:spPr>
        <p:txBody>
          <a:bodyPr wrap="square">
            <a:spAutoFit/>
          </a:bodyPr>
          <a:lstStyle/>
          <a:p>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enregistre une augmentation de 50 Go de données </a:t>
            </a:r>
            <a:r>
              <a:rPr lang="fr-FR" dirty="0" err="1">
                <a:latin typeface="Arial" panose="020B0604020202020204" pitchFamily="34" charset="0"/>
                <a:cs typeface="Arial" panose="020B0604020202020204" pitchFamily="34" charset="0"/>
              </a:rPr>
              <a:t>IoT</a:t>
            </a:r>
            <a:r>
              <a:rPr lang="fr-FR" dirty="0">
                <a:latin typeface="Arial" panose="020B0604020202020204" pitchFamily="34" charset="0"/>
                <a:cs typeface="Arial" panose="020B0604020202020204" pitchFamily="34" charset="0"/>
              </a:rPr>
              <a:t> en temps réel nécessitant un traitement rapide et fiable.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sz="2800" dirty="0" smtClean="0">
                <a:latin typeface="Arial" panose="020B0604020202020204" pitchFamily="34" charset="0"/>
                <a:cs typeface="Arial" panose="020B0604020202020204" pitchFamily="34" charset="0"/>
              </a:rPr>
              <a:t>L'adoption </a:t>
            </a:r>
            <a:r>
              <a:rPr lang="fr-FR" sz="2800" dirty="0">
                <a:latin typeface="Arial" panose="020B0604020202020204" pitchFamily="34" charset="0"/>
                <a:cs typeface="Arial" panose="020B0604020202020204" pitchFamily="34" charset="0"/>
              </a:rPr>
              <a:t>de </a:t>
            </a:r>
            <a:r>
              <a:rPr lang="fr-FR" sz="2800" dirty="0" err="1">
                <a:latin typeface="Arial" panose="020B0604020202020204" pitchFamily="34" charset="0"/>
                <a:cs typeface="Arial" panose="020B0604020202020204" pitchFamily="34" charset="0"/>
              </a:rPr>
              <a:t>Redpanda</a:t>
            </a:r>
            <a:r>
              <a:rPr lang="fr-FR" sz="2800" dirty="0">
                <a:latin typeface="Arial" panose="020B0604020202020204" pitchFamily="34" charset="0"/>
                <a:cs typeface="Arial" panose="020B0604020202020204" pitchFamily="34" charset="0"/>
              </a:rPr>
              <a:t> est le choix stratégique parfait pour cette charge de travail</a:t>
            </a:r>
          </a:p>
        </p:txBody>
      </p:sp>
    </p:spTree>
    <p:extLst>
      <p:ext uri="{BB962C8B-B14F-4D97-AF65-F5344CB8AC3E}">
        <p14:creationId xmlns:p14="http://schemas.microsoft.com/office/powerpoint/2010/main" val="537675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199" cy="6801862"/>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Justification du Choix de </a:t>
            </a:r>
            <a:r>
              <a:rPr lang="fr-FR" sz="2800" dirty="0" err="1" smtClean="0">
                <a:latin typeface="Arial" panose="020B0604020202020204" pitchFamily="34" charset="0"/>
                <a:cs typeface="Arial" panose="020B0604020202020204" pitchFamily="34" charset="0"/>
              </a:rPr>
              <a:t>Redpanda</a:t>
            </a:r>
            <a:endParaRPr lang="fr-FR" sz="2800"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sz="2800" dirty="0">
                <a:latin typeface="Arial" panose="020B0604020202020204" pitchFamily="34" charset="0"/>
                <a:cs typeface="Arial" panose="020B0604020202020204" pitchFamily="34" charset="0"/>
              </a:rPr>
              <a:t>Simplicité d'Installation et </a:t>
            </a:r>
            <a:r>
              <a:rPr lang="fr-FR" sz="2800" dirty="0" smtClean="0">
                <a:latin typeface="Arial" panose="020B0604020202020204" pitchFamily="34" charset="0"/>
                <a:cs typeface="Arial" panose="020B0604020202020204" pitchFamily="34" charset="0"/>
              </a:rPr>
              <a:t>d'Opération</a:t>
            </a:r>
          </a:p>
          <a:p>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est un exécutable unique écrit en C++, facile à déployer sur des instances AWS EC2 (ou en tant que service managé). Il élimine les dépendances lourdes (comme la JVM et </a:t>
            </a:r>
            <a:r>
              <a:rPr lang="fr-FR" dirty="0" err="1">
                <a:latin typeface="Arial" panose="020B0604020202020204" pitchFamily="34" charset="0"/>
                <a:cs typeface="Arial" panose="020B0604020202020204" pitchFamily="34" charset="0"/>
              </a:rPr>
              <a:t>Zookeeper</a:t>
            </a:r>
            <a:r>
              <a:rPr lang="fr-FR" dirty="0">
                <a:latin typeface="Arial" panose="020B0604020202020204" pitchFamily="34" charset="0"/>
                <a:cs typeface="Arial" panose="020B0604020202020204" pitchFamily="34" charset="0"/>
              </a:rPr>
              <a:t>/Kraft requis par Kafka), ce qui réduit considérablement la complexité opérationnelle et les besoins en maintenance de l'équipe IT </a:t>
            </a:r>
            <a:r>
              <a:rPr lang="fr-FR" dirty="0" smtClean="0">
                <a:latin typeface="Arial" panose="020B0604020202020204" pitchFamily="34" charset="0"/>
                <a:cs typeface="Arial" panose="020B0604020202020204" pitchFamily="34" charset="0"/>
              </a:rPr>
              <a:t>d'</a:t>
            </a:r>
            <a:r>
              <a:rPr lang="fr-FR" dirty="0" err="1" smtClean="0">
                <a:latin typeface="Arial" panose="020B0604020202020204" pitchFamily="34" charset="0"/>
                <a:cs typeface="Arial" panose="020B0604020202020204" pitchFamily="34" charset="0"/>
              </a:rPr>
              <a:t>InduTechData</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sz="2800" dirty="0">
                <a:latin typeface="Arial" panose="020B0604020202020204" pitchFamily="34" charset="0"/>
                <a:cs typeface="Arial" panose="020B0604020202020204" pitchFamily="34" charset="0"/>
              </a:rPr>
              <a:t>Faible Consommation de </a:t>
            </a:r>
            <a:r>
              <a:rPr lang="fr-FR" sz="2800" dirty="0" smtClean="0">
                <a:latin typeface="Arial" panose="020B0604020202020204" pitchFamily="34" charset="0"/>
                <a:cs typeface="Arial" panose="020B0604020202020204" pitchFamily="34" charset="0"/>
              </a:rPr>
              <a:t>Ressources</a:t>
            </a:r>
          </a:p>
          <a:p>
            <a:r>
              <a:rPr lang="fr-FR" dirty="0">
                <a:latin typeface="Arial" panose="020B0604020202020204" pitchFamily="34" charset="0"/>
                <a:cs typeface="Arial" panose="020B0604020202020204" pitchFamily="34" charset="0"/>
              </a:rPr>
              <a:t>Grâce à son architecture performante,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est plus efficace que les brokers Kafka traditionnels. Cela se traduit par une faible consommation de CPU et de mémoire, permettant à </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d'obtenir d'excellentes performances de streaming avec des instances AWS EC2 plus petites, ce qui optimise les coûts d'infrastructure cloud</a:t>
            </a:r>
            <a:r>
              <a:rPr lang="fr-FR" dirty="0" smtClean="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sz="2800" dirty="0">
                <a:latin typeface="Arial" panose="020B0604020202020204" pitchFamily="34" charset="0"/>
                <a:cs typeface="Arial" panose="020B0604020202020204" pitchFamily="34" charset="0"/>
              </a:rPr>
              <a:t>Performances Optimales pour </a:t>
            </a:r>
            <a:r>
              <a:rPr lang="fr-FR" sz="2800" dirty="0" smtClean="0">
                <a:latin typeface="Arial" panose="020B0604020202020204" pitchFamily="34" charset="0"/>
                <a:cs typeface="Arial" panose="020B0604020202020204" pitchFamily="34" charset="0"/>
              </a:rPr>
              <a:t>l'</a:t>
            </a:r>
            <a:r>
              <a:rPr lang="fr-FR" sz="2800" dirty="0" err="1" smtClean="0">
                <a:latin typeface="Arial" panose="020B0604020202020204" pitchFamily="34" charset="0"/>
                <a:cs typeface="Arial" panose="020B0604020202020204" pitchFamily="34" charset="0"/>
              </a:rPr>
              <a:t>IoT</a:t>
            </a:r>
            <a:endParaRPr lang="fr-FR" sz="2800"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Sa conception est optimisée pour la faible latence et le débit élevé, des caractéristiques essentielles pour ingérer et traiter des flux continus de capteurs. Les données </a:t>
            </a:r>
            <a:r>
              <a:rPr lang="fr-FR" dirty="0" err="1">
                <a:latin typeface="Arial" panose="020B0604020202020204" pitchFamily="34" charset="0"/>
                <a:cs typeface="Arial" panose="020B0604020202020204" pitchFamily="34" charset="0"/>
              </a:rPr>
              <a:t>IoT</a:t>
            </a:r>
            <a:r>
              <a:rPr lang="fr-FR" dirty="0">
                <a:latin typeface="Arial" panose="020B0604020202020204" pitchFamily="34" charset="0"/>
                <a:cs typeface="Arial" panose="020B0604020202020204" pitchFamily="34" charset="0"/>
              </a:rPr>
              <a:t> sont traitées et acheminées vers S3 et Redshift avec un délai minimal.</a:t>
            </a:r>
          </a:p>
        </p:txBody>
      </p:sp>
    </p:spTree>
    <p:extLst>
      <p:ext uri="{BB962C8B-B14F-4D97-AF65-F5344CB8AC3E}">
        <p14:creationId xmlns:p14="http://schemas.microsoft.com/office/powerpoint/2010/main" val="2673004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189029" cy="2893100"/>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Compatibilité Kafka </a:t>
            </a:r>
            <a:r>
              <a:rPr lang="fr-FR" sz="2800" dirty="0" smtClean="0">
                <a:latin typeface="Arial" panose="020B0604020202020204" pitchFamily="34" charset="0"/>
                <a:cs typeface="Arial" panose="020B0604020202020204" pitchFamily="34" charset="0"/>
              </a:rPr>
              <a:t>Native</a:t>
            </a:r>
          </a:p>
          <a:p>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est compatible avec les API Kafka. Cela signifie que l'entreprise peut utiliser tous les outils et </a:t>
            </a:r>
            <a:r>
              <a:rPr lang="fr-FR" dirty="0" err="1">
                <a:latin typeface="Arial" panose="020B0604020202020204" pitchFamily="34" charset="0"/>
                <a:cs typeface="Arial" panose="020B0604020202020204" pitchFamily="34" charset="0"/>
              </a:rPr>
              <a:t>frameworks</a:t>
            </a:r>
            <a:r>
              <a:rPr lang="fr-FR" dirty="0">
                <a:latin typeface="Arial" panose="020B0604020202020204" pitchFamily="34" charset="0"/>
                <a:cs typeface="Arial" panose="020B0604020202020204" pitchFamily="34" charset="0"/>
              </a:rPr>
              <a:t> existants de l'écosystème (clients Python/Java, connecteurs </a:t>
            </a:r>
            <a:r>
              <a:rPr lang="fr-FR" dirty="0" err="1">
                <a:latin typeface="Arial" panose="020B0604020202020204" pitchFamily="34" charset="0"/>
                <a:cs typeface="Arial" panose="020B0604020202020204" pitchFamily="34" charset="0"/>
              </a:rPr>
              <a:t>Debezium</a:t>
            </a:r>
            <a:r>
              <a:rPr lang="fr-FR" dirty="0">
                <a:latin typeface="Arial" panose="020B0604020202020204" pitchFamily="34" charset="0"/>
                <a:cs typeface="Arial" panose="020B0604020202020204" pitchFamily="34" charset="0"/>
              </a:rPr>
              <a:t>, Kafka </a:t>
            </a:r>
            <a:r>
              <a:rPr lang="fr-FR" dirty="0" err="1">
                <a:latin typeface="Arial" panose="020B0604020202020204" pitchFamily="34" charset="0"/>
                <a:cs typeface="Arial" panose="020B0604020202020204" pitchFamily="34" charset="0"/>
              </a:rPr>
              <a:t>Connect</a:t>
            </a:r>
            <a:r>
              <a:rPr lang="fr-FR" dirty="0">
                <a:latin typeface="Arial" panose="020B0604020202020204" pitchFamily="34" charset="0"/>
                <a:cs typeface="Arial" panose="020B0604020202020204" pitchFamily="34" charset="0"/>
              </a:rPr>
              <a:t>, etc.) sans réécriture massive de code</a:t>
            </a:r>
            <a:r>
              <a:rPr lang="fr-FR" dirty="0" smtClean="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sz="2800" dirty="0">
                <a:latin typeface="Arial" panose="020B0604020202020204" pitchFamily="34" charset="0"/>
                <a:cs typeface="Arial" panose="020B0604020202020204" pitchFamily="34" charset="0"/>
              </a:rPr>
              <a:t>Fonctionnalités Intégrées (Connecteurs</a:t>
            </a:r>
            <a:r>
              <a:rPr lang="fr-FR" sz="2800" dirty="0" smtClean="0">
                <a:latin typeface="Arial" panose="020B0604020202020204" pitchFamily="34" charset="0"/>
                <a:cs typeface="Arial" panose="020B0604020202020204" pitchFamily="34" charset="0"/>
              </a:rPr>
              <a:t>)</a:t>
            </a:r>
          </a:p>
          <a:p>
            <a:r>
              <a:rPr lang="fr-FR" dirty="0">
                <a:latin typeface="Arial" panose="020B0604020202020204" pitchFamily="34" charset="0"/>
                <a:cs typeface="Arial" panose="020B0604020202020204" pitchFamily="34" charset="0"/>
              </a:rPr>
              <a:t>Les connecteurs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intégrés facilitent l'orchestration des flux de données. </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peut facilement configurer des </a:t>
            </a:r>
            <a:r>
              <a:rPr lang="fr-FR" dirty="0" err="1">
                <a:latin typeface="Arial" panose="020B0604020202020204" pitchFamily="34" charset="0"/>
                <a:cs typeface="Arial" panose="020B0604020202020204" pitchFamily="34" charset="0"/>
              </a:rPr>
              <a:t>Sinks</a:t>
            </a:r>
            <a:r>
              <a:rPr lang="fr-FR" dirty="0">
                <a:latin typeface="Arial" panose="020B0604020202020204" pitchFamily="34" charset="0"/>
                <a:cs typeface="Arial" panose="020B0604020202020204" pitchFamily="34" charset="0"/>
              </a:rPr>
              <a:t> pour archiver les données dans S3 et des </a:t>
            </a:r>
            <a:r>
              <a:rPr lang="fr-FR" dirty="0" err="1">
                <a:latin typeface="Arial" panose="020B0604020202020204" pitchFamily="34" charset="0"/>
                <a:cs typeface="Arial" panose="020B0604020202020204" pitchFamily="34" charset="0"/>
              </a:rPr>
              <a:t>Sinks</a:t>
            </a:r>
            <a:r>
              <a:rPr lang="fr-FR" dirty="0">
                <a:latin typeface="Arial" panose="020B0604020202020204" pitchFamily="34" charset="0"/>
                <a:cs typeface="Arial" panose="020B0604020202020204" pitchFamily="34" charset="0"/>
              </a:rPr>
              <a:t> pour charger les données traitées dans Redshift, simplifiant ainsi les pipelines ETL/ELT.</a:t>
            </a:r>
          </a:p>
        </p:txBody>
      </p:sp>
    </p:spTree>
    <p:extLst>
      <p:ext uri="{BB962C8B-B14F-4D97-AF65-F5344CB8AC3E}">
        <p14:creationId xmlns:p14="http://schemas.microsoft.com/office/powerpoint/2010/main" val="91413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1103429" cy="4955203"/>
          </a:xfrm>
          <a:prstGeom prst="rect">
            <a:avLst/>
          </a:prstGeom>
        </p:spPr>
        <p:txBody>
          <a:bodyPr wrap="square">
            <a:spAutoFit/>
          </a:bodyPr>
          <a:lstStyle/>
          <a:p>
            <a:r>
              <a:rPr lang="fr-FR" dirty="0"/>
              <a:t> </a:t>
            </a:r>
            <a:r>
              <a:rPr lang="fr-FR" sz="2800" dirty="0">
                <a:latin typeface="Arial" panose="020B0604020202020204" pitchFamily="34" charset="0"/>
                <a:cs typeface="Arial" panose="020B0604020202020204" pitchFamily="34" charset="0"/>
              </a:rPr>
              <a:t>Sécurisation et Gestion des Accès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La contrainte est de garantir une gestion unifiée des identités entre l'Active Directory (AD)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et le cloud AWS.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Service Proposé : AWS Directory Service (</a:t>
            </a:r>
            <a:r>
              <a:rPr lang="fr-FR" dirty="0" err="1">
                <a:latin typeface="Arial" panose="020B0604020202020204" pitchFamily="34" charset="0"/>
                <a:cs typeface="Arial" panose="020B0604020202020204" pitchFamily="34" charset="0"/>
              </a:rPr>
              <a:t>Managed</a:t>
            </a:r>
            <a:r>
              <a:rPr lang="fr-FR" dirty="0">
                <a:latin typeface="Arial" panose="020B0604020202020204" pitchFamily="34" charset="0"/>
                <a:cs typeface="Arial" panose="020B0604020202020204" pitchFamily="34" charset="0"/>
              </a:rPr>
              <a:t> Microsoft AD)</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AWS </a:t>
            </a:r>
            <a:r>
              <a:rPr lang="fr-FR" dirty="0" err="1">
                <a:latin typeface="Arial" panose="020B0604020202020204" pitchFamily="34" charset="0"/>
                <a:cs typeface="Arial" panose="020B0604020202020204" pitchFamily="34" charset="0"/>
              </a:rPr>
              <a:t>Managed</a:t>
            </a:r>
            <a:r>
              <a:rPr lang="fr-FR" dirty="0">
                <a:latin typeface="Arial" panose="020B0604020202020204" pitchFamily="34" charset="0"/>
                <a:cs typeface="Arial" panose="020B0604020202020204" pitchFamily="34" charset="0"/>
              </a:rPr>
              <a:t> Microsoft AD est la solution la plus directe pour étendre la gestion des identités au cloud AWS.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1) </a:t>
            </a:r>
            <a:r>
              <a:rPr lang="fr-FR" dirty="0">
                <a:latin typeface="Arial" panose="020B0604020202020204" pitchFamily="34" charset="0"/>
                <a:cs typeface="Arial" panose="020B0604020202020204" pitchFamily="34" charset="0"/>
              </a:rPr>
              <a:t>Relation d'Approbation (Trust Relationship)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Ce service permet de créer une relation d'approbation bidirectionnelle sécurisée entre le contrôleur de domaine Active Directory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d'</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et le domaine géré par AWS.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Cette relation d'approbation fait que les utilisateurs et les groupes créés dans l'AD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sont automatiquement reconnus dans le cloud AWS.</a:t>
            </a:r>
          </a:p>
        </p:txBody>
      </p:sp>
    </p:spTree>
    <p:extLst>
      <p:ext uri="{BB962C8B-B14F-4D97-AF65-F5344CB8AC3E}">
        <p14:creationId xmlns:p14="http://schemas.microsoft.com/office/powerpoint/2010/main" val="919678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653"/>
            <a:ext cx="11155680" cy="5078313"/>
          </a:xfrm>
          <a:prstGeom prst="rect">
            <a:avLst/>
          </a:prstGeom>
        </p:spPr>
        <p:txBody>
          <a:bodyPr wrap="square">
            <a:spAutoFit/>
          </a:bodyPr>
          <a:lstStyle/>
          <a:p>
            <a:r>
              <a:rPr lang="fr-FR" dirty="0"/>
              <a:t> </a:t>
            </a:r>
            <a:r>
              <a:rPr lang="fr-FR" dirty="0" smtClean="0"/>
              <a:t>2) </a:t>
            </a:r>
            <a:r>
              <a:rPr lang="fr-FR" dirty="0" smtClean="0">
                <a:latin typeface="Arial" panose="020B0604020202020204" pitchFamily="34" charset="0"/>
                <a:cs typeface="Arial" panose="020B0604020202020204" pitchFamily="34" charset="0"/>
              </a:rPr>
              <a:t>Gestion </a:t>
            </a:r>
            <a:r>
              <a:rPr lang="fr-FR" dirty="0">
                <a:latin typeface="Arial" panose="020B0604020202020204" pitchFamily="34" charset="0"/>
                <a:cs typeface="Arial" panose="020B0604020202020204" pitchFamily="34" charset="0"/>
              </a:rPr>
              <a:t>Unifiée des Identités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Authentification Unique (Single </a:t>
            </a:r>
            <a:r>
              <a:rPr lang="fr-FR" dirty="0" err="1">
                <a:latin typeface="Arial" panose="020B0604020202020204" pitchFamily="34" charset="0"/>
                <a:cs typeface="Arial" panose="020B0604020202020204" pitchFamily="34" charset="0"/>
              </a:rPr>
              <a:t>Sign</a:t>
            </a:r>
            <a:r>
              <a:rPr lang="fr-FR" dirty="0">
                <a:latin typeface="Arial" panose="020B0604020202020204" pitchFamily="34" charset="0"/>
                <a:cs typeface="Arial" panose="020B0604020202020204" pitchFamily="34" charset="0"/>
              </a:rPr>
              <a:t>-On - SSO) : Les employés d'</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utilisent leurs identifiants AD existants pour accéder à l'environnement AWS.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Contrôle des Permissions : L'équipe IT peut attribuer des rôles AWS IAM aux groupes AD (par exemple, le groupe "Analystes" dans l'AD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 est autorisé à lire le schéma Redshift dans le cloud).</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Sécurisation de l'Infrastructure Hybride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Accès aux Services : Les permissions d'accès aux topics </a:t>
            </a:r>
            <a:r>
              <a:rPr lang="fr-FR" dirty="0" err="1">
                <a:latin typeface="Arial" panose="020B0604020202020204" pitchFamily="34" charset="0"/>
                <a:cs typeface="Arial" panose="020B0604020202020204" pitchFamily="34" charset="0"/>
              </a:rPr>
              <a:t>Redpanda</a:t>
            </a:r>
            <a:r>
              <a:rPr lang="fr-FR" dirty="0">
                <a:latin typeface="Arial" panose="020B0604020202020204" pitchFamily="34" charset="0"/>
                <a:cs typeface="Arial" panose="020B0604020202020204" pitchFamily="34" charset="0"/>
              </a:rPr>
              <a:t>, aux </a:t>
            </a:r>
            <a:r>
              <a:rPr lang="fr-FR" dirty="0" err="1">
                <a:latin typeface="Arial" panose="020B0604020202020204" pitchFamily="34" charset="0"/>
                <a:cs typeface="Arial" panose="020B0604020202020204" pitchFamily="34" charset="0"/>
              </a:rPr>
              <a:t>buckets</a:t>
            </a:r>
            <a:r>
              <a:rPr lang="fr-FR" dirty="0">
                <a:latin typeface="Arial" panose="020B0604020202020204" pitchFamily="34" charset="0"/>
                <a:cs typeface="Arial" panose="020B0604020202020204" pitchFamily="34" charset="0"/>
              </a:rPr>
              <a:t> S3, et aux clusters Redshift sont centralisées et gérées par l'AD on-</a:t>
            </a:r>
            <a:r>
              <a:rPr lang="fr-FR" dirty="0" err="1">
                <a:latin typeface="Arial" panose="020B0604020202020204" pitchFamily="34" charset="0"/>
                <a:cs typeface="Arial" panose="020B0604020202020204" pitchFamily="34" charset="0"/>
              </a:rPr>
              <a:t>premise</a:t>
            </a:r>
            <a:r>
              <a:rPr lang="fr-FR" dirty="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Réseau : La connexion AD s'effectue via le lien sécurisé (VPN/Direct </a:t>
            </a:r>
            <a:r>
              <a:rPr lang="fr-FR" dirty="0" err="1">
                <a:latin typeface="Arial" panose="020B0604020202020204" pitchFamily="34" charset="0"/>
                <a:cs typeface="Arial" panose="020B0604020202020204" pitchFamily="34" charset="0"/>
              </a:rPr>
              <a:t>Connect</a:t>
            </a:r>
            <a:r>
              <a:rPr lang="fr-FR" dirty="0">
                <a:latin typeface="Arial" panose="020B0604020202020204" pitchFamily="34" charset="0"/>
                <a:cs typeface="Arial" panose="020B0604020202020204" pitchFamily="34" charset="0"/>
              </a:rPr>
              <a:t>) modélisé dans l'architecture hybride.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En utilisant AWS </a:t>
            </a:r>
            <a:r>
              <a:rPr lang="fr-FR" dirty="0" err="1">
                <a:latin typeface="Arial" panose="020B0604020202020204" pitchFamily="34" charset="0"/>
                <a:cs typeface="Arial" panose="020B0604020202020204" pitchFamily="34" charset="0"/>
              </a:rPr>
              <a:t>Managed</a:t>
            </a:r>
            <a:r>
              <a:rPr lang="fr-FR" dirty="0">
                <a:latin typeface="Arial" panose="020B0604020202020204" pitchFamily="34" charset="0"/>
                <a:cs typeface="Arial" panose="020B0604020202020204" pitchFamily="34" charset="0"/>
              </a:rPr>
              <a:t> Microsoft AD, </a:t>
            </a:r>
            <a:r>
              <a:rPr lang="fr-FR" dirty="0" err="1">
                <a:latin typeface="Arial" panose="020B0604020202020204" pitchFamily="34" charset="0"/>
                <a:cs typeface="Arial" panose="020B0604020202020204" pitchFamily="34" charset="0"/>
              </a:rPr>
              <a:t>InduTechData</a:t>
            </a:r>
            <a:r>
              <a:rPr lang="fr-FR" dirty="0">
                <a:latin typeface="Arial" panose="020B0604020202020204" pitchFamily="34" charset="0"/>
                <a:cs typeface="Arial" panose="020B0604020202020204" pitchFamily="34" charset="0"/>
              </a:rPr>
              <a:t> atteint son objectif de gestion unifiée, améliore la sécurité, et réduit la charge administrative de la gestion de deux systèmes d'identité séparés.</a:t>
            </a:r>
          </a:p>
        </p:txBody>
      </p:sp>
    </p:spTree>
    <p:extLst>
      <p:ext uri="{BB962C8B-B14F-4D97-AF65-F5344CB8AC3E}">
        <p14:creationId xmlns:p14="http://schemas.microsoft.com/office/powerpoint/2010/main" val="357292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460174" cy="6858000"/>
          </a:xfrm>
          <a:prstGeom prst="rect">
            <a:avLst/>
          </a:prstGeom>
        </p:spPr>
      </p:pic>
    </p:spTree>
    <p:extLst>
      <p:ext uri="{BB962C8B-B14F-4D97-AF65-F5344CB8AC3E}">
        <p14:creationId xmlns:p14="http://schemas.microsoft.com/office/powerpoint/2010/main" val="105325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2646"/>
            <a:ext cx="12192000" cy="5905354"/>
          </a:xfrm>
          <a:prstGeom prst="rect">
            <a:avLst/>
          </a:prstGeom>
        </p:spPr>
      </p:pic>
      <p:sp>
        <p:nvSpPr>
          <p:cNvPr id="3" name="Rectangle 2"/>
          <p:cNvSpPr/>
          <p:nvPr/>
        </p:nvSpPr>
        <p:spPr>
          <a:xfrm>
            <a:off x="1" y="0"/>
            <a:ext cx="7382570" cy="369332"/>
          </a:xfrm>
          <a:prstGeom prst="rect">
            <a:avLst/>
          </a:prstGeom>
        </p:spPr>
        <p:txBody>
          <a:bodyPr wrap="square">
            <a:spAutoFit/>
          </a:bodyPr>
          <a:lstStyle/>
          <a:p>
            <a:r>
              <a:rPr lang="fr-FR" dirty="0" smtClean="0"/>
              <a:t>Pour lancer </a:t>
            </a:r>
            <a:r>
              <a:rPr lang="fr-FR" dirty="0" err="1" smtClean="0"/>
              <a:t>Redpanda</a:t>
            </a:r>
            <a:r>
              <a:rPr lang="fr-FR" dirty="0" smtClean="0"/>
              <a:t> :http</a:t>
            </a:r>
            <a:r>
              <a:rPr lang="fr-FR" dirty="0"/>
              <a:t>://localhost:8090/</a:t>
            </a:r>
          </a:p>
        </p:txBody>
      </p:sp>
    </p:spTree>
    <p:extLst>
      <p:ext uri="{BB962C8B-B14F-4D97-AF65-F5344CB8AC3E}">
        <p14:creationId xmlns:p14="http://schemas.microsoft.com/office/powerpoint/2010/main" val="3117969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1508105"/>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Créez un topic nommé </a:t>
            </a:r>
            <a:r>
              <a:rPr lang="fr-FR" sz="2800" dirty="0" err="1">
                <a:latin typeface="Arial" panose="020B0604020202020204" pitchFamily="34" charset="0"/>
                <a:cs typeface="Arial" panose="020B0604020202020204" pitchFamily="34" charset="0"/>
              </a:rPr>
              <a:t>client_tickets</a:t>
            </a:r>
            <a:r>
              <a:rPr lang="fr-FR" sz="2800" dirty="0">
                <a:latin typeface="Arial" panose="020B0604020202020204" pitchFamily="34" charset="0"/>
                <a:cs typeface="Arial" panose="020B0604020202020204" pitchFamily="34" charset="0"/>
              </a:rPr>
              <a:t> dans </a:t>
            </a:r>
            <a:r>
              <a:rPr lang="fr-FR" sz="2800" dirty="0" err="1">
                <a:latin typeface="Arial" panose="020B0604020202020204" pitchFamily="34" charset="0"/>
                <a:cs typeface="Arial" panose="020B0604020202020204" pitchFamily="34" charset="0"/>
              </a:rPr>
              <a:t>Redpanda</a:t>
            </a:r>
            <a:r>
              <a:rPr lang="fr-FR" sz="2800" dirty="0">
                <a:latin typeface="Arial" panose="020B0604020202020204" pitchFamily="34" charset="0"/>
                <a:cs typeface="Arial" panose="020B0604020202020204" pitchFamily="34" charset="0"/>
              </a:rPr>
              <a:t> pour stocker les données de tickets</a:t>
            </a:r>
            <a:r>
              <a:rPr lang="fr-FR" sz="2800" dirty="0" smtClean="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Script : </a:t>
            </a:r>
            <a:r>
              <a:rPr lang="en-US" dirty="0" err="1">
                <a:latin typeface="Arial" panose="020B0604020202020204" pitchFamily="34" charset="0"/>
                <a:cs typeface="Arial" panose="020B0604020202020204" pitchFamily="34" charset="0"/>
              </a:rPr>
              <a:t>docker</a:t>
            </a:r>
            <a:r>
              <a:rPr lang="en-US" dirty="0">
                <a:latin typeface="Arial" panose="020B0604020202020204" pitchFamily="34" charset="0"/>
                <a:cs typeface="Arial" panose="020B0604020202020204" pitchFamily="34" charset="0"/>
              </a:rPr>
              <a:t> exec -it redpanda-0 </a:t>
            </a:r>
            <a:r>
              <a:rPr lang="en-US" dirty="0" err="1">
                <a:latin typeface="Arial" panose="020B0604020202020204" pitchFamily="34" charset="0"/>
                <a:cs typeface="Arial" panose="020B0604020202020204" pitchFamily="34" charset="0"/>
              </a:rPr>
              <a:t>rpk</a:t>
            </a:r>
            <a:r>
              <a:rPr lang="en-US" dirty="0">
                <a:latin typeface="Arial" panose="020B0604020202020204" pitchFamily="34" charset="0"/>
                <a:cs typeface="Arial" panose="020B0604020202020204" pitchFamily="34" charset="0"/>
              </a:rPr>
              <a:t> topic create </a:t>
            </a:r>
            <a:r>
              <a:rPr lang="en-US" dirty="0" err="1">
                <a:latin typeface="Arial" panose="020B0604020202020204" pitchFamily="34" charset="0"/>
                <a:cs typeface="Arial" panose="020B0604020202020204" pitchFamily="34" charset="0"/>
              </a:rPr>
              <a:t>client_tickets</a:t>
            </a:r>
            <a:endParaRPr lang="fr-FR" dirty="0">
              <a:latin typeface="Arial" panose="020B0604020202020204" pitchFamily="34" charset="0"/>
              <a:cs typeface="Arial" panose="020B0604020202020204" pitchFamily="34" charset="0"/>
            </a:endParaRPr>
          </a:p>
        </p:txBody>
      </p:sp>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27403"/>
            <a:ext cx="8011643" cy="4530597"/>
          </a:xfrm>
          <a:prstGeom prst="rect">
            <a:avLst/>
          </a:prstGeom>
        </p:spPr>
      </p:pic>
    </p:spTree>
    <p:extLst>
      <p:ext uri="{BB962C8B-B14F-4D97-AF65-F5344CB8AC3E}">
        <p14:creationId xmlns:p14="http://schemas.microsoft.com/office/powerpoint/2010/main" val="3160918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763159"/>
          </a:xfrm>
          <a:prstGeom prst="rect">
            <a:avLst/>
          </a:prstGeom>
        </p:spPr>
      </p:pic>
    </p:spTree>
    <p:extLst>
      <p:ext uri="{BB962C8B-B14F-4D97-AF65-F5344CB8AC3E}">
        <p14:creationId xmlns:p14="http://schemas.microsoft.com/office/powerpoint/2010/main" val="3673210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5386090"/>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Écrivez un script Python pour produire des données de tickets (aléatoires) dans le topic </a:t>
            </a:r>
            <a:r>
              <a:rPr lang="fr-FR" sz="2800" dirty="0" err="1" smtClean="0">
                <a:latin typeface="Arial" panose="020B0604020202020204" pitchFamily="34" charset="0"/>
                <a:cs typeface="Arial" panose="020B0604020202020204" pitchFamily="34" charset="0"/>
              </a:rPr>
              <a:t>client_tickets</a:t>
            </a:r>
            <a:endParaRPr lang="fr-FR" sz="2800"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1. Prérequis : Installer la Librairie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Assurez-vous d'abord d'avoir la librairie installée sur votre machine locale (si vous n'utilisez pas de conteneur Python) :</a:t>
            </a:r>
          </a:p>
          <a:p>
            <a:endParaRPr lang="fr-FR" dirty="0">
              <a:latin typeface="Arial" panose="020B0604020202020204" pitchFamily="34" charset="0"/>
              <a:cs typeface="Arial" panose="020B0604020202020204" pitchFamily="34" charset="0"/>
            </a:endParaRPr>
          </a:p>
          <a:p>
            <a:r>
              <a:rPr lang="fr-FR" dirty="0" err="1">
                <a:latin typeface="Arial" panose="020B0604020202020204" pitchFamily="34" charset="0"/>
                <a:cs typeface="Arial" panose="020B0604020202020204" pitchFamily="34" charset="0"/>
              </a:rPr>
              <a:t>pip</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install</a:t>
            </a:r>
            <a:r>
              <a:rPr lang="fr-FR" dirty="0">
                <a:latin typeface="Arial" panose="020B0604020202020204" pitchFamily="34" charset="0"/>
                <a:cs typeface="Arial" panose="020B0604020202020204" pitchFamily="34" charset="0"/>
              </a:rPr>
              <a:t> confluent-</a:t>
            </a:r>
            <a:r>
              <a:rPr lang="fr-FR" dirty="0" err="1">
                <a:latin typeface="Arial" panose="020B0604020202020204" pitchFamily="34" charset="0"/>
                <a:cs typeface="Arial" panose="020B0604020202020204" pitchFamily="34" charset="0"/>
              </a:rPr>
              <a:t>kafka</a:t>
            </a:r>
            <a:r>
              <a:rPr lang="fr-FR" dirty="0">
                <a:latin typeface="Arial" panose="020B0604020202020204" pitchFamily="34" charset="0"/>
                <a:cs typeface="Arial" panose="020B0604020202020204" pitchFamily="34" charset="0"/>
              </a:rPr>
              <a:t> </a:t>
            </a:r>
            <a:r>
              <a:rPr lang="fr-FR" dirty="0" err="1" smtClean="0">
                <a:latin typeface="Arial" panose="020B0604020202020204" pitchFamily="34" charset="0"/>
                <a:cs typeface="Arial" panose="020B0604020202020204" pitchFamily="34" charset="0"/>
              </a:rPr>
              <a:t>faker</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2. </a:t>
            </a:r>
            <a:r>
              <a:rPr lang="fr-FR" dirty="0">
                <a:latin typeface="Arial" panose="020B0604020202020204" pitchFamily="34" charset="0"/>
                <a:cs typeface="Arial" panose="020B0604020202020204" pitchFamily="34" charset="0"/>
              </a:rPr>
              <a:t>Exécution du Script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Dans votre terminal PowerShell, exécutez le script :</a:t>
            </a:r>
          </a:p>
          <a:p>
            <a:r>
              <a:rPr lang="fr-FR" dirty="0">
                <a:latin typeface="Arial" panose="020B0604020202020204" pitchFamily="34" charset="0"/>
                <a:cs typeface="Arial" panose="020B0604020202020204" pitchFamily="34" charset="0"/>
              </a:rPr>
              <a:t>PowerShell</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python ticket_producer.py</a:t>
            </a:r>
          </a:p>
        </p:txBody>
      </p:sp>
    </p:spTree>
    <p:extLst>
      <p:ext uri="{BB962C8B-B14F-4D97-AF65-F5344CB8AC3E}">
        <p14:creationId xmlns:p14="http://schemas.microsoft.com/office/powerpoint/2010/main" val="2401707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1487" cy="5264331"/>
          </a:xfrm>
          <a:prstGeom prst="rect">
            <a:avLst/>
          </a:prstGeom>
        </p:spPr>
      </p:pic>
    </p:spTree>
    <p:extLst>
      <p:ext uri="{BB962C8B-B14F-4D97-AF65-F5344CB8AC3E}">
        <p14:creationId xmlns:p14="http://schemas.microsoft.com/office/powerpoint/2010/main" val="592193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478433" cy="6609806"/>
          </a:xfrm>
          <a:prstGeom prst="rect">
            <a:avLst/>
          </a:prstGeom>
        </p:spPr>
      </p:pic>
    </p:spTree>
    <p:extLst>
      <p:ext uri="{BB962C8B-B14F-4D97-AF65-F5344CB8AC3E}">
        <p14:creationId xmlns:p14="http://schemas.microsoft.com/office/powerpoint/2010/main" val="1308507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8497486" cy="6688183"/>
          </a:xfrm>
          <a:prstGeom prst="rect">
            <a:avLst/>
          </a:prstGeom>
        </p:spPr>
      </p:pic>
    </p:spTree>
    <p:extLst>
      <p:ext uri="{BB962C8B-B14F-4D97-AF65-F5344CB8AC3E}">
        <p14:creationId xmlns:p14="http://schemas.microsoft.com/office/powerpoint/2010/main" val="67701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73644" cy="6648994"/>
          </a:xfrm>
          <a:prstGeom prst="rect">
            <a:avLst/>
          </a:prstGeom>
        </p:spPr>
      </p:pic>
    </p:spTree>
    <p:extLst>
      <p:ext uri="{BB962C8B-B14F-4D97-AF65-F5344CB8AC3E}">
        <p14:creationId xmlns:p14="http://schemas.microsoft.com/office/powerpoint/2010/main" val="350904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859486" cy="6361611"/>
          </a:xfrm>
          <a:prstGeom prst="rect">
            <a:avLst/>
          </a:prstGeom>
        </p:spPr>
      </p:pic>
    </p:spTree>
    <p:extLst>
      <p:ext uri="{BB962C8B-B14F-4D97-AF65-F5344CB8AC3E}">
        <p14:creationId xmlns:p14="http://schemas.microsoft.com/office/powerpoint/2010/main" val="1830321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00219"/>
          </a:xfrm>
          <a:prstGeom prst="rect">
            <a:avLst/>
          </a:prstGeom>
        </p:spPr>
        <p:txBody>
          <a:bodyPr wrap="square">
            <a:spAutoFit/>
          </a:bodyPr>
          <a:lstStyle/>
          <a:p>
            <a:r>
              <a:rPr lang="fr-FR" dirty="0">
                <a:latin typeface="Arial" panose="020B0604020202020204" pitchFamily="34" charset="0"/>
                <a:cs typeface="Arial" panose="020B0604020202020204" pitchFamily="34" charset="0"/>
              </a:rPr>
              <a:t>M</a:t>
            </a:r>
            <a:r>
              <a:rPr lang="fr-FR" dirty="0" smtClean="0">
                <a:latin typeface="Arial" panose="020B0604020202020204" pitchFamily="34" charset="0"/>
                <a:cs typeface="Arial" panose="020B0604020202020204" pitchFamily="34" charset="0"/>
              </a:rPr>
              <a:t>aintenant exécutons </a:t>
            </a:r>
            <a:r>
              <a:rPr lang="fr-FR" dirty="0">
                <a:latin typeface="Arial" panose="020B0604020202020204" pitchFamily="34" charset="0"/>
                <a:cs typeface="Arial" panose="020B0604020202020204" pitchFamily="34" charset="0"/>
              </a:rPr>
              <a:t>le script avec `</a:t>
            </a:r>
            <a:r>
              <a:rPr lang="fr-FR" sz="2800" dirty="0">
                <a:latin typeface="Arial" panose="020B0604020202020204" pitchFamily="34" charset="0"/>
                <a:cs typeface="Arial" panose="020B0604020202020204" pitchFamily="34" charset="0"/>
              </a:rPr>
              <a:t>python ticket_producer.py</a:t>
            </a:r>
            <a:r>
              <a:rPr lang="fr-FR" dirty="0">
                <a:latin typeface="Arial" panose="020B0604020202020204" pitchFamily="34" charset="0"/>
                <a:cs typeface="Arial" panose="020B0604020202020204" pitchFamily="34" charset="0"/>
              </a:rPr>
              <a:t>` et le laisser tourner pour générer un flux de données</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3928"/>
            <a:ext cx="12192000" cy="5904072"/>
          </a:xfrm>
          <a:prstGeom prst="rect">
            <a:avLst/>
          </a:prstGeom>
        </p:spPr>
      </p:pic>
    </p:spTree>
    <p:extLst>
      <p:ext uri="{BB962C8B-B14F-4D97-AF65-F5344CB8AC3E}">
        <p14:creationId xmlns:p14="http://schemas.microsoft.com/office/powerpoint/2010/main" val="789534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838552"/>
          </a:xfrm>
          <a:prstGeom prst="rect">
            <a:avLst/>
          </a:prstGeom>
        </p:spPr>
      </p:pic>
    </p:spTree>
    <p:extLst>
      <p:ext uri="{BB962C8B-B14F-4D97-AF65-F5344CB8AC3E}">
        <p14:creationId xmlns:p14="http://schemas.microsoft.com/office/powerpoint/2010/main" val="2814480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
            <a:ext cx="9144000" cy="3108543"/>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Écrivez un script </a:t>
            </a:r>
            <a:r>
              <a:rPr lang="fr-FR" sz="2800" dirty="0" err="1">
                <a:latin typeface="Arial" panose="020B0604020202020204" pitchFamily="34" charset="0"/>
                <a:cs typeface="Arial" panose="020B0604020202020204" pitchFamily="34" charset="0"/>
              </a:rPr>
              <a:t>PySpark</a:t>
            </a:r>
            <a:r>
              <a:rPr lang="fr-FR" sz="2800" dirty="0">
                <a:latin typeface="Arial" panose="020B0604020202020204" pitchFamily="34" charset="0"/>
                <a:cs typeface="Arial" panose="020B0604020202020204" pitchFamily="34" charset="0"/>
              </a:rPr>
              <a:t> pour lire les données du topic </a:t>
            </a:r>
            <a:r>
              <a:rPr lang="fr-FR" sz="2800" dirty="0" err="1">
                <a:latin typeface="Arial" panose="020B0604020202020204" pitchFamily="34" charset="0"/>
                <a:cs typeface="Arial" panose="020B0604020202020204" pitchFamily="34" charset="0"/>
              </a:rPr>
              <a:t>client_tickets</a:t>
            </a:r>
            <a:r>
              <a:rPr lang="fr-FR" sz="2800" dirty="0">
                <a:latin typeface="Arial" panose="020B0604020202020204" pitchFamily="34" charset="0"/>
                <a:cs typeface="Arial" panose="020B0604020202020204" pitchFamily="34" charset="0"/>
              </a:rPr>
              <a:t> et les </a:t>
            </a:r>
            <a:r>
              <a:rPr lang="fr-FR" sz="2800" dirty="0" smtClean="0">
                <a:latin typeface="Arial" panose="020B0604020202020204" pitchFamily="34" charset="0"/>
                <a:cs typeface="Arial" panose="020B0604020202020204" pitchFamily="34" charset="0"/>
              </a:rPr>
              <a:t>traiter</a:t>
            </a:r>
          </a:p>
          <a:p>
            <a:endParaRPr lang="fr-FR" sz="2800" dirty="0">
              <a:latin typeface="Arial" panose="020B0604020202020204" pitchFamily="34" charset="0"/>
              <a:cs typeface="Arial" panose="020B0604020202020204" pitchFamily="34" charset="0"/>
            </a:endParaRPr>
          </a:p>
          <a:p>
            <a:endParaRPr lang="fr-FR" sz="2800" dirty="0" smtClean="0">
              <a:latin typeface="Arial" panose="020B0604020202020204" pitchFamily="34" charset="0"/>
              <a:cs typeface="Arial" panose="020B0604020202020204" pitchFamily="34" charset="0"/>
            </a:endParaRPr>
          </a:p>
          <a:p>
            <a:r>
              <a:rPr lang="fr-FR" sz="2800" dirty="0">
                <a:latin typeface="Arial" panose="020B0604020202020204" pitchFamily="34" charset="0"/>
                <a:cs typeface="Arial" panose="020B0604020202020204" pitchFamily="34" charset="0"/>
              </a:rPr>
              <a:t>Voici le script streaming_processor.py qui lit les données, effectue les transformations demandées, et affiche les résultats en continu :</a:t>
            </a:r>
          </a:p>
        </p:txBody>
      </p:sp>
    </p:spTree>
    <p:extLst>
      <p:ext uri="{BB962C8B-B14F-4D97-AF65-F5344CB8AC3E}">
        <p14:creationId xmlns:p14="http://schemas.microsoft.com/office/powerpoint/2010/main" val="1048022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379131" cy="6766560"/>
          </a:xfrm>
          <a:prstGeom prst="rect">
            <a:avLst/>
          </a:prstGeom>
        </p:spPr>
      </p:pic>
    </p:spTree>
    <p:extLst>
      <p:ext uri="{BB962C8B-B14F-4D97-AF65-F5344CB8AC3E}">
        <p14:creationId xmlns:p14="http://schemas.microsoft.com/office/powerpoint/2010/main" val="21331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731829" cy="6688183"/>
          </a:xfrm>
          <a:prstGeom prst="rect">
            <a:avLst/>
          </a:prstGeom>
        </p:spPr>
      </p:pic>
    </p:spTree>
    <p:extLst>
      <p:ext uri="{BB962C8B-B14F-4D97-AF65-F5344CB8AC3E}">
        <p14:creationId xmlns:p14="http://schemas.microsoft.com/office/powerpoint/2010/main" val="2399476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692640" cy="6714309"/>
          </a:xfrm>
          <a:prstGeom prst="rect">
            <a:avLst/>
          </a:prstGeom>
        </p:spPr>
      </p:pic>
    </p:spTree>
    <p:extLst>
      <p:ext uri="{BB962C8B-B14F-4D97-AF65-F5344CB8AC3E}">
        <p14:creationId xmlns:p14="http://schemas.microsoft.com/office/powerpoint/2010/main" val="2708282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3693319"/>
          </a:xfrm>
          <a:prstGeom prst="rect">
            <a:avLst/>
          </a:prstGeom>
        </p:spPr>
        <p:txBody>
          <a:bodyPr wrap="square">
            <a:spAutoFit/>
          </a:bodyPr>
          <a:lstStyle/>
          <a:p>
            <a:r>
              <a:rPr lang="fr-FR" dirty="0">
                <a:latin typeface="Arial" panose="020B0604020202020204" pitchFamily="34" charset="0"/>
                <a:cs typeface="Arial" panose="020B0604020202020204" pitchFamily="34" charset="0"/>
              </a:rPr>
              <a:t>Prochaines </a:t>
            </a:r>
            <a:r>
              <a:rPr lang="fr-FR" dirty="0" smtClean="0">
                <a:latin typeface="Arial" panose="020B0604020202020204" pitchFamily="34" charset="0"/>
                <a:cs typeface="Arial" panose="020B0604020202020204" pitchFamily="34" charset="0"/>
              </a:rPr>
              <a:t>Étapes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Fenêtre 1  </a:t>
            </a:r>
            <a:r>
              <a:rPr lang="fr-FR" dirty="0" err="1" smtClean="0">
                <a:latin typeface="Arial" panose="020B0604020202020204" pitchFamily="34" charset="0"/>
                <a:cs typeface="Arial" panose="020B0604020202020204" pitchFamily="34" charset="0"/>
              </a:rPr>
              <a:t>Verifier</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que le </a:t>
            </a:r>
            <a:r>
              <a:rPr lang="fr-FR" dirty="0" smtClean="0">
                <a:latin typeface="Arial" panose="020B0604020202020204" pitchFamily="34" charset="0"/>
                <a:cs typeface="Arial" panose="020B0604020202020204" pitchFamily="34" charset="0"/>
              </a:rPr>
              <a:t>Producteur tourne </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python </a:t>
            </a:r>
            <a:r>
              <a:rPr lang="fr-FR" dirty="0" smtClean="0">
                <a:latin typeface="Arial" panose="020B0604020202020204" pitchFamily="34" charset="0"/>
                <a:cs typeface="Arial" panose="020B0604020202020204" pitchFamily="34" charset="0"/>
              </a:rPr>
              <a:t>ticket_producer.py</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Fenêtre 2 (</a:t>
            </a:r>
            <a:r>
              <a:rPr lang="fr-FR" dirty="0" err="1">
                <a:latin typeface="Arial" panose="020B0604020202020204" pitchFamily="34" charset="0"/>
                <a:cs typeface="Arial" panose="020B0604020202020204" pitchFamily="34" charset="0"/>
              </a:rPr>
              <a:t>PySpark</a:t>
            </a:r>
            <a:r>
              <a:rPr lang="fr-FR" dirty="0">
                <a:latin typeface="Arial" panose="020B0604020202020204" pitchFamily="34" charset="0"/>
                <a:cs typeface="Arial" panose="020B0604020202020204" pitchFamily="34" charset="0"/>
              </a:rPr>
              <a:t>) : Lancez la commande corrigée pour le chemin /</a:t>
            </a:r>
            <a:r>
              <a:rPr lang="fr-FR" dirty="0" err="1" smtClean="0">
                <a:latin typeface="Arial" panose="020B0604020202020204" pitchFamily="34" charset="0"/>
                <a:cs typeface="Arial" panose="020B0604020202020204" pitchFamily="34" charset="0"/>
              </a:rPr>
              <a:t>spark</a:t>
            </a:r>
            <a:r>
              <a:rPr lang="fr-FR" dirty="0" smtClean="0">
                <a:latin typeface="Arial" panose="020B0604020202020204" pitchFamily="34" charset="0"/>
                <a:cs typeface="Arial" panose="020B0604020202020204" pitchFamily="34" charset="0"/>
              </a:rPr>
              <a:t>/bin/</a:t>
            </a:r>
            <a:r>
              <a:rPr lang="fr-FR" dirty="0" err="1" smtClean="0">
                <a:latin typeface="Arial" panose="020B0604020202020204" pitchFamily="34" charset="0"/>
                <a:cs typeface="Arial" panose="020B0604020202020204" pitchFamily="34" charset="0"/>
              </a:rPr>
              <a:t>spark-submit</a:t>
            </a:r>
            <a:r>
              <a:rPr lang="fr-FR" dirty="0" smtClean="0">
                <a:latin typeface="Arial" panose="020B0604020202020204" pitchFamily="34" charset="0"/>
                <a:cs typeface="Arial" panose="020B0604020202020204" pitchFamily="34" charset="0"/>
              </a:rPr>
              <a:t> :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docker </a:t>
            </a:r>
            <a:r>
              <a:rPr lang="fr-FR" dirty="0" err="1">
                <a:latin typeface="Arial" panose="020B0604020202020204" pitchFamily="34" charset="0"/>
                <a:cs typeface="Arial" panose="020B0604020202020204" pitchFamily="34" charset="0"/>
              </a:rPr>
              <a:t>exec</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it</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spark</a:t>
            </a:r>
            <a:r>
              <a:rPr lang="fr-FR" dirty="0">
                <a:latin typeface="Arial" panose="020B0604020202020204" pitchFamily="34" charset="0"/>
                <a:cs typeface="Arial" panose="020B0604020202020204" pitchFamily="34" charset="0"/>
              </a:rPr>
              <a:t>-master /</a:t>
            </a:r>
            <a:r>
              <a:rPr lang="fr-FR" dirty="0" err="1">
                <a:latin typeface="Arial" panose="020B0604020202020204" pitchFamily="34" charset="0"/>
                <a:cs typeface="Arial" panose="020B0604020202020204" pitchFamily="34" charset="0"/>
              </a:rPr>
              <a:t>spark</a:t>
            </a:r>
            <a:r>
              <a:rPr lang="fr-FR" dirty="0">
                <a:latin typeface="Arial" panose="020B0604020202020204" pitchFamily="34" charset="0"/>
                <a:cs typeface="Arial" panose="020B0604020202020204" pitchFamily="34" charset="0"/>
              </a:rPr>
              <a:t>/bin/</a:t>
            </a:r>
            <a:r>
              <a:rPr lang="fr-FR" dirty="0" err="1">
                <a:latin typeface="Arial" panose="020B0604020202020204" pitchFamily="34" charset="0"/>
                <a:cs typeface="Arial" panose="020B0604020202020204" pitchFamily="34" charset="0"/>
              </a:rPr>
              <a:t>spark-submit</a:t>
            </a:r>
            <a:r>
              <a:rPr lang="fr-FR" dirty="0">
                <a:latin typeface="Arial" panose="020B0604020202020204" pitchFamily="34" charset="0"/>
                <a:cs typeface="Arial" panose="020B0604020202020204" pitchFamily="34" charset="0"/>
              </a:rPr>
              <a:t> --packages org.apache.spark:spark-sql-kafka-0-10_2.12:3.3.0 /app/streaming_processor.py</a:t>
            </a:r>
          </a:p>
        </p:txBody>
      </p:sp>
    </p:spTree>
    <p:extLst>
      <p:ext uri="{BB962C8B-B14F-4D97-AF65-F5344CB8AC3E}">
        <p14:creationId xmlns:p14="http://schemas.microsoft.com/office/powerpoint/2010/main" val="2922503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59880"/>
          </a:xfrm>
          <a:prstGeom prst="rect">
            <a:avLst/>
          </a:prstGeom>
        </p:spPr>
      </p:pic>
    </p:spTree>
    <p:extLst>
      <p:ext uri="{BB962C8B-B14F-4D97-AF65-F5344CB8AC3E}">
        <p14:creationId xmlns:p14="http://schemas.microsoft.com/office/powerpoint/2010/main" val="4130548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677656"/>
          </a:xfrm>
          <a:prstGeom prst="rect">
            <a:avLst/>
          </a:prstGeom>
        </p:spPr>
        <p:txBody>
          <a:bodyPr wrap="square">
            <a:spAutoFit/>
          </a:bodyPr>
          <a:lstStyle/>
          <a:p>
            <a:pPr algn="just"/>
            <a:r>
              <a:rPr lang="fr-FR" sz="2800" dirty="0" smtClean="0">
                <a:latin typeface="Arial" panose="020B0604020202020204" pitchFamily="34" charset="0"/>
                <a:cs typeface="Arial" panose="020B0604020202020204" pitchFamily="34" charset="0"/>
              </a:rPr>
              <a:t>Transformation </a:t>
            </a:r>
            <a:r>
              <a:rPr lang="fr-FR" sz="2800" dirty="0">
                <a:latin typeface="Arial" panose="020B0604020202020204" pitchFamily="34" charset="0"/>
                <a:cs typeface="Arial" panose="020B0604020202020204" pitchFamily="34" charset="0"/>
              </a:rPr>
              <a:t>et analyse des données</a:t>
            </a:r>
          </a:p>
          <a:p>
            <a:pPr algn="just"/>
            <a:r>
              <a:rPr lang="fr-FR" sz="2800" dirty="0">
                <a:latin typeface="Arial" panose="020B0604020202020204" pitchFamily="34" charset="0"/>
                <a:cs typeface="Arial" panose="020B0604020202020204" pitchFamily="34" charset="0"/>
              </a:rPr>
              <a:t>        Ajoutez des transformations et des agrégations pour générer des insights. </a:t>
            </a:r>
          </a:p>
          <a:p>
            <a:pPr algn="just"/>
            <a:r>
              <a:rPr lang="fr-FR" sz="2800" dirty="0">
                <a:latin typeface="Arial" panose="020B0604020202020204" pitchFamily="34" charset="0"/>
                <a:cs typeface="Arial" panose="020B0604020202020204" pitchFamily="34" charset="0"/>
              </a:rPr>
              <a:t>            Ex: ajoutez automatiquement le nom d’une équipe de support assignée en fonction du type de demande, ou calculez le nombre de tickets par type. </a:t>
            </a:r>
          </a:p>
        </p:txBody>
      </p:sp>
    </p:spTree>
    <p:extLst>
      <p:ext uri="{BB962C8B-B14F-4D97-AF65-F5344CB8AC3E}">
        <p14:creationId xmlns:p14="http://schemas.microsoft.com/office/powerpoint/2010/main" val="1476847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247317"/>
          </a:xfrm>
          <a:prstGeom prst="rect">
            <a:avLst/>
          </a:prstGeom>
        </p:spPr>
        <p:txBody>
          <a:bodyPr wrap="square">
            <a:spAutoFit/>
          </a:bodyPr>
          <a:lstStyle/>
          <a:p>
            <a:r>
              <a:rPr lang="fr-FR" dirty="0" smtClean="0">
                <a:latin typeface="Arial" panose="020B0604020202020204" pitchFamily="34" charset="0"/>
                <a:cs typeface="Arial" panose="020B0604020202020204" pitchFamily="34" charset="0"/>
              </a:rPr>
              <a:t>On construit d’abord  l’image via : docker </a:t>
            </a:r>
            <a:r>
              <a:rPr lang="fr-FR" dirty="0">
                <a:latin typeface="Arial" panose="020B0604020202020204" pitchFamily="34" charset="0"/>
                <a:cs typeface="Arial" panose="020B0604020202020204" pitchFamily="34" charset="0"/>
              </a:rPr>
              <a:t>compose up </a:t>
            </a:r>
            <a:r>
              <a:rPr lang="fr-FR" dirty="0" smtClean="0">
                <a:latin typeface="Arial" panose="020B0604020202020204" pitchFamily="34" charset="0"/>
                <a:cs typeface="Arial" panose="020B0604020202020204" pitchFamily="34" charset="0"/>
              </a:rPr>
              <a:t>–d</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Dans la Fenêtre 1 lancez-le script et laisser tourner:</a:t>
            </a: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python </a:t>
            </a:r>
            <a:r>
              <a:rPr lang="fr-FR" dirty="0" smtClean="0">
                <a:latin typeface="Arial" panose="020B0604020202020204" pitchFamily="34" charset="0"/>
                <a:cs typeface="Arial" panose="020B0604020202020204" pitchFamily="34" charset="0"/>
              </a:rPr>
              <a:t>ticket_producer.py</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Dans la fenêtre 2 lancez  </a:t>
            </a:r>
            <a:r>
              <a:rPr lang="fr-FR" dirty="0">
                <a:latin typeface="Arial" panose="020B0604020202020204" pitchFamily="34" charset="0"/>
                <a:cs typeface="Arial" panose="020B0604020202020204" pitchFamily="34" charset="0"/>
              </a:rPr>
              <a:t>le script </a:t>
            </a:r>
            <a:r>
              <a:rPr lang="fr-FR" dirty="0" err="1" smtClean="0">
                <a:latin typeface="Arial" panose="020B0604020202020204" pitchFamily="34" charset="0"/>
                <a:cs typeface="Arial" panose="020B0604020202020204" pitchFamily="34" charset="0"/>
              </a:rPr>
              <a:t>PySpark</a:t>
            </a:r>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docker </a:t>
            </a:r>
            <a:r>
              <a:rPr lang="fr-FR" dirty="0" err="1">
                <a:latin typeface="Arial" panose="020B0604020202020204" pitchFamily="34" charset="0"/>
                <a:cs typeface="Arial" panose="020B0604020202020204" pitchFamily="34" charset="0"/>
              </a:rPr>
              <a:t>exec</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it</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spark</a:t>
            </a:r>
            <a:r>
              <a:rPr lang="fr-FR" dirty="0">
                <a:latin typeface="Arial" panose="020B0604020202020204" pitchFamily="34" charset="0"/>
                <a:cs typeface="Arial" panose="020B0604020202020204" pitchFamily="34" charset="0"/>
              </a:rPr>
              <a:t>-master /</a:t>
            </a:r>
            <a:r>
              <a:rPr lang="fr-FR" dirty="0" err="1">
                <a:latin typeface="Arial" panose="020B0604020202020204" pitchFamily="34" charset="0"/>
                <a:cs typeface="Arial" panose="020B0604020202020204" pitchFamily="34" charset="0"/>
              </a:rPr>
              <a:t>spark</a:t>
            </a:r>
            <a:r>
              <a:rPr lang="fr-FR" dirty="0">
                <a:latin typeface="Arial" panose="020B0604020202020204" pitchFamily="34" charset="0"/>
                <a:cs typeface="Arial" panose="020B0604020202020204" pitchFamily="34" charset="0"/>
              </a:rPr>
              <a:t>/bin/</a:t>
            </a:r>
            <a:r>
              <a:rPr lang="fr-FR" dirty="0" err="1">
                <a:latin typeface="Arial" panose="020B0604020202020204" pitchFamily="34" charset="0"/>
                <a:cs typeface="Arial" panose="020B0604020202020204" pitchFamily="34" charset="0"/>
              </a:rPr>
              <a:t>spark-submit</a:t>
            </a:r>
            <a:r>
              <a:rPr lang="fr-FR" dirty="0">
                <a:latin typeface="Arial" panose="020B0604020202020204" pitchFamily="34" charset="0"/>
                <a:cs typeface="Arial" panose="020B0604020202020204" pitchFamily="34" charset="0"/>
              </a:rPr>
              <a:t> --packages org.apache.spark:spark-sql-kafka-0-10_2.12:3.3.0 /</a:t>
            </a:r>
            <a:r>
              <a:rPr lang="fr-FR" dirty="0" smtClean="0">
                <a:latin typeface="Arial" panose="020B0604020202020204" pitchFamily="34" charset="0"/>
                <a:cs typeface="Arial" panose="020B0604020202020204" pitchFamily="34" charset="0"/>
              </a:rPr>
              <a:t>app/streaming_processor.py</a:t>
            </a: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On va voir </a:t>
            </a:r>
            <a:r>
              <a:rPr lang="fr-FR" dirty="0">
                <a:latin typeface="Arial" panose="020B0604020202020204" pitchFamily="34" charset="0"/>
                <a:cs typeface="Arial" panose="020B0604020202020204" pitchFamily="34" charset="0"/>
              </a:rPr>
              <a:t>les tableaux se remplir avec les agrégations par équipe de support</a:t>
            </a:r>
          </a:p>
        </p:txBody>
      </p:sp>
    </p:spTree>
    <p:extLst>
      <p:ext uri="{BB962C8B-B14F-4D97-AF65-F5344CB8AC3E}">
        <p14:creationId xmlns:p14="http://schemas.microsoft.com/office/powerpoint/2010/main" val="1525373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353006" cy="6701246"/>
          </a:xfrm>
          <a:prstGeom prst="rect">
            <a:avLst/>
          </a:prstGeom>
        </p:spPr>
      </p:pic>
    </p:spTree>
    <p:extLst>
      <p:ext uri="{BB962C8B-B14F-4D97-AF65-F5344CB8AC3E}">
        <p14:creationId xmlns:p14="http://schemas.microsoft.com/office/powerpoint/2010/main" val="3264933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71463" cy="6766560"/>
          </a:xfrm>
          <a:prstGeom prst="rect">
            <a:avLst/>
          </a:prstGeom>
        </p:spPr>
      </p:pic>
    </p:spTree>
    <p:extLst>
      <p:ext uri="{BB962C8B-B14F-4D97-AF65-F5344CB8AC3E}">
        <p14:creationId xmlns:p14="http://schemas.microsoft.com/office/powerpoint/2010/main" val="1034644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175966" cy="6609806"/>
          </a:xfrm>
          <a:prstGeom prst="rect">
            <a:avLst/>
          </a:prstGeom>
        </p:spPr>
      </p:pic>
    </p:spTree>
    <p:extLst>
      <p:ext uri="{BB962C8B-B14F-4D97-AF65-F5344CB8AC3E}">
        <p14:creationId xmlns:p14="http://schemas.microsoft.com/office/powerpoint/2010/main" val="1126174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45791"/>
          </a:xfrm>
          <a:prstGeom prst="rect">
            <a:avLst/>
          </a:prstGeom>
        </p:spPr>
      </p:pic>
    </p:spTree>
    <p:extLst>
      <p:ext uri="{BB962C8B-B14F-4D97-AF65-F5344CB8AC3E}">
        <p14:creationId xmlns:p14="http://schemas.microsoft.com/office/powerpoint/2010/main" val="1065679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3970318"/>
          </a:xfrm>
          <a:prstGeom prst="rect">
            <a:avLst/>
          </a:prstGeom>
        </p:spPr>
        <p:txBody>
          <a:bodyPr wrap="square">
            <a:spAutoFit/>
          </a:bodyPr>
          <a:lstStyle/>
          <a:p>
            <a:pPr algn="just"/>
            <a:r>
              <a:rPr lang="fr-FR" dirty="0">
                <a:latin typeface="Arial" panose="020B0604020202020204" pitchFamily="34" charset="0"/>
                <a:cs typeface="Arial" panose="020B0604020202020204" pitchFamily="34" charset="0"/>
              </a:rPr>
              <a:t>Ce que vous voyez dans votre console, ce sont les données brutes (déchiffrées et structurées) que </a:t>
            </a:r>
            <a:r>
              <a:rPr lang="fr-FR" dirty="0" err="1">
                <a:latin typeface="Arial" panose="020B0604020202020204" pitchFamily="34" charset="0"/>
                <a:cs typeface="Arial" panose="020B0604020202020204" pitchFamily="34" charset="0"/>
              </a:rPr>
              <a:t>PySpark</a:t>
            </a:r>
            <a:r>
              <a:rPr lang="fr-FR" dirty="0">
                <a:latin typeface="Arial" panose="020B0604020202020204" pitchFamily="34" charset="0"/>
                <a:cs typeface="Arial" panose="020B0604020202020204" pitchFamily="34" charset="0"/>
              </a:rPr>
              <a:t> consomme en temps réel depuis Kafka.</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Le pipeline est entièrement fonctionnel :</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Le Producteur envoie des données à Kafka.</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Le conteneur </a:t>
            </a:r>
            <a:r>
              <a:rPr lang="fr-FR" dirty="0" err="1">
                <a:latin typeface="Arial" panose="020B0604020202020204" pitchFamily="34" charset="0"/>
                <a:cs typeface="Arial" panose="020B0604020202020204" pitchFamily="34" charset="0"/>
              </a:rPr>
              <a:t>Spark</a:t>
            </a:r>
            <a:r>
              <a:rPr lang="fr-FR" dirty="0">
                <a:latin typeface="Arial" panose="020B0604020202020204" pitchFamily="34" charset="0"/>
                <a:cs typeface="Arial" panose="020B0604020202020204" pitchFamily="34" charset="0"/>
              </a:rPr>
              <a:t> Master fonctionne grâce à l'image stable (bde2020).</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Le script streaming_processor.py a été trouvé grâce au montage de volume (./:/</a:t>
            </a:r>
            <a:r>
              <a:rPr lang="fr-FR" dirty="0" err="1">
                <a:latin typeface="Arial" panose="020B0604020202020204" pitchFamily="34" charset="0"/>
                <a:cs typeface="Arial" panose="020B0604020202020204" pitchFamily="34" charset="0"/>
              </a:rPr>
              <a:t>app</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Le Processeur </a:t>
            </a:r>
            <a:r>
              <a:rPr lang="fr-FR" dirty="0" err="1">
                <a:latin typeface="Arial" panose="020B0604020202020204" pitchFamily="34" charset="0"/>
                <a:cs typeface="Arial" panose="020B0604020202020204" pitchFamily="34" charset="0"/>
              </a:rPr>
              <a:t>PySpark</a:t>
            </a:r>
            <a:r>
              <a:rPr lang="fr-FR" dirty="0">
                <a:latin typeface="Arial" panose="020B0604020202020204" pitchFamily="34" charset="0"/>
                <a:cs typeface="Arial" panose="020B0604020202020204" pitchFamily="34" charset="0"/>
              </a:rPr>
              <a:t> se connecte à Kafka, applique le schéma, et affiche les résultats.</a:t>
            </a:r>
          </a:p>
        </p:txBody>
      </p:sp>
    </p:spTree>
    <p:extLst>
      <p:ext uri="{BB962C8B-B14F-4D97-AF65-F5344CB8AC3E}">
        <p14:creationId xmlns:p14="http://schemas.microsoft.com/office/powerpoint/2010/main" val="3666037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246769"/>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Exportez les résultats des analyses dans un fichier au format adapté (</a:t>
            </a:r>
            <a:r>
              <a:rPr lang="fr-FR" sz="2800" dirty="0" err="1">
                <a:latin typeface="Arial" panose="020B0604020202020204" pitchFamily="34" charset="0"/>
                <a:cs typeface="Arial" panose="020B0604020202020204" pitchFamily="34" charset="0"/>
              </a:rPr>
              <a:t>Json</a:t>
            </a:r>
            <a:r>
              <a:rPr lang="fr-FR" sz="2800" dirty="0">
                <a:latin typeface="Arial" panose="020B0604020202020204" pitchFamily="34" charset="0"/>
                <a:cs typeface="Arial" panose="020B0604020202020204" pitchFamily="34" charset="0"/>
              </a:rPr>
              <a:t>, parquet ou autre) pour une visualisation </a:t>
            </a:r>
            <a:r>
              <a:rPr lang="fr-FR" sz="2800" dirty="0" smtClean="0">
                <a:latin typeface="Arial" panose="020B0604020202020204" pitchFamily="34" charset="0"/>
                <a:cs typeface="Arial" panose="020B0604020202020204" pitchFamily="34" charset="0"/>
              </a:rPr>
              <a:t>ultérieure</a:t>
            </a:r>
          </a:p>
          <a:p>
            <a:endParaRPr lang="fr-FR" sz="2800" dirty="0">
              <a:latin typeface="Arial" panose="020B0604020202020204" pitchFamily="34" charset="0"/>
              <a:cs typeface="Arial" panose="020B0604020202020204" pitchFamily="34" charset="0"/>
            </a:endParaRPr>
          </a:p>
          <a:p>
            <a:endParaRPr lang="fr-FR" sz="28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768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19"/>
          </a:xfrm>
          <a:prstGeom prst="rect">
            <a:avLst/>
          </a:prstGeom>
        </p:spPr>
        <p:txBody>
          <a:bodyPr wrap="square">
            <a:spAutoFit/>
          </a:bodyPr>
          <a:lstStyle/>
          <a:p>
            <a:r>
              <a:rPr lang="fr-FR" dirty="0"/>
              <a:t>Actuellement, votre script streaming_processor.py affiche les résultats dans la console (mode console), ce qui n'est pas idéal pour l'archivage ou la visualisation. Nous allons modifier ce script pour qu'il effectue une agrégation par fenêtre de temps glissante et qu'il exporte les résultats en Parquet dans un répertoire de sortie.</a:t>
            </a:r>
          </a:p>
          <a:p>
            <a:endParaRPr lang="fr-FR" dirty="0"/>
          </a:p>
          <a:p>
            <a:r>
              <a:rPr lang="fr-FR" dirty="0"/>
              <a:t>J'ai mis à jour le script pour :</a:t>
            </a:r>
          </a:p>
          <a:p>
            <a:endParaRPr lang="fr-FR" dirty="0"/>
          </a:p>
          <a:p>
            <a:r>
              <a:rPr lang="fr-FR" dirty="0"/>
              <a:t>    Calculer le nombre total de tickets par priorité (</a:t>
            </a:r>
            <a:r>
              <a:rPr lang="fr-FR" dirty="0" err="1"/>
              <a:t>priority</a:t>
            </a:r>
            <a:r>
              <a:rPr lang="fr-FR" dirty="0"/>
              <a:t>) sur une fenêtre glissante de 1 minute.</a:t>
            </a:r>
          </a:p>
          <a:p>
            <a:endParaRPr lang="fr-FR" dirty="0"/>
          </a:p>
          <a:p>
            <a:r>
              <a:rPr lang="fr-FR" dirty="0"/>
              <a:t>    Sauvegarder ces résultats dans un répertoire nommé /</a:t>
            </a:r>
            <a:r>
              <a:rPr lang="fr-FR" dirty="0" err="1"/>
              <a:t>app</a:t>
            </a:r>
            <a:r>
              <a:rPr lang="fr-FR" dirty="0"/>
              <a:t>/output/</a:t>
            </a:r>
            <a:r>
              <a:rPr lang="fr-FR" dirty="0" err="1"/>
              <a:t>ticket_counts</a:t>
            </a:r>
            <a:r>
              <a:rPr lang="fr-FR" dirty="0"/>
              <a:t>/ dans le conteneur </a:t>
            </a:r>
            <a:r>
              <a:rPr lang="fr-FR" dirty="0" err="1"/>
              <a:t>Spark</a:t>
            </a:r>
            <a:r>
              <a:rPr lang="fr-FR" dirty="0"/>
              <a:t>, en utilisant le format Parquet, car il est efficace pour l'analyse </a:t>
            </a:r>
            <a:r>
              <a:rPr lang="fr-FR" dirty="0" err="1"/>
              <a:t>Big</a:t>
            </a:r>
            <a:r>
              <a:rPr lang="fr-FR" dirty="0"/>
              <a:t> Data.</a:t>
            </a:r>
          </a:p>
        </p:txBody>
      </p:sp>
    </p:spTree>
    <p:extLst>
      <p:ext uri="{BB962C8B-B14F-4D97-AF65-F5344CB8AC3E}">
        <p14:creationId xmlns:p14="http://schemas.microsoft.com/office/powerpoint/2010/main" val="2500320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430000" cy="5458587"/>
          </a:xfrm>
          <a:prstGeom prst="rect">
            <a:avLst/>
          </a:prstGeom>
        </p:spPr>
      </p:pic>
    </p:spTree>
    <p:extLst>
      <p:ext uri="{BB962C8B-B14F-4D97-AF65-F5344CB8AC3E}">
        <p14:creationId xmlns:p14="http://schemas.microsoft.com/office/powerpoint/2010/main" val="22688436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5391"/>
            <a:ext cx="10421804" cy="5573078"/>
          </a:xfrm>
          <a:prstGeom prst="rect">
            <a:avLst/>
          </a:prstGeom>
        </p:spPr>
      </p:pic>
    </p:spTree>
    <p:extLst>
      <p:ext uri="{BB962C8B-B14F-4D97-AF65-F5344CB8AC3E}">
        <p14:creationId xmlns:p14="http://schemas.microsoft.com/office/powerpoint/2010/main" val="4090601087"/>
      </p:ext>
    </p:extLst>
  </p:cSld>
  <p:clrMapOvr>
    <a:masterClrMapping/>
  </p:clrMapOvr>
</p:sld>
</file>

<file path=ppt/theme/theme1.xml><?xml version="1.0" encoding="utf-8"?>
<a:theme xmlns:a="http://schemas.openxmlformats.org/drawingml/2006/main" name="Facette">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13147</TotalTime>
  <Words>2065</Words>
  <Application>Microsoft Office PowerPoint</Application>
  <PresentationFormat>Grand écran</PresentationFormat>
  <Paragraphs>227</Paragraphs>
  <Slides>44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44</vt:i4>
      </vt:variant>
    </vt:vector>
  </HeadingPairs>
  <TitlesOfParts>
    <vt:vector size="48" baseType="lpstr">
      <vt:lpstr>Arial</vt:lpstr>
      <vt:lpstr>Trebuchet MS</vt:lpstr>
      <vt:lpstr>Wingdings 3</vt:lpstr>
      <vt:lpstr>Facette</vt:lpstr>
      <vt:lpstr>POC (Proof Of Concept) sur un système de gestion de tickets clients.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69</cp:revision>
  <dcterms:created xsi:type="dcterms:W3CDTF">2025-10-06T19:41:48Z</dcterms:created>
  <dcterms:modified xsi:type="dcterms:W3CDTF">2025-11-05T21:53:51Z</dcterms:modified>
</cp:coreProperties>
</file>