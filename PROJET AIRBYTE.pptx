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68" r:id="rId3"/>
    <p:sldId id="309" r:id="rId4"/>
    <p:sldId id="257" r:id="rId5"/>
    <p:sldId id="271" r:id="rId6"/>
    <p:sldId id="272" r:id="rId7"/>
    <p:sldId id="274" r:id="rId8"/>
    <p:sldId id="275" r:id="rId9"/>
    <p:sldId id="374" r:id="rId10"/>
    <p:sldId id="276" r:id="rId11"/>
    <p:sldId id="277" r:id="rId12"/>
    <p:sldId id="278" r:id="rId13"/>
    <p:sldId id="279" r:id="rId14"/>
    <p:sldId id="283" r:id="rId15"/>
    <p:sldId id="285" r:id="rId16"/>
    <p:sldId id="286" r:id="rId17"/>
    <p:sldId id="280" r:id="rId18"/>
    <p:sldId id="281" r:id="rId19"/>
    <p:sldId id="282" r:id="rId20"/>
    <p:sldId id="258" r:id="rId21"/>
    <p:sldId id="259" r:id="rId22"/>
    <p:sldId id="297" r:id="rId23"/>
    <p:sldId id="261" r:id="rId24"/>
    <p:sldId id="262" r:id="rId25"/>
    <p:sldId id="263" r:id="rId26"/>
    <p:sldId id="264" r:id="rId27"/>
    <p:sldId id="265" r:id="rId28"/>
    <p:sldId id="266" r:id="rId29"/>
    <p:sldId id="292" r:id="rId30"/>
    <p:sldId id="293" r:id="rId31"/>
    <p:sldId id="298" r:id="rId32"/>
    <p:sldId id="299" r:id="rId33"/>
    <p:sldId id="287" r:id="rId34"/>
    <p:sldId id="288" r:id="rId35"/>
    <p:sldId id="289" r:id="rId36"/>
    <p:sldId id="290" r:id="rId37"/>
    <p:sldId id="291" r:id="rId38"/>
    <p:sldId id="294" r:id="rId39"/>
    <p:sldId id="295" r:id="rId40"/>
    <p:sldId id="296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8" r:id="rId49"/>
    <p:sldId id="307" r:id="rId50"/>
    <p:sldId id="310" r:id="rId51"/>
    <p:sldId id="311" r:id="rId52"/>
    <p:sldId id="312" r:id="rId53"/>
    <p:sldId id="313" r:id="rId54"/>
    <p:sldId id="373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31" r:id="rId70"/>
    <p:sldId id="332" r:id="rId71"/>
    <p:sldId id="329" r:id="rId72"/>
    <p:sldId id="330" r:id="rId73"/>
    <p:sldId id="333" r:id="rId74"/>
    <p:sldId id="334" r:id="rId75"/>
    <p:sldId id="338" r:id="rId76"/>
    <p:sldId id="369" r:id="rId77"/>
    <p:sldId id="370" r:id="rId78"/>
    <p:sldId id="335" r:id="rId79"/>
    <p:sldId id="358" r:id="rId80"/>
    <p:sldId id="359" r:id="rId81"/>
    <p:sldId id="360" r:id="rId82"/>
    <p:sldId id="361" r:id="rId83"/>
    <p:sldId id="362" r:id="rId84"/>
    <p:sldId id="364" r:id="rId85"/>
    <p:sldId id="365" r:id="rId86"/>
    <p:sldId id="363" r:id="rId87"/>
    <p:sldId id="366" r:id="rId88"/>
    <p:sldId id="336" r:id="rId89"/>
    <p:sldId id="337" r:id="rId90"/>
    <p:sldId id="339" r:id="rId91"/>
    <p:sldId id="340" r:id="rId92"/>
    <p:sldId id="344" r:id="rId93"/>
    <p:sldId id="345" r:id="rId94"/>
    <p:sldId id="347" r:id="rId95"/>
    <p:sldId id="348" r:id="rId96"/>
    <p:sldId id="349" r:id="rId97"/>
    <p:sldId id="346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hyperlink" Target="https://eu-west-3.console.aws.amazon.com/s3/buckets?region=eu-west-3&amp;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mp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tmp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tmp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mp"/><Relationship Id="rId2" Type="http://schemas.openxmlformats.org/officeDocument/2006/relationships/image" Target="../media/image47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tmp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tmp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tmp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tmp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mp"/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tmp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tmp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tmp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tmp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tmp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tmp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tmp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tmp"/><Relationship Id="rId2" Type="http://schemas.openxmlformats.org/officeDocument/2006/relationships/image" Target="../media/image66.tmp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tmp"/><Relationship Id="rId2" Type="http://schemas.openxmlformats.org/officeDocument/2006/relationships/image" Target="../media/image68.tmp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tmp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tmp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tmp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tmp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tmp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tmp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tmp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tmp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07067" y="1528354"/>
            <a:ext cx="7766936" cy="2522482"/>
          </a:xfrm>
        </p:spPr>
        <p:txBody>
          <a:bodyPr/>
          <a:lstStyle/>
          <a:p>
            <a:r>
              <a:rPr lang="fr-FR" dirty="0"/>
              <a:t>Construisez et testez une infrastructure de données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données météorologiques</a:t>
            </a:r>
          </a:p>
        </p:txBody>
      </p:sp>
    </p:spTree>
    <p:extLst>
      <p:ext uri="{BB962C8B-B14F-4D97-AF65-F5344CB8AC3E}">
        <p14:creationId xmlns:p14="http://schemas.microsoft.com/office/powerpoint/2010/main" val="1846139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Objectif Général de la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Mission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L'objectif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principal est d'établir un pipeline ETL (Extraction, Transformation, Chargement) robuste, fiable et surveillé sur AWS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Fargate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pour enrichir la base de données de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GreenCoop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avec des relevés météorologiques hétérogènes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L'objectif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final est de fournir aux Data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Scientists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de l'équipe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Forecast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2.0 des données de qualité, testées et hautement accessibles pour améliorer la précision de leurs modèles de prévision de la demande d'électricité dans les Hauts-de-France.</a:t>
            </a:r>
          </a:p>
        </p:txBody>
      </p:sp>
    </p:spTree>
    <p:extLst>
      <p:ext uri="{BB962C8B-B14F-4D97-AF65-F5344CB8AC3E}">
        <p14:creationId xmlns:p14="http://schemas.microsoft.com/office/powerpoint/2010/main" val="1594743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9398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LIEN GITHUB</a:t>
            </a:r>
          </a:p>
          <a:p>
            <a:r>
              <a:rPr lang="fr-FR" dirty="0"/>
              <a:t>Contenant </a:t>
            </a:r>
            <a:r>
              <a:rPr lang="fr-FR" dirty="0" smtClean="0"/>
              <a:t> etl_meteo.py</a:t>
            </a:r>
            <a:r>
              <a:rPr lang="fr-FR" dirty="0"/>
              <a:t>, test_etl_meteo.py, .</a:t>
            </a:r>
            <a:r>
              <a:rPr lang="fr-FR" dirty="0" err="1" smtClean="0"/>
              <a:t>gitignore</a:t>
            </a:r>
            <a:r>
              <a:rPr lang="fr-FR" dirty="0"/>
              <a:t> , requirements.txt , </a:t>
            </a:r>
            <a:r>
              <a:rPr lang="fr-FR" dirty="0" err="1" smtClean="0"/>
              <a:t>Readme</a:t>
            </a:r>
            <a:r>
              <a:rPr lang="fr-FR" dirty="0" smtClean="0"/>
              <a:t> </a:t>
            </a:r>
          </a:p>
          <a:p>
            <a:r>
              <a:rPr lang="fr-FR" dirty="0" smtClean="0"/>
              <a:t>quality_audit.py , </a:t>
            </a:r>
            <a:r>
              <a:rPr lang="fr-FR" dirty="0" err="1" smtClean="0"/>
              <a:t>dockerfile</a:t>
            </a:r>
            <a:r>
              <a:rPr lang="fr-FR" dirty="0" smtClean="0"/>
              <a:t> , docker-</a:t>
            </a:r>
            <a:r>
              <a:rPr lang="fr-FR" dirty="0" err="1" smtClean="0"/>
              <a:t>compose.yml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https</a:t>
            </a:r>
            <a:r>
              <a:rPr lang="fr-FR" dirty="0"/>
              <a:t>://github.com/dongmofr2000/projet-meteo-etl</a:t>
            </a:r>
          </a:p>
        </p:txBody>
      </p:sp>
    </p:spTree>
    <p:extLst>
      <p:ext uri="{BB962C8B-B14F-4D97-AF65-F5344CB8AC3E}">
        <p14:creationId xmlns:p14="http://schemas.microsoft.com/office/powerpoint/2010/main" val="3419100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249"/>
            <a:ext cx="12130244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Créez un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bucket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S3 sur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://eu-west-3.console.aws.amazon.com/s3/buckets?region=eu-west-3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&amp;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bucketType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fr-FR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general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arn:aws:iam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::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261916865361:user/</a:t>
            </a:r>
            <a:r>
              <a:rPr lang="fr-FR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airbyte-connector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Clé d’</a:t>
            </a:r>
            <a:r>
              <a:rPr lang="fr-FR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acces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secrète: huxxxxxxxxxxxxxxxxxxxxxxxxxxxxx0qH</a:t>
            </a:r>
          </a:p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Clé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d’</a:t>
            </a:r>
            <a:r>
              <a:rPr lang="fr-FR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acces:AxxxxxxxxxxxxxxxxxG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URI s3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://projet-meteo-data/airbyte_source/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3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114" y="3205892"/>
            <a:ext cx="12192000" cy="365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3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69277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7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79" y="0"/>
            <a:ext cx="10402752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6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7655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Chemin du compartiment S3</a:t>
            </a: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55478"/>
            <a:ext cx="6935168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37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86" y="0"/>
            <a:ext cx="7001852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614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92" y="0"/>
            <a:ext cx="10155067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97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9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651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07965" cy="3429479"/>
          </a:xfrm>
          <a:prstGeom prst="rect">
            <a:avLst/>
          </a:prstGeom>
        </p:spPr>
      </p:pic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79" y="3429479"/>
            <a:ext cx="11688806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48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800"/>
            <a:ext cx="12192000" cy="540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15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55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314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2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19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0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77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4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91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734"/>
            <a:ext cx="12192000" cy="512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69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90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53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30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89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Transformez vos données afin de les préparer à être importées dans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via un script Python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373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87907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34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64117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19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97486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50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78327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86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30802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27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30749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89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97486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62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152" y="3419473"/>
            <a:ext cx="7487695" cy="19053"/>
          </a:xfrm>
          <a:prstGeom prst="rect">
            <a:avLst/>
          </a:prstGeom>
        </p:spPr>
      </p:pic>
      <p:pic>
        <p:nvPicPr>
          <p:cNvPr id="6" name="Image 5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88012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46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73644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05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87960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31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21275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60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21169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50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Testez l’intégrité (colonnes disponibles, types des variables, doublons, valeurs manquantes, etc…) des données avant et après la migration</a:t>
            </a:r>
          </a:p>
        </p:txBody>
      </p:sp>
    </p:spTree>
    <p:extLst>
      <p:ext uri="{BB962C8B-B14F-4D97-AF65-F5344CB8AC3E}">
        <p14:creationId xmlns:p14="http://schemas.microsoft.com/office/powerpoint/2010/main" val="1895799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26435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12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47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490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07118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172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990"/>
            <a:ext cx="9335803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986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962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Contrôles d'Intégrité Post-Migration (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1707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64594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60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0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582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782352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Automatisez le processus de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</a:p>
          <a:p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Créer un fichier : 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test_etl_meteo.py</a:t>
            </a:r>
          </a:p>
        </p:txBody>
      </p:sp>
    </p:spTree>
    <p:extLst>
      <p:ext uri="{BB962C8B-B14F-4D97-AF65-F5344CB8AC3E}">
        <p14:creationId xmlns:p14="http://schemas.microsoft.com/office/powerpoint/2010/main" val="26415744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372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Voici le script a mettre dans le fichier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test_etl_meteo.py</a:t>
            </a:r>
          </a:p>
        </p:txBody>
      </p:sp>
      <p:pic>
        <p:nvPicPr>
          <p:cNvPr id="4" name="Image 3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0" y="1675677"/>
            <a:ext cx="8392696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22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16433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1951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35538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433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64170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160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81512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Par la suite on lance la commande :   python 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-m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unittest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test_etl_meteo.py</a:t>
            </a:r>
          </a:p>
        </p:txBody>
      </p:sp>
    </p:spTree>
    <p:extLst>
      <p:ext uri="{BB962C8B-B14F-4D97-AF65-F5344CB8AC3E}">
        <p14:creationId xmlns:p14="http://schemas.microsoft.com/office/powerpoint/2010/main" val="22043304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92749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659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1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719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Répétabilité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(Le Cœur de l'Automatisation)Le script de test test_etl_meteo.py exécute tout le processus E-T-L (extraction, transformation, chargement) dans la méthode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setUpClass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puis il exécute automatiquement les 4 fonctions de test (test_01, test_02, etc.) pour vérifier la qualité des données dans la base de données de test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Isolation (Environnement de Test Séparé)Grâce aux méthodes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setUpClass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tearDownClass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le processus de test :Crée une base de données temporaire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meteo_projet_TEST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).Exécute le pipeline et l'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audit.Supprime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cette base de données temporaire immédiatement après la fin des tests, quelle que soit leur réussite ou leur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échec.Ceci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garantit que vos tests sont isolés et ne polluent jamais votre base de données de production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meteo_projet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745178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Une mesure de la qualité des données post migration (i.e. taux d’erreurs dans vos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données)</a:t>
            </a:r>
          </a:p>
          <a:p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Création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d’un fichier :</a:t>
            </a:r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quality_audit.py</a:t>
            </a:r>
          </a:p>
          <a:p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Comment l'Exécuter</a:t>
            </a:r>
          </a:p>
          <a:p>
            <a:endParaRPr lang="fr-F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1)Enregistrez le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code dans un fichier nommé quality_audit.py</a:t>
            </a:r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2)Assurez-vous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est en cours d'exécution</a:t>
            </a:r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3)Lancez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le script depuis votre terminal </a:t>
            </a:r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python quality_audit.py</a:t>
            </a:r>
          </a:p>
          <a:p>
            <a:endParaRPr lang="fr-F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Ce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script vous donnera un rapport précis sur les violations de qualité, vous permettant de surveiller le taux d'erreur de validité de vos données post-migration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96262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35432" cy="500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707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Nous avons une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qualité des données impeccable selon les critères de validité suivants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1)Validité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des Types : L'audit précédent a confirmé que tous les champs numériques sont bien des nombres (pas de chaînes de caractères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2)Complétude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L'audit précédent a confirmé qu'il n'y a aucune valeur manquante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dans les champs critiques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3)Validité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des Valeurs (Nouveau) : Ce dernier rapport confirme qu'il n'y a aucune anomalie de plage de valeurs. Toutes les données sont logiquement cohérentes (ex. : l'humidité est entre 0 et 100 %).</a:t>
            </a:r>
          </a:p>
        </p:txBody>
      </p:sp>
    </p:spTree>
    <p:extLst>
      <p:ext uri="{BB962C8B-B14F-4D97-AF65-F5344CB8AC3E}">
        <p14:creationId xmlns:p14="http://schemas.microsoft.com/office/powerpoint/2010/main" val="5713562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 processus suivi de collecte, transformation et stockage des données formalisé via un logigramme</a:t>
            </a:r>
          </a:p>
        </p:txBody>
      </p:sp>
    </p:spTree>
    <p:extLst>
      <p:ext uri="{BB962C8B-B14F-4D97-AF65-F5344CB8AC3E}">
        <p14:creationId xmlns:p14="http://schemas.microsoft.com/office/powerpoint/2010/main" val="3590648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35962" cy="67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606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Explication des Étapes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Clés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logigramme montre le flux de données depuis le lancement du script jusqu'au stockage final, en passant par les points de décision critiques pour la qualité 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1)Extraction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(E) : Les données sont lues de manière conditionnelle en fonction de leur format (CSV ou JSON) et chargées dans des structures Pandas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2)Transformation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(T) : C'est l'étape la plus dense. Elle inclut la conversion d'unités pour les données CSV et l'harmonisation du schéma pour les deux sources, avant d'ajouter les métadonnées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id_station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source_donnees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et de fusionner les ensembles de données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3)Validation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&amp; Audit : Un point de décision critique (J) vérifie si les données transformées sont structurellement saines. Si un problème majeur (erreurs de formatage, champs manquants critiques) est détecté, le pipeline s'arrête (L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4)Chargement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(L) : Les données validées sont insérées dans la collection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donnees_horaires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5)Audit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 Qualité Post-Chargement : La dernière décision (P) représente l'exécution du script quality_audit.py qui vérifie que les données chargées sont non seulement complètes, mais aussi physiquement valides (ex: température dans une plage normale), produisant le taux d'erreur final.</a:t>
            </a:r>
          </a:p>
        </p:txBody>
      </p:sp>
    </p:spTree>
    <p:extLst>
      <p:ext uri="{BB962C8B-B14F-4D97-AF65-F5344CB8AC3E}">
        <p14:creationId xmlns:p14="http://schemas.microsoft.com/office/powerpoint/2010/main" val="42342070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Utilisez les commandes de base pour CRUD (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, Read, Update,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) dans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via un script python</a:t>
            </a:r>
          </a:p>
        </p:txBody>
      </p:sp>
    </p:spTree>
    <p:extLst>
      <p:ext uri="{BB962C8B-B14F-4D97-AF65-F5344CB8AC3E}">
        <p14:creationId xmlns:p14="http://schemas.microsoft.com/office/powerpoint/2010/main" val="8229319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Comment Exécuter le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L'exécution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du script est simple, car il s'agit d'un programme Python standard qui utilise le module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pymongo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1)Assurez-vous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est en cours d'exécution. Votre serveur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doit être démarré (généralement via l'application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Compass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ou en tant que service local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2)Vérifiez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votre environnement virtuel. Si vous avez suivi les étapes précédentes, assurez-vous qu'il est activé et que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pymongo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est installé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.\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venv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\Scripts\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activate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# Si besoin 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pip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pymongo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3) Lancez le script : Exécutez le fichier directement dans votre terminal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python mongo_crud.py</a:t>
            </a:r>
          </a:p>
        </p:txBody>
      </p:sp>
    </p:spTree>
    <p:extLst>
      <p:ext uri="{BB962C8B-B14F-4D97-AF65-F5344CB8AC3E}">
        <p14:creationId xmlns:p14="http://schemas.microsoft.com/office/powerpoint/2010/main" val="38421553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59804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026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7948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Mettez en place des réplications pour vos données</a:t>
            </a:r>
          </a:p>
        </p:txBody>
      </p:sp>
    </p:spTree>
    <p:extLst>
      <p:ext uri="{BB962C8B-B14F-4D97-AF65-F5344CB8AC3E}">
        <p14:creationId xmlns:p14="http://schemas.microsoft.com/office/powerpoint/2010/main" val="28464311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1)Créez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les répertoires pour les données de chaque membre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mkdir C:\mongo-data\rs0-0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    mkdir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C:\mongo-data\rs0-1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    mkdir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C:\mongo-data\rs0-2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28354"/>
            <a:ext cx="8817429" cy="532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841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2)Lancez 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les trois membres en spécifiant le nom du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Replica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Set (rs0) et le répertoire de données (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dbpath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Membre 1 (Primaire potentiel, port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:27017)</a:t>
            </a:r>
          </a:p>
          <a:p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Script : .\</a:t>
            </a:r>
            <a:r>
              <a:rPr lang="fr-F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mongod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--port 27017 --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dbpath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C:\mongo-data\rs0-0 --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replSet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rs0 --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bind_ip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localhost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. Membre Secondaire Potentiel (Port 27018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Script : .\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mongod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--port 27018 --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dbpath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C:\mongo-data\rs0-1 --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replSet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rs0 --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bind_ip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localhost</a:t>
            </a:r>
            <a:endParaRPr lang="fr-F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Membre Secondaire Potentiel (Port 27019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Script : .\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mongod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--port 27019 --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dbpath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C:\mongo-data\rs0-2 --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replSet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rs0 --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bind_ip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localhost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9564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810565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Étape 2 : Initialisation du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Replica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</a:p>
          <a:p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Ouvrez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quatrième fenêtre PowerShell et connectez-vous au premier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membre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script :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mongosh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--port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27017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2) Initialisation et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Vérification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Connectez-vous au Primaire (port 27017)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.\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mongosh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--port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27017</a:t>
            </a:r>
          </a:p>
          <a:p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Puis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Exécutez l'initialisation dans </a:t>
            </a:r>
            <a:r>
              <a:rPr lang="fr-F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mongosh</a:t>
            </a:r>
            <a:endParaRPr lang="fr-F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rs.initiate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({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_id: "rs0",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{ _id: 0, host: "localhost:27017" },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{ _id: 1, host: "localhost:27018" },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{ _id: 2, host: "localhost:27019" }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]</a:t>
            </a:r>
          </a:p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6090510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468" y="3424237"/>
            <a:ext cx="7259063" cy="9526"/>
          </a:xfrm>
          <a:prstGeom prst="rect">
            <a:avLst/>
          </a:prstGeom>
        </p:spPr>
      </p:pic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237" y="3424237"/>
            <a:ext cx="9526" cy="9526"/>
          </a:xfrm>
          <a:prstGeom prst="rect">
            <a:avLst/>
          </a:prstGeom>
        </p:spPr>
      </p:pic>
      <p:pic>
        <p:nvPicPr>
          <p:cNvPr id="4" name="Image 3" descr="Capture d’écra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060068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019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Le changement d'invite à la fin est la clé : </a:t>
            </a:r>
            <a:endParaRPr lang="fr-FR" dirty="0" smtClean="0"/>
          </a:p>
          <a:p>
            <a:r>
              <a:rPr lang="fr-FR" dirty="0" smtClean="0"/>
              <a:t>rs0 </a:t>
            </a:r>
            <a:r>
              <a:rPr lang="fr-FR" dirty="0"/>
              <a:t>[direct: </a:t>
            </a:r>
            <a:r>
              <a:rPr lang="fr-FR" dirty="0" err="1"/>
              <a:t>secondary</a:t>
            </a:r>
            <a:r>
              <a:rPr lang="fr-FR" dirty="0"/>
              <a:t>] test&gt; signifie que :Vous êtes maintenant connecté à un set de répliques nommé rs0</a:t>
            </a:r>
            <a:r>
              <a:rPr lang="fr-FR" dirty="0" smtClean="0"/>
              <a:t>.</a:t>
            </a:r>
          </a:p>
          <a:p>
            <a:r>
              <a:rPr lang="fr-FR" dirty="0" smtClean="0"/>
              <a:t>L'instance </a:t>
            </a:r>
            <a:r>
              <a:rPr lang="fr-FR" dirty="0"/>
              <a:t>à laquelle vous êtes connecté (port 27017) est en train de basculer vers son rôle (soit </a:t>
            </a:r>
            <a:r>
              <a:rPr lang="fr-FR" dirty="0" err="1"/>
              <a:t>Primary</a:t>
            </a:r>
            <a:r>
              <a:rPr lang="fr-FR" dirty="0"/>
              <a:t>, soit </a:t>
            </a:r>
            <a:r>
              <a:rPr lang="fr-FR" dirty="0" err="1"/>
              <a:t>Secondary</a:t>
            </a:r>
            <a:r>
              <a:rPr lang="fr-FR" dirty="0" smtClean="0"/>
              <a:t>).</a:t>
            </a:r>
          </a:p>
          <a:p>
            <a:r>
              <a:rPr lang="fr-FR" dirty="0" smtClean="0"/>
              <a:t>Pendant </a:t>
            </a:r>
            <a:r>
              <a:rPr lang="fr-FR" dirty="0"/>
              <a:t>la courte période d'élection (moins d'une minute), ce membre s'est initialement désigné comme </a:t>
            </a:r>
            <a:r>
              <a:rPr lang="fr-FR" dirty="0" err="1"/>
              <a:t>Secondary</a:t>
            </a:r>
            <a:r>
              <a:rPr lang="fr-FR" dirty="0"/>
              <a:t> car l'élection du </a:t>
            </a:r>
            <a:r>
              <a:rPr lang="fr-FR" dirty="0" err="1"/>
              <a:t>Primary</a:t>
            </a:r>
            <a:r>
              <a:rPr lang="fr-FR" dirty="0"/>
              <a:t> est en cours.</a:t>
            </a:r>
          </a:p>
        </p:txBody>
      </p:sp>
    </p:spTree>
    <p:extLst>
      <p:ext uri="{BB962C8B-B14F-4D97-AF65-F5344CB8AC3E}">
        <p14:creationId xmlns:p14="http://schemas.microsoft.com/office/powerpoint/2010/main" val="42416538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83267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/>
              <a:t>Vérifiez l'État de l'Ensemble de </a:t>
            </a:r>
            <a:r>
              <a:rPr lang="fr-FR" sz="2800" dirty="0" smtClean="0"/>
              <a:t>Répliques :</a:t>
            </a:r>
            <a:endParaRPr lang="fr-FR" sz="2800" dirty="0"/>
          </a:p>
        </p:txBody>
      </p:sp>
      <p:sp>
        <p:nvSpPr>
          <p:cNvPr id="3" name="Rectangle 2"/>
          <p:cNvSpPr/>
          <p:nvPr/>
        </p:nvSpPr>
        <p:spPr>
          <a:xfrm>
            <a:off x="7087297" y="168384"/>
            <a:ext cx="15953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err="1"/>
              <a:t>rs.status</a:t>
            </a:r>
            <a:r>
              <a:rPr lang="fr-FR" sz="2400" dirty="0"/>
              <a:t>()</a:t>
            </a:r>
          </a:p>
        </p:txBody>
      </p:sp>
      <p:pic>
        <p:nvPicPr>
          <p:cNvPr id="4" name="Image 3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4782"/>
            <a:ext cx="8354591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9511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21222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055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78592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060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rs.status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() confirme les rôles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localhost:27017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est PRIMARY ("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stateStr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": "PRIMARY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").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localhost:27018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est SECONDARY ("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stateStr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": "SECONDARY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").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localhost:27019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est SECONDARY ("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stateStr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": "SECONDARY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").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Replica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Set (rs0) est sain, stable, et prêt à l'emploi, garantissant la haute disponibilité de vos données météo.</a:t>
            </a:r>
          </a:p>
        </p:txBody>
      </p:sp>
    </p:spTree>
    <p:extLst>
      <p:ext uri="{BB962C8B-B14F-4D97-AF65-F5344CB8AC3E}">
        <p14:creationId xmlns:p14="http://schemas.microsoft.com/office/powerpoint/2010/main" val="7764283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Étapes de Validation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Finales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Maintenant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que la structure est en place, l'étape logique suivante est de tester la réplication des données pour prouver que les écritures sur le Primaire sont bien copiées sur les Secondaires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Écriture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sur le Primaire (Port 27017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AutoNum type="arabicPeriod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Dans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votre console actuelle (rs0 [direct: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primary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] test&gt;), insérez un document dans la base de données de votre projet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meteo_projet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db.donnees_horaires.insertOne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test_repl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true,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message: "Replication Test Succeeded!",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time: new Date()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})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72228"/>
            <a:ext cx="9149677" cy="268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569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L'insertion sur le Primaire a réussi, ce qui est l'étape essentielle pour le test de réplication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cette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sortie confirme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Rôle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Primaire Actif : L'invite rs0 [direct: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primary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meteo_projet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&gt; indique que vous écrivez bien sur le serveur principal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Insertion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Réussie : Le message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acknowledged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insertedId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ObjectId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(...) signifie que le document de test a été créé dans la collection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donnees_horaires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sur le membre localhost:27017.</a:t>
            </a:r>
          </a:p>
        </p:txBody>
      </p:sp>
    </p:spTree>
    <p:extLst>
      <p:ext uri="{BB962C8B-B14F-4D97-AF65-F5344CB8AC3E}">
        <p14:creationId xmlns:p14="http://schemas.microsoft.com/office/powerpoint/2010/main" val="38337055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Étape Finale : Confirmer la Réplication sur le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Secondaire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dernière étape pour valider votre mise en place de haute disponibilité est de lire ce document sur l'un des serveurs secondaires (par exemple, sur le port 27018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S'il apparaît, la réplication est confirmée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342900" indent="-342900">
              <a:buAutoNum type="arabicPeriod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Connectez-vous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au Serveur Secondaire (Port 27018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AutoNum type="arabicPeriod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Ouvrez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une nouvelle (cinquième) fenêtre PowerShell et connectez-vous au membre secondaire :.\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mongosh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--port 27018</a:t>
            </a: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8324"/>
            <a:ext cx="10250330" cy="465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373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827226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Autoriser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Lecture sur le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Secondaire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script :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db.getMongo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setReadPref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('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secondaryPreferred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')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 Vérification de la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Donnée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use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meteo_projet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db.donnees_horaires.find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({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test_repl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})</a:t>
            </a:r>
          </a:p>
        </p:txBody>
      </p:sp>
      <p:pic>
        <p:nvPicPr>
          <p:cNvPr id="6" name="Image 5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4326"/>
            <a:ext cx="9221487" cy="428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611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Replica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Set est parfaitement fonctionnel et la réplication est validée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résultat est la confirmation finale que toutes les étapes ont fonctionné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document de test a été inséré sur le serveur Primaire (port 27017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Je me suis connecté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au serveur Secondaire (port 27018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J’ai réussi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à lire le document de test sur le Secondaire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présence du document {"message": "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Test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Succeeded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!", ...} sur le membre secondaire prouve que le journal des opérations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OpLog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du Primaire a bien été répliqué sur le Secondaire.</a:t>
            </a:r>
          </a:p>
        </p:txBody>
      </p:sp>
    </p:spTree>
    <p:extLst>
      <p:ext uri="{BB962C8B-B14F-4D97-AF65-F5344CB8AC3E}">
        <p14:creationId xmlns:p14="http://schemas.microsoft.com/office/powerpoint/2010/main" val="1971718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Déploiement d’une instance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dans un conteneur Docker sur Amazon ECS (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Elastic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Container Service).</a:t>
            </a:r>
          </a:p>
        </p:txBody>
      </p:sp>
    </p:spTree>
    <p:extLst>
      <p:ext uri="{BB962C8B-B14F-4D97-AF65-F5344CB8AC3E}">
        <p14:creationId xmlns:p14="http://schemas.microsoft.com/office/powerpoint/2010/main" val="35891736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docker-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compose.yml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est la pièce maîtresse qui permet de déployer l'application ETL et la base de données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dans des conteneurs isolés, en gérant le volume de données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trois fichiers essentiels pour une solution Docker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complète et portable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1) requirements.txt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Liste des dépendances Python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2)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Instructions pour créer l'image de votre application ETL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3) docker-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compose.yml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Le fichier d'orchestration qui déploie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et exécute votre script ETL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Pour Construire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et démarrer l'ensemble du projet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docker-compose up --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docker-compose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up -d</a:t>
            </a:r>
          </a:p>
        </p:txBody>
      </p:sp>
    </p:spTree>
    <p:extLst>
      <p:ext uri="{BB962C8B-B14F-4D97-AF65-F5344CB8AC3E}">
        <p14:creationId xmlns:p14="http://schemas.microsoft.com/office/powerpoint/2010/main" val="35606927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156062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Vue d'ensemble du déploiement ECS/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Fargate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Pour déployer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sur ECS avec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Fargate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vous aurez besoin de trois éléments principaux :</a:t>
            </a:r>
          </a:p>
          <a:p>
            <a:pPr marL="342900" indent="-342900">
              <a:buAutoNum type="arabi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Image Docker : L'image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mongo:latest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(celle utilisée dans votre docker-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compose.yml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>
              <a:buAutoNum type="arabi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Définition de Tâche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: C'est un fichier JSON qui dit à ECS comment exécuter votre conteneur (ressources, ports, variables d'environnement).</a:t>
            </a:r>
          </a:p>
          <a:p>
            <a:pPr marL="342900" indent="-342900">
              <a:buAutoNum type="arabi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Service ECS (ECS Service) : Gère le nombre d'instances de la tâche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à exécuter (généralement une seule pour une base de données de base).</a:t>
            </a:r>
          </a:p>
          <a:p>
            <a:pPr marL="342900" indent="-342900">
              <a:buAutoNum type="arabicPeriod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Étapes de Déploiement Manuel sur AWS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Voici le processus général que vous suivriez dans la console AWS :</a:t>
            </a:r>
          </a:p>
          <a:p>
            <a:pPr marL="342900" indent="-342900"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Préparation (IAM &amp; VPC)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1) IAM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Assurez-vous d'avoir un rôle d'exécution de tâche ECS (souvent appelé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ecsTaskExecutionRole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avec les politiques nécessaires pour que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Fargate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puisse récupérer l'image et envoyer les logs.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 2) VPC / Sous-réseaux : Identifiez le VPC et les sous-réseaux privés dans lesquels vous souhaitez exécuter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B. Création du Log Group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Allez dans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CloudWatch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et créez le Log Group spécifié dans la définition de tâche : /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ecs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meteo-mongodb-task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26021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58847"/>
            <a:ext cx="1111649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C. Création de la Définition de Tâche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Allez dans le service ECS.</a:t>
            </a:r>
          </a:p>
          <a:p>
            <a:pPr marL="342900" indent="-342900">
              <a:buAutoNum type="arabicParenR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Dans la section "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Definitions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", cliquez sur "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new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marL="342900" indent="-342900">
              <a:buAutoNum type="arabicParenR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Sélectionnez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Fargate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comme type de compatibilité.</a:t>
            </a:r>
          </a:p>
          <a:p>
            <a:pPr marL="342900" indent="-342900">
              <a:buAutoNum type="arabicParenR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Copiez-collez le contenu du fichier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mongodb-task-definition.json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ci-dessus (en ajustant les ARN et le mot de passe).</a:t>
            </a:r>
          </a:p>
          <a:p>
            <a:pPr marL="342900" indent="-342900">
              <a:buAutoNum type="arabicParenR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D. Création du Cluster et du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ServiceCluster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Créez un nouveau cluster ECS (si vous n'en avez pas), choisissez l'option Networking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(pour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Fargate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2) Service : Dans ce cluster, cliquez sur "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Service".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*Sélectionnez le type de lancement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Fargate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*Choisissez la Définition de Tâche que vous venez de créer.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*Définissez le nombre de tâches souhaitées (généralement 1 pour la base de    données).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*Networking : Attachez la tâche aux sous-réseaux privés de votre VPC.</a:t>
            </a:r>
          </a:p>
        </p:txBody>
      </p:sp>
    </p:spTree>
    <p:extLst>
      <p:ext uri="{BB962C8B-B14F-4D97-AF65-F5344CB8AC3E}">
        <p14:creationId xmlns:p14="http://schemas.microsoft.com/office/powerpoint/2010/main" val="6674584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49695" cy="1047896"/>
          </a:xfrm>
          <a:prstGeom prst="rect">
            <a:avLst/>
          </a:prstGeom>
        </p:spPr>
      </p:pic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7" y="1384663"/>
            <a:ext cx="9088069" cy="547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9283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32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5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8152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6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275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561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972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Statut de la tâche dans la console ECS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montrant la tâche spécifique (ex. : 91dd69f32fa6436fa1500bb7393cfbd5) avec le statut final STOPPED.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Explication : "Le statut STOPPED confirme que le script Python s'est exécuté jusqu'à la fin, complétant l'opération ETL.</a:t>
            </a:r>
          </a:p>
        </p:txBody>
      </p:sp>
    </p:spTree>
    <p:extLst>
      <p:ext uri="{BB962C8B-B14F-4D97-AF65-F5344CB8AC3E}">
        <p14:creationId xmlns:p14="http://schemas.microsoft.com/office/powerpoint/2010/main" val="34849405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69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490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955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533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5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086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Vous devrez pouvoir démontrer sur demande que votre migration fonctionne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bien</a:t>
            </a:r>
          </a:p>
          <a:p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4149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8722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Étape 1 : Vérifier la fin de l'exécution et les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Logs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Script :docker logs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meteo_etl_pipeline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40" y="3424237"/>
            <a:ext cx="2286319" cy="9526"/>
          </a:xfrm>
          <a:prstGeom prst="rect">
            <a:avLst/>
          </a:prstGeom>
        </p:spPr>
      </p:pic>
      <p:pic>
        <p:nvPicPr>
          <p:cNvPr id="4" name="Image 3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36023"/>
            <a:ext cx="11260121" cy="602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894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593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Étape 2 : Vérifier l'Intégrité des Données dans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1) Accédez au conteneur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(le nom du conteneur est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script :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exec -it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meteo_mongodb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mongosh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2)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Exécutez les commandes de vérification dans le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shell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script 1: use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meteo_projet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script 2: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db.meteo_data.countDocuments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({})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script 3: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db.meteo_data.findOne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({})</a:t>
            </a:r>
          </a:p>
        </p:txBody>
      </p:sp>
    </p:spTree>
    <p:extLst>
      <p:ext uri="{BB962C8B-B14F-4D97-AF65-F5344CB8AC3E}">
        <p14:creationId xmlns:p14="http://schemas.microsoft.com/office/powerpoint/2010/main" val="396091675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573" y="3424237"/>
            <a:ext cx="7544853" cy="9526"/>
          </a:xfrm>
          <a:prstGeom prst="rect">
            <a:avLst/>
          </a:prstGeom>
        </p:spPr>
      </p:pic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69013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89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reporting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avec le temps d'accessibilité à vos données mesuré via le temps d’exécution d’une requête (par exemple récupérer les données météo liées à une journée donnée dans un lieu donné</a:t>
            </a:r>
          </a:p>
        </p:txBody>
      </p:sp>
    </p:spTree>
    <p:extLst>
      <p:ext uri="{BB962C8B-B14F-4D97-AF65-F5344CB8AC3E}">
        <p14:creationId xmlns:p14="http://schemas.microsoft.com/office/powerpoint/2010/main" val="41495755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" y="140727"/>
            <a:ext cx="6354062" cy="521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7152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347166" cy="583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9409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705703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356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065623" cy="582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6255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413"/>
            <a:ext cx="9052560" cy="622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4668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7957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649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1"/>
            <a:ext cx="92354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Configuration des sauvegardes et surveillance des bases de données sur AWS</a:t>
            </a:r>
          </a:p>
        </p:txBody>
      </p:sp>
    </p:spTree>
    <p:extLst>
      <p:ext uri="{BB962C8B-B14F-4D97-AF65-F5344CB8AC3E}">
        <p14:creationId xmlns:p14="http://schemas.microsoft.com/office/powerpoint/2010/main" val="62132946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Stratégie de Sauvegarde (Backup) pour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meilleure façon de garantir des sauvegardes cohérentes pour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sur EC2/ECS est d'utiliser AWS Backup pour les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snapshots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de volume EBS, ou d'utiliser le mécanisme de sauvegarde natif de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mongodump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UcPeriod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Sauvegarde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des Volumes Persistants (Recommandé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votre cluster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utilise des volumes EBS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Elastic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Block Store) pour stocker les données de manière persistante, vous pouvez utiliser AWS Backup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arenR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Identifier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Volumes : Vérifiez les ID de volume EBS attachés à votre ou vos instances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arenR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Créer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 Plan de Sauvegarde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*Allez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dans le service AWS Backup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*Créez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 Plan de Sauvegarde (Backup Plan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*Définissez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fréquence : Par exemple, une fois par jour à 2h00 du matin (heure de faible trafic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*Définissez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rétention : Par exemple, conservez les sauvegardes quotidiennes pendant 7 jours et une sauvegarde hebdomadaire pendant 4 semaines.</a:t>
            </a:r>
          </a:p>
        </p:txBody>
      </p:sp>
    </p:spTree>
    <p:extLst>
      <p:ext uri="{BB962C8B-B14F-4D97-AF65-F5344CB8AC3E}">
        <p14:creationId xmlns:p14="http://schemas.microsoft.com/office/powerpoint/2010/main" val="18183435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3)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Attribuer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Ressources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*Dans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ce plan, créez une Règle d'affectation des ressources (Resource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assignment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*Ciblez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vos volumes EBS en utilisant leur ID, ou mieux, un Tag commun (par exemple,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-ETL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*AWS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Backup se chargera alors de créer des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snapshots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EBS complets et cohérents à la fréquence demandée.</a:t>
            </a: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5888"/>
            <a:ext cx="12117491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8234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57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5367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Configuration des Alarmes Critiques (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Alarming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alarmes vous notifient lorsque les métriques dépassent un seuil critique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C'est le cœur de la surveillance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UcPeriod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Alarme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Disque Plein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- Agent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CWAgent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1) Dans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CloudWatch,cliquez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sur Alarmes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2) Cliquez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sur Créer une alarme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3) Spécifiez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métrique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*Espace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 Noms :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CWAgent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*Métrique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disk_used_percent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(recherchez l'ID de votre instance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4) Définissez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Seuil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*Seuil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statique : Supérieur à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85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*Périodes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1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heure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5)Action 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  Configurez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une action SNS (Simple Notification Service) pour envoyer une notification à votre e-mail ou à un outil de communication (comme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Slack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ou Teams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128769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58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3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14805</TotalTime>
  <Words>2640</Words>
  <Application>Microsoft Office PowerPoint</Application>
  <PresentationFormat>Grand écran</PresentationFormat>
  <Paragraphs>252</Paragraphs>
  <Slides>104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104</vt:i4>
      </vt:variant>
    </vt:vector>
  </HeadingPairs>
  <TitlesOfParts>
    <vt:vector size="108" baseType="lpstr">
      <vt:lpstr>Arial</vt:lpstr>
      <vt:lpstr>Trebuchet MS</vt:lpstr>
      <vt:lpstr>Wingdings 3</vt:lpstr>
      <vt:lpstr>Facette</vt:lpstr>
      <vt:lpstr>Construisez et testez une infrastructure de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154</cp:revision>
  <dcterms:created xsi:type="dcterms:W3CDTF">2025-09-26T16:01:26Z</dcterms:created>
  <dcterms:modified xsi:type="dcterms:W3CDTF">2025-11-05T21:53:27Z</dcterms:modified>
</cp:coreProperties>
</file>