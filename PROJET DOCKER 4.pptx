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95" r:id="rId3"/>
    <p:sldId id="383" r:id="rId4"/>
    <p:sldId id="380" r:id="rId5"/>
    <p:sldId id="381" r:id="rId6"/>
    <p:sldId id="382" r:id="rId7"/>
    <p:sldId id="384" r:id="rId8"/>
    <p:sldId id="385" r:id="rId9"/>
    <p:sldId id="386" r:id="rId10"/>
    <p:sldId id="387" r:id="rId11"/>
    <p:sldId id="388" r:id="rId12"/>
    <p:sldId id="340" r:id="rId13"/>
    <p:sldId id="390" r:id="rId14"/>
    <p:sldId id="391" r:id="rId15"/>
    <p:sldId id="392" r:id="rId16"/>
    <p:sldId id="393" r:id="rId17"/>
    <p:sldId id="394" r:id="rId18"/>
    <p:sldId id="375" r:id="rId19"/>
    <p:sldId id="376" r:id="rId20"/>
    <p:sldId id="257" r:id="rId21"/>
    <p:sldId id="258" r:id="rId22"/>
    <p:sldId id="260" r:id="rId23"/>
    <p:sldId id="261" r:id="rId24"/>
    <p:sldId id="259" r:id="rId25"/>
    <p:sldId id="262" r:id="rId26"/>
    <p:sldId id="264" r:id="rId27"/>
    <p:sldId id="265" r:id="rId28"/>
    <p:sldId id="266" r:id="rId29"/>
    <p:sldId id="267" r:id="rId30"/>
    <p:sldId id="276" r:id="rId31"/>
    <p:sldId id="268" r:id="rId32"/>
    <p:sldId id="269" r:id="rId33"/>
    <p:sldId id="270" r:id="rId34"/>
    <p:sldId id="271" r:id="rId35"/>
    <p:sldId id="277" r:id="rId36"/>
    <p:sldId id="278" r:id="rId37"/>
    <p:sldId id="279" r:id="rId38"/>
    <p:sldId id="272" r:id="rId39"/>
    <p:sldId id="273" r:id="rId40"/>
    <p:sldId id="274" r:id="rId41"/>
    <p:sldId id="275" r:id="rId42"/>
    <p:sldId id="263" r:id="rId43"/>
    <p:sldId id="280" r:id="rId44"/>
    <p:sldId id="281" r:id="rId45"/>
    <p:sldId id="282" r:id="rId46"/>
    <p:sldId id="284" r:id="rId47"/>
    <p:sldId id="283" r:id="rId48"/>
    <p:sldId id="286" r:id="rId49"/>
    <p:sldId id="287" r:id="rId50"/>
    <p:sldId id="289" r:id="rId51"/>
    <p:sldId id="290" r:id="rId52"/>
    <p:sldId id="291" r:id="rId53"/>
    <p:sldId id="292" r:id="rId54"/>
    <p:sldId id="293" r:id="rId55"/>
    <p:sldId id="294" r:id="rId56"/>
    <p:sldId id="295" r:id="rId57"/>
    <p:sldId id="296" r:id="rId58"/>
    <p:sldId id="297" r:id="rId59"/>
    <p:sldId id="298" r:id="rId60"/>
    <p:sldId id="299" r:id="rId61"/>
    <p:sldId id="300" r:id="rId62"/>
    <p:sldId id="301" r:id="rId63"/>
    <p:sldId id="302" r:id="rId64"/>
    <p:sldId id="303" r:id="rId65"/>
    <p:sldId id="308" r:id="rId66"/>
    <p:sldId id="309" r:id="rId67"/>
    <p:sldId id="304" r:id="rId68"/>
    <p:sldId id="305" r:id="rId69"/>
    <p:sldId id="310" r:id="rId70"/>
    <p:sldId id="311" r:id="rId71"/>
    <p:sldId id="312" r:id="rId72"/>
    <p:sldId id="306" r:id="rId73"/>
    <p:sldId id="307" r:id="rId74"/>
    <p:sldId id="313" r:id="rId75"/>
    <p:sldId id="314" r:id="rId76"/>
    <p:sldId id="315" r:id="rId77"/>
    <p:sldId id="316" r:id="rId78"/>
    <p:sldId id="317" r:id="rId79"/>
    <p:sldId id="374" r:id="rId80"/>
    <p:sldId id="318" r:id="rId81"/>
    <p:sldId id="321" r:id="rId82"/>
    <p:sldId id="322" r:id="rId83"/>
    <p:sldId id="323" r:id="rId84"/>
    <p:sldId id="324" r:id="rId85"/>
    <p:sldId id="319" r:id="rId86"/>
    <p:sldId id="325" r:id="rId87"/>
    <p:sldId id="326" r:id="rId88"/>
    <p:sldId id="327" r:id="rId89"/>
    <p:sldId id="328" r:id="rId90"/>
    <p:sldId id="329" r:id="rId91"/>
    <p:sldId id="330" r:id="rId92"/>
    <p:sldId id="320" r:id="rId93"/>
    <p:sldId id="331" r:id="rId94"/>
    <p:sldId id="332" r:id="rId95"/>
    <p:sldId id="337" r:id="rId96"/>
    <p:sldId id="339" r:id="rId97"/>
    <p:sldId id="333" r:id="rId98"/>
    <p:sldId id="334" r:id="rId99"/>
    <p:sldId id="344" r:id="rId100"/>
    <p:sldId id="345" r:id="rId101"/>
    <p:sldId id="335" r:id="rId102"/>
    <p:sldId id="341" r:id="rId103"/>
    <p:sldId id="342" r:id="rId104"/>
    <p:sldId id="343" r:id="rId105"/>
    <p:sldId id="353" r:id="rId106"/>
    <p:sldId id="354" r:id="rId107"/>
    <p:sldId id="336" r:id="rId108"/>
    <p:sldId id="346" r:id="rId109"/>
    <p:sldId id="347" r:id="rId110"/>
    <p:sldId id="352" r:id="rId111"/>
    <p:sldId id="348" r:id="rId112"/>
    <p:sldId id="377" r:id="rId113"/>
    <p:sldId id="378" r:id="rId114"/>
    <p:sldId id="379" r:id="rId1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85" autoAdjust="0"/>
    <p:restoredTop sz="94660"/>
  </p:normalViewPr>
  <p:slideViewPr>
    <p:cSldViewPr snapToGrid="0">
      <p:cViewPr varScale="1">
        <p:scale>
          <a:sx n="73" d="100"/>
          <a:sy n="73" d="100"/>
        </p:scale>
        <p:origin x="58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smtClean="0"/>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42A54C80-263E-416B-A8E0-580EDEADCBDC}"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dongmofr2000/migration_mongodb_python"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7.xml"/><Relationship Id="rId4" Type="http://schemas.openxmlformats.org/officeDocument/2006/relationships/image" Target="../media/image9.tmp"/></Relationships>
</file>

<file path=ppt/slides/_rels/slide58.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hyperlink" Target="https://www.mongodb.com/products/compass" TargetMode="Externa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9.tmp"/><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40.tmp"/><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hyperlink" Target="https://github.com/dongmofr2000/migration_mongodb_python/blob/main/auth_script.py" TargetMode="Externa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07067" y="1606731"/>
            <a:ext cx="7766936" cy="2444105"/>
          </a:xfrm>
        </p:spPr>
        <p:txBody>
          <a:bodyPr/>
          <a:lstStyle/>
          <a:p>
            <a:r>
              <a:rPr lang="fr-FR" dirty="0"/>
              <a:t>Migrez des données médicales à l'aide du </a:t>
            </a:r>
            <a:r>
              <a:rPr lang="fr-FR" dirty="0" err="1"/>
              <a:t>NoSQL</a:t>
            </a:r>
            <a:endParaRPr lang="fr-FR" dirty="0"/>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436012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9897" y="757646"/>
            <a:ext cx="8334103" cy="2585323"/>
          </a:xfrm>
          <a:prstGeom prst="rect">
            <a:avLst/>
          </a:prstGeom>
        </p:spPr>
        <p:txBody>
          <a:bodyPr wrap="square">
            <a:spAutoFit/>
          </a:bodyPr>
          <a:lstStyle/>
          <a:p>
            <a:r>
              <a:rPr lang="fr-FR" dirty="0"/>
              <a:t>https://github.com/dongmofr2000/migration_mongodb_python</a:t>
            </a:r>
          </a:p>
          <a:p>
            <a:endParaRPr lang="fr-FR" dirty="0"/>
          </a:p>
          <a:p>
            <a:r>
              <a:rPr lang="fr-FR" dirty="0"/>
              <a:t>Lien pour tous les scripts </a:t>
            </a:r>
          </a:p>
          <a:p>
            <a:endParaRPr lang="fr-FR" dirty="0"/>
          </a:p>
          <a:p>
            <a:endParaRPr lang="fr-FR" dirty="0"/>
          </a:p>
          <a:p>
            <a:endParaRPr lang="fr-FR" dirty="0"/>
          </a:p>
          <a:p>
            <a:r>
              <a:rPr lang="fr-FR" dirty="0"/>
              <a:t>Lien pour exécuter les scripts dans le </a:t>
            </a:r>
            <a:r>
              <a:rPr lang="fr-FR" dirty="0" err="1"/>
              <a:t>github</a:t>
            </a:r>
            <a:r>
              <a:rPr lang="fr-FR" dirty="0"/>
              <a:t> </a:t>
            </a:r>
          </a:p>
          <a:p>
            <a:endParaRPr lang="fr-FR" dirty="0"/>
          </a:p>
          <a:p>
            <a:r>
              <a:rPr lang="fr-FR" dirty="0"/>
              <a:t>https://github.dev/dongmofr2000/migration_mongodb_python</a:t>
            </a:r>
          </a:p>
        </p:txBody>
      </p:sp>
    </p:spTree>
    <p:extLst>
      <p:ext uri="{BB962C8B-B14F-4D97-AF65-F5344CB8AC3E}">
        <p14:creationId xmlns:p14="http://schemas.microsoft.com/office/powerpoint/2010/main" val="3795902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1140810" cy="523220"/>
          </a:xfrm>
          <a:prstGeom prst="rect">
            <a:avLst/>
          </a:prstGeom>
        </p:spPr>
        <p:txBody>
          <a:bodyPr wrap="square">
            <a:spAutoFit/>
          </a:bodyPr>
          <a:lstStyle/>
          <a:p>
            <a:r>
              <a:rPr lang="fr-FR" sz="2800" dirty="0"/>
              <a:t>schématise le fonctionnement du programme</a:t>
            </a:r>
          </a:p>
        </p:txBody>
      </p:sp>
    </p:spTree>
    <p:extLst>
      <p:ext uri="{BB962C8B-B14F-4D97-AF65-F5344CB8AC3E}">
        <p14:creationId xmlns:p14="http://schemas.microsoft.com/office/powerpoint/2010/main" val="4001935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687219" cy="3734321"/>
          </a:xfrm>
          <a:prstGeom prst="rect">
            <a:avLst/>
          </a:prstGeom>
        </p:spPr>
      </p:pic>
    </p:spTree>
    <p:extLst>
      <p:ext uri="{BB962C8B-B14F-4D97-AF65-F5344CB8AC3E}">
        <p14:creationId xmlns:p14="http://schemas.microsoft.com/office/powerpoint/2010/main" val="2403618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930" y="152134"/>
            <a:ext cx="4820323" cy="3810532"/>
          </a:xfrm>
          <a:prstGeom prst="rect">
            <a:avLst/>
          </a:prstGeom>
        </p:spPr>
      </p:pic>
    </p:spTree>
    <p:extLst>
      <p:ext uri="{BB962C8B-B14F-4D97-AF65-F5344CB8AC3E}">
        <p14:creationId xmlns:p14="http://schemas.microsoft.com/office/powerpoint/2010/main" val="2876313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103" y="193632"/>
            <a:ext cx="5106113" cy="3858163"/>
          </a:xfrm>
          <a:prstGeom prst="rect">
            <a:avLst/>
          </a:prstGeom>
        </p:spPr>
      </p:pic>
    </p:spTree>
    <p:extLst>
      <p:ext uri="{BB962C8B-B14F-4D97-AF65-F5344CB8AC3E}">
        <p14:creationId xmlns:p14="http://schemas.microsoft.com/office/powerpoint/2010/main" val="2090402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1440"/>
            <a:ext cx="11807660" cy="584775"/>
          </a:xfrm>
          <a:prstGeom prst="rect">
            <a:avLst/>
          </a:prstGeom>
        </p:spPr>
        <p:txBody>
          <a:bodyPr wrap="square">
            <a:spAutoFit/>
          </a:bodyPr>
          <a:lstStyle/>
          <a:p>
            <a:r>
              <a:rPr lang="fr-FR" sz="3200" dirty="0" smtClean="0"/>
              <a:t>Justification de </a:t>
            </a:r>
            <a:r>
              <a:rPr lang="fr-FR" sz="3200" dirty="0"/>
              <a:t>l'utilité de chaque étape du projet</a:t>
            </a:r>
          </a:p>
        </p:txBody>
      </p:sp>
    </p:spTree>
    <p:extLst>
      <p:ext uri="{BB962C8B-B14F-4D97-AF65-F5344CB8AC3E}">
        <p14:creationId xmlns:p14="http://schemas.microsoft.com/office/powerpoint/2010/main" val="1813419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693319"/>
          </a:xfrm>
          <a:prstGeom prst="rect">
            <a:avLst/>
          </a:prstGeom>
        </p:spPr>
        <p:txBody>
          <a:bodyPr wrap="square">
            <a:spAutoFit/>
          </a:bodyPr>
          <a:lstStyle/>
          <a:p>
            <a:r>
              <a:rPr lang="fr-FR" dirty="0"/>
              <a:t>. docker-</a:t>
            </a:r>
            <a:r>
              <a:rPr lang="fr-FR" dirty="0" err="1"/>
              <a:t>compose.yml</a:t>
            </a:r>
            <a:r>
              <a:rPr lang="fr-FR" dirty="0"/>
              <a:t> : Le chef d'orchestre</a:t>
            </a:r>
          </a:p>
          <a:p>
            <a:endParaRPr lang="fr-FR" dirty="0"/>
          </a:p>
          <a:p>
            <a:r>
              <a:rPr lang="fr-FR" dirty="0"/>
              <a:t>L'utilité principale de docker-</a:t>
            </a:r>
            <a:r>
              <a:rPr lang="fr-FR" dirty="0" err="1"/>
              <a:t>compose.yml</a:t>
            </a:r>
            <a:r>
              <a:rPr lang="fr-FR" dirty="0"/>
              <a:t> est d'orchestrer l'ensemble de votre application. C'est le plan directeur qui définit tous les services nécessaires au fonctionnement de votre projet, en l'occurrence, votre application Python et une base de données </a:t>
            </a:r>
            <a:r>
              <a:rPr lang="fr-FR" dirty="0" err="1"/>
              <a:t>MongoDB</a:t>
            </a:r>
            <a:r>
              <a:rPr lang="fr-FR" dirty="0"/>
              <a:t>.</a:t>
            </a:r>
          </a:p>
          <a:p>
            <a:endParaRPr lang="fr-FR" dirty="0"/>
          </a:p>
          <a:p>
            <a:r>
              <a:rPr lang="fr-FR" dirty="0"/>
              <a:t>    Gestion des services multiples : Il vous permet de démarrer et d'arrêter la base de données et l'application d'un coup, avec une seule commande.</a:t>
            </a:r>
          </a:p>
          <a:p>
            <a:endParaRPr lang="fr-FR" dirty="0"/>
          </a:p>
          <a:p>
            <a:r>
              <a:rPr lang="fr-FR" dirty="0"/>
              <a:t>    Portabilité : Grâce à ce fichier, votre projet est "portable". N'importe qui peut le télécharger, et avec une seule commande, tout sera configuré et fonctionnel, sans se soucier des dépendances système ou des configurations de la base de données.</a:t>
            </a:r>
          </a:p>
        </p:txBody>
      </p:sp>
    </p:spTree>
    <p:extLst>
      <p:ext uri="{BB962C8B-B14F-4D97-AF65-F5344CB8AC3E}">
        <p14:creationId xmlns:p14="http://schemas.microsoft.com/office/powerpoint/2010/main" val="1984119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693319"/>
          </a:xfrm>
          <a:prstGeom prst="rect">
            <a:avLst/>
          </a:prstGeom>
        </p:spPr>
        <p:txBody>
          <a:bodyPr wrap="square">
            <a:spAutoFit/>
          </a:bodyPr>
          <a:lstStyle/>
          <a:p>
            <a:r>
              <a:rPr lang="fr-FR" dirty="0" err="1"/>
              <a:t>Dockerfile</a:t>
            </a:r>
            <a:r>
              <a:rPr lang="fr-FR" dirty="0"/>
              <a:t> : La recette de l'application</a:t>
            </a:r>
          </a:p>
          <a:p>
            <a:endParaRPr lang="fr-FR" dirty="0"/>
          </a:p>
          <a:p>
            <a:r>
              <a:rPr lang="fr-FR" dirty="0"/>
              <a:t>Le </a:t>
            </a:r>
            <a:r>
              <a:rPr lang="fr-FR" dirty="0" err="1"/>
              <a:t>Dockerfile</a:t>
            </a:r>
            <a:r>
              <a:rPr lang="fr-FR" dirty="0"/>
              <a:t> est la "recette" pour construire l'environnement de votre application Python. Son utilité est de garantir que l'application s'exécute de la même manière, partout.</a:t>
            </a:r>
          </a:p>
          <a:p>
            <a:endParaRPr lang="fr-FR" dirty="0"/>
          </a:p>
          <a:p>
            <a:r>
              <a:rPr lang="fr-FR" dirty="0"/>
              <a:t>    Environnement isolé et reproductible : Il crée un environnement autonome et isolé. Ainsi, les problèmes de dépendance (du type "ça marche sur mon ordinateur, mais pas sur le vôtre") sont éliminés.</a:t>
            </a:r>
          </a:p>
          <a:p>
            <a:endParaRPr lang="fr-FR" dirty="0"/>
          </a:p>
          <a:p>
            <a:r>
              <a:rPr lang="fr-FR" dirty="0"/>
              <a:t>    Gestion des dépendances : Il s'assure que toutes les bibliothèques Python nécessaires (</a:t>
            </a:r>
            <a:r>
              <a:rPr lang="fr-FR" dirty="0" err="1"/>
              <a:t>pymongo</a:t>
            </a:r>
            <a:r>
              <a:rPr lang="fr-FR" dirty="0"/>
              <a:t>, etc.) sont installées correctement avant le lancement de votre script, résolvant ainsi les erreurs de </a:t>
            </a:r>
            <a:r>
              <a:rPr lang="fr-FR" dirty="0" err="1"/>
              <a:t>ModuleNotFoundError</a:t>
            </a:r>
            <a:r>
              <a:rPr lang="fr-FR" dirty="0"/>
              <a:t>.</a:t>
            </a:r>
          </a:p>
        </p:txBody>
      </p:sp>
    </p:spTree>
    <p:extLst>
      <p:ext uri="{BB962C8B-B14F-4D97-AF65-F5344CB8AC3E}">
        <p14:creationId xmlns:p14="http://schemas.microsoft.com/office/powerpoint/2010/main" val="2355477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139321"/>
          </a:xfrm>
          <a:prstGeom prst="rect">
            <a:avLst/>
          </a:prstGeom>
        </p:spPr>
        <p:txBody>
          <a:bodyPr wrap="square">
            <a:spAutoFit/>
          </a:bodyPr>
          <a:lstStyle/>
          <a:p>
            <a:r>
              <a:rPr lang="fr-FR" dirty="0"/>
              <a:t>run_all.sh : L'exécuteur de tâches</a:t>
            </a:r>
          </a:p>
          <a:p>
            <a:endParaRPr lang="fr-FR" dirty="0"/>
          </a:p>
          <a:p>
            <a:r>
              <a:rPr lang="fr-FR" dirty="0"/>
              <a:t>Ce script </a:t>
            </a:r>
            <a:r>
              <a:rPr lang="fr-FR" dirty="0" err="1"/>
              <a:t>Bash</a:t>
            </a:r>
            <a:r>
              <a:rPr lang="fr-FR" dirty="0"/>
              <a:t> est le moteur d'exécution de votre conteneur. Il est responsable de l'automatisation du lancement de vos scripts Python, dans le bon ordre.</a:t>
            </a:r>
          </a:p>
          <a:p>
            <a:endParaRPr lang="fr-FR" dirty="0"/>
          </a:p>
          <a:p>
            <a:r>
              <a:rPr lang="fr-FR" dirty="0"/>
              <a:t>    Orchestration des scripts : Il s'assure que chaque script est exécuté après le précédent, évitant ainsi les erreurs de dépendance entre les scripts.</a:t>
            </a:r>
          </a:p>
          <a:p>
            <a:endParaRPr lang="fr-FR" dirty="0"/>
          </a:p>
          <a:p>
            <a:r>
              <a:rPr lang="fr-FR" dirty="0"/>
              <a:t>    Automatisation : Une fois le conteneur démarré, le script se lance et exécute toutes les tâches pour vous. Vous n'avez pas besoin d'entrer plusieurs commandes manuellement</a:t>
            </a:r>
          </a:p>
        </p:txBody>
      </p:sp>
    </p:spTree>
    <p:extLst>
      <p:ext uri="{BB962C8B-B14F-4D97-AF65-F5344CB8AC3E}">
        <p14:creationId xmlns:p14="http://schemas.microsoft.com/office/powerpoint/2010/main" val="1848593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039497" cy="6186309"/>
          </a:xfrm>
          <a:prstGeom prst="rect">
            <a:avLst/>
          </a:prstGeom>
        </p:spPr>
        <p:txBody>
          <a:bodyPr wrap="square">
            <a:spAutoFit/>
          </a:bodyPr>
          <a:lstStyle/>
          <a:p>
            <a:r>
              <a:rPr lang="fr-FR" dirty="0"/>
              <a:t>Les scripts Python : Les tâches à accomplir</a:t>
            </a:r>
          </a:p>
          <a:p>
            <a:endParaRPr lang="fr-FR" dirty="0"/>
          </a:p>
          <a:p>
            <a:r>
              <a:rPr lang="fr-FR" dirty="0"/>
              <a:t>Chaque script Python a un rôle unique dans le processus de migration.</a:t>
            </a:r>
          </a:p>
          <a:p>
            <a:endParaRPr lang="fr-FR" dirty="0"/>
          </a:p>
          <a:p>
            <a:r>
              <a:rPr lang="fr-FR" dirty="0"/>
              <a:t>    import_csv.py : La collecte de données.</a:t>
            </a:r>
          </a:p>
          <a:p>
            <a:r>
              <a:rPr lang="fr-FR" dirty="0"/>
              <a:t>    Son utilité est de lire et d'importer les données brutes depuis un fichier CSV. C'est la première étape du processus de migration.</a:t>
            </a:r>
          </a:p>
          <a:p>
            <a:endParaRPr lang="fr-FR" dirty="0"/>
          </a:p>
          <a:p>
            <a:r>
              <a:rPr lang="fr-FR" dirty="0"/>
              <a:t>    migration.py : Le traitement et le stockage des données.</a:t>
            </a:r>
          </a:p>
          <a:p>
            <a:r>
              <a:rPr lang="fr-FR" dirty="0"/>
              <a:t>    C'est le cœur de la migration. Son utilité est de prendre les données brutes, de les traiter pour qu'elles correspondent au schéma de la base de données </a:t>
            </a:r>
            <a:r>
              <a:rPr lang="fr-FR" dirty="0" err="1"/>
              <a:t>NoSQL</a:t>
            </a:r>
            <a:r>
              <a:rPr lang="fr-FR" dirty="0"/>
              <a:t>, puis de les insérer dans votre base de données </a:t>
            </a:r>
            <a:r>
              <a:rPr lang="fr-FR" dirty="0" err="1"/>
              <a:t>MongoDB</a:t>
            </a:r>
            <a:r>
              <a:rPr lang="fr-FR" dirty="0"/>
              <a:t>.</a:t>
            </a:r>
          </a:p>
          <a:p>
            <a:endParaRPr lang="fr-FR" dirty="0"/>
          </a:p>
          <a:p>
            <a:r>
              <a:rPr lang="fr-FR" dirty="0"/>
              <a:t>    test_integrity.py : La validation de la migration.</a:t>
            </a:r>
          </a:p>
          <a:p>
            <a:r>
              <a:rPr lang="fr-FR" dirty="0"/>
              <a:t>    Son utilité est de vérifier que la migration s'est déroulée sans erreur. Ce script s'assure que les données dans la base de données sont complètes et correctes, ce qui est crucial pour la qualité et la fiabilité de la migration.</a:t>
            </a:r>
          </a:p>
          <a:p>
            <a:endParaRPr lang="fr-FR" dirty="0"/>
          </a:p>
          <a:p>
            <a:r>
              <a:rPr lang="fr-FR" dirty="0"/>
              <a:t>    auth_management_script.py : La gestion des utilisateurs.</a:t>
            </a:r>
          </a:p>
          <a:p>
            <a:r>
              <a:rPr lang="fr-FR" dirty="0"/>
              <a:t>    Ce script est le point d'entrée pour la gestion des utilisateurs et des rôles. Son utilité est de fournir les fonctionnalités nécessaires pour créer et gérer les comptes utilisateurs.</a:t>
            </a:r>
          </a:p>
        </p:txBody>
      </p:sp>
    </p:spTree>
    <p:extLst>
      <p:ext uri="{BB962C8B-B14F-4D97-AF65-F5344CB8AC3E}">
        <p14:creationId xmlns:p14="http://schemas.microsoft.com/office/powerpoint/2010/main" val="3965631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829" y="522514"/>
            <a:ext cx="8556171" cy="2862322"/>
          </a:xfrm>
          <a:prstGeom prst="rect">
            <a:avLst/>
          </a:prstGeom>
        </p:spPr>
        <p:txBody>
          <a:bodyPr wrap="square">
            <a:spAutoFit/>
          </a:bodyPr>
          <a:lstStyle/>
          <a:p>
            <a:r>
              <a:rPr lang="fr-FR" dirty="0">
                <a:hlinkClick r:id="rId2"/>
              </a:rPr>
              <a:t>https://</a:t>
            </a:r>
            <a:r>
              <a:rPr lang="fr-FR" dirty="0" smtClean="0">
                <a:hlinkClick r:id="rId2"/>
              </a:rPr>
              <a:t>github.com/dongmofr2000/migration_mongodb_python</a:t>
            </a:r>
            <a:endParaRPr lang="fr-FR" dirty="0" smtClean="0"/>
          </a:p>
          <a:p>
            <a:endParaRPr lang="fr-FR" dirty="0"/>
          </a:p>
          <a:p>
            <a:r>
              <a:rPr lang="fr-FR" dirty="0" smtClean="0"/>
              <a:t>Lien pour tous les scripts </a:t>
            </a:r>
            <a:endParaRPr lang="fr-FR" dirty="0"/>
          </a:p>
          <a:p>
            <a:endParaRPr lang="fr-FR" dirty="0" smtClean="0"/>
          </a:p>
          <a:p>
            <a:endParaRPr lang="fr-FR" dirty="0"/>
          </a:p>
          <a:p>
            <a:endParaRPr lang="fr-FR" dirty="0" smtClean="0"/>
          </a:p>
          <a:p>
            <a:r>
              <a:rPr lang="fr-FR" dirty="0" smtClean="0"/>
              <a:t>Lien pour exécuter les scripts dans le </a:t>
            </a:r>
            <a:r>
              <a:rPr lang="fr-FR" dirty="0" err="1"/>
              <a:t>g</a:t>
            </a:r>
            <a:r>
              <a:rPr lang="fr-FR" dirty="0" err="1" smtClean="0"/>
              <a:t>ithub</a:t>
            </a:r>
            <a:r>
              <a:rPr lang="fr-FR" dirty="0" smtClean="0"/>
              <a:t> </a:t>
            </a:r>
          </a:p>
          <a:p>
            <a:endParaRPr lang="fr-FR" dirty="0" smtClean="0"/>
          </a:p>
          <a:p>
            <a:r>
              <a:rPr lang="fr-FR" dirty="0" smtClean="0"/>
              <a:t>https</a:t>
            </a:r>
            <a:r>
              <a:rPr lang="fr-FR" dirty="0"/>
              <a:t>://github.dev/dongmofr2000/migration_mongodb_python</a:t>
            </a:r>
          </a:p>
          <a:p>
            <a:endParaRPr lang="fr-FR" dirty="0"/>
          </a:p>
        </p:txBody>
      </p:sp>
    </p:spTree>
    <p:extLst>
      <p:ext uri="{BB962C8B-B14F-4D97-AF65-F5344CB8AC3E}">
        <p14:creationId xmlns:p14="http://schemas.microsoft.com/office/powerpoint/2010/main" val="367656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6" y="431074"/>
            <a:ext cx="8752114" cy="1200329"/>
          </a:xfrm>
          <a:prstGeom prst="rect">
            <a:avLst/>
          </a:prstGeom>
        </p:spPr>
        <p:txBody>
          <a:bodyPr wrap="square">
            <a:spAutoFit/>
          </a:bodyPr>
          <a:lstStyle/>
          <a:p>
            <a:r>
              <a:rPr lang="fr-FR" dirty="0"/>
              <a:t>Schéma Relationnel pour la base de données healthcare.csv</a:t>
            </a:r>
          </a:p>
          <a:p>
            <a:endParaRPr lang="fr-FR" dirty="0"/>
          </a:p>
          <a:p>
            <a:r>
              <a:rPr lang="fr-FR" dirty="0"/>
              <a:t>Ce schéma est basé sur une modélisation entité-relation, où les données sont organisées en tables.</a:t>
            </a:r>
          </a:p>
        </p:txBody>
      </p:sp>
    </p:spTree>
    <p:extLst>
      <p:ext uri="{BB962C8B-B14F-4D97-AF65-F5344CB8AC3E}">
        <p14:creationId xmlns:p14="http://schemas.microsoft.com/office/powerpoint/2010/main" val="111479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096000" cy="6463308"/>
          </a:xfrm>
          <a:prstGeom prst="rect">
            <a:avLst/>
          </a:prstGeom>
        </p:spPr>
        <p:txBody>
          <a:bodyPr>
            <a:spAutoFit/>
          </a:bodyPr>
          <a:lstStyle/>
          <a:p>
            <a:r>
              <a:rPr lang="fr-FR" dirty="0"/>
              <a:t>1. Table Patients</a:t>
            </a:r>
          </a:p>
          <a:p>
            <a:endParaRPr lang="fr-FR" dirty="0"/>
          </a:p>
          <a:p>
            <a:r>
              <a:rPr lang="fr-FR" dirty="0"/>
              <a:t>Cette table stocke les informations démographiques de chaque patient.</a:t>
            </a:r>
          </a:p>
          <a:p>
            <a:endParaRPr lang="fr-FR" dirty="0"/>
          </a:p>
          <a:p>
            <a:r>
              <a:rPr lang="fr-FR" dirty="0"/>
              <a:t>    </a:t>
            </a:r>
            <a:r>
              <a:rPr lang="fr-FR" dirty="0" err="1"/>
              <a:t>patient_id</a:t>
            </a:r>
            <a:r>
              <a:rPr lang="fr-FR" dirty="0"/>
              <a:t> (INTEGER, PRIMARY KEY)</a:t>
            </a:r>
          </a:p>
          <a:p>
            <a:endParaRPr lang="fr-FR" dirty="0"/>
          </a:p>
          <a:p>
            <a:r>
              <a:rPr lang="fr-FR" dirty="0"/>
              <a:t>    </a:t>
            </a:r>
            <a:r>
              <a:rPr lang="fr-FR" dirty="0" err="1"/>
              <a:t>age</a:t>
            </a:r>
            <a:r>
              <a:rPr lang="fr-FR" dirty="0"/>
              <a:t> (INTEGER)</a:t>
            </a:r>
          </a:p>
          <a:p>
            <a:endParaRPr lang="fr-FR" dirty="0"/>
          </a:p>
          <a:p>
            <a:r>
              <a:rPr lang="fr-FR" dirty="0"/>
              <a:t>    </a:t>
            </a:r>
            <a:r>
              <a:rPr lang="fr-FR" dirty="0" err="1"/>
              <a:t>sex</a:t>
            </a:r>
            <a:r>
              <a:rPr lang="fr-FR" dirty="0"/>
              <a:t> (VARCHAR</a:t>
            </a:r>
            <a:r>
              <a:rPr lang="fr-FR" dirty="0" smtClean="0"/>
              <a:t>)</a:t>
            </a:r>
          </a:p>
          <a:p>
            <a:endParaRPr lang="fr-FR" dirty="0"/>
          </a:p>
          <a:p>
            <a:endParaRPr lang="fr-FR" dirty="0" smtClean="0"/>
          </a:p>
          <a:p>
            <a:endParaRPr lang="fr-FR" dirty="0"/>
          </a:p>
          <a:p>
            <a:endParaRPr lang="fr-FR" dirty="0"/>
          </a:p>
          <a:p>
            <a:r>
              <a:rPr lang="fr-FR" dirty="0"/>
              <a:t>2. Table </a:t>
            </a:r>
            <a:r>
              <a:rPr lang="fr-FR" dirty="0" err="1"/>
              <a:t>Doctors</a:t>
            </a:r>
            <a:endParaRPr lang="fr-FR" dirty="0"/>
          </a:p>
          <a:p>
            <a:endParaRPr lang="fr-FR" dirty="0"/>
          </a:p>
          <a:p>
            <a:r>
              <a:rPr lang="fr-FR" dirty="0"/>
              <a:t>Cette table stocke les informations sur les médecins.</a:t>
            </a:r>
          </a:p>
          <a:p>
            <a:endParaRPr lang="fr-FR" dirty="0"/>
          </a:p>
          <a:p>
            <a:r>
              <a:rPr lang="fr-FR" dirty="0"/>
              <a:t>    </a:t>
            </a:r>
            <a:r>
              <a:rPr lang="fr-FR" dirty="0" err="1"/>
              <a:t>doctor_id</a:t>
            </a:r>
            <a:r>
              <a:rPr lang="fr-FR" dirty="0"/>
              <a:t> (INTEGER, PRIMARY KEY)</a:t>
            </a:r>
          </a:p>
          <a:p>
            <a:endParaRPr lang="fr-FR" dirty="0"/>
          </a:p>
          <a:p>
            <a:r>
              <a:rPr lang="fr-FR" dirty="0"/>
              <a:t>    </a:t>
            </a:r>
            <a:r>
              <a:rPr lang="fr-FR" dirty="0" err="1"/>
              <a:t>name</a:t>
            </a:r>
            <a:r>
              <a:rPr lang="fr-FR" dirty="0"/>
              <a:t> (VARCHAR)</a:t>
            </a:r>
          </a:p>
          <a:p>
            <a:endParaRPr lang="fr-FR" dirty="0"/>
          </a:p>
          <a:p>
            <a:r>
              <a:rPr lang="fr-FR" dirty="0"/>
              <a:t>    </a:t>
            </a:r>
            <a:r>
              <a:rPr lang="fr-FR" dirty="0" err="1"/>
              <a:t>specialty</a:t>
            </a:r>
            <a:r>
              <a:rPr lang="fr-FR" dirty="0"/>
              <a:t> (VARCHAR)</a:t>
            </a:r>
          </a:p>
        </p:txBody>
      </p:sp>
    </p:spTree>
    <p:extLst>
      <p:ext uri="{BB962C8B-B14F-4D97-AF65-F5344CB8AC3E}">
        <p14:creationId xmlns:p14="http://schemas.microsoft.com/office/powerpoint/2010/main" val="619942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240" y="297155"/>
            <a:ext cx="6096000" cy="2031325"/>
          </a:xfrm>
          <a:prstGeom prst="rect">
            <a:avLst/>
          </a:prstGeom>
        </p:spPr>
        <p:txBody>
          <a:bodyPr>
            <a:spAutoFit/>
          </a:bodyPr>
          <a:lstStyle/>
          <a:p>
            <a:r>
              <a:rPr lang="fr-FR" dirty="0"/>
              <a:t>3. Table </a:t>
            </a:r>
            <a:r>
              <a:rPr lang="fr-FR" dirty="0" err="1"/>
              <a:t>Hospitals</a:t>
            </a:r>
            <a:endParaRPr lang="fr-FR" dirty="0"/>
          </a:p>
          <a:p>
            <a:endParaRPr lang="fr-FR" dirty="0"/>
          </a:p>
          <a:p>
            <a:r>
              <a:rPr lang="fr-FR" dirty="0"/>
              <a:t>Cette table stocke les informations sur les hôpitaux.</a:t>
            </a:r>
          </a:p>
          <a:p>
            <a:endParaRPr lang="fr-FR" dirty="0"/>
          </a:p>
          <a:p>
            <a:r>
              <a:rPr lang="fr-FR" dirty="0"/>
              <a:t>    </a:t>
            </a:r>
            <a:r>
              <a:rPr lang="fr-FR" dirty="0" err="1"/>
              <a:t>hospital_id</a:t>
            </a:r>
            <a:r>
              <a:rPr lang="fr-FR" dirty="0"/>
              <a:t> (INTEGER, PRIMARY KEY)</a:t>
            </a:r>
          </a:p>
          <a:p>
            <a:endParaRPr lang="fr-FR" dirty="0"/>
          </a:p>
          <a:p>
            <a:r>
              <a:rPr lang="fr-FR" dirty="0"/>
              <a:t>    </a:t>
            </a:r>
            <a:r>
              <a:rPr lang="fr-FR" dirty="0" err="1"/>
              <a:t>name</a:t>
            </a:r>
            <a:r>
              <a:rPr lang="fr-FR" dirty="0"/>
              <a:t> (VARCHAR)</a:t>
            </a:r>
          </a:p>
        </p:txBody>
      </p:sp>
    </p:spTree>
    <p:extLst>
      <p:ext uri="{BB962C8B-B14F-4D97-AF65-F5344CB8AC3E}">
        <p14:creationId xmlns:p14="http://schemas.microsoft.com/office/powerpoint/2010/main" val="2506897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325497" cy="7848302"/>
          </a:xfrm>
          <a:prstGeom prst="rect">
            <a:avLst/>
          </a:prstGeom>
        </p:spPr>
        <p:txBody>
          <a:bodyPr wrap="square">
            <a:spAutoFit/>
          </a:bodyPr>
          <a:lstStyle/>
          <a:p>
            <a:r>
              <a:rPr lang="fr-FR" dirty="0"/>
              <a:t>4. Table </a:t>
            </a:r>
            <a:r>
              <a:rPr lang="fr-FR" dirty="0" err="1"/>
              <a:t>Visits</a:t>
            </a:r>
            <a:endParaRPr lang="fr-FR" dirty="0"/>
          </a:p>
          <a:p>
            <a:endParaRPr lang="fr-FR" dirty="0"/>
          </a:p>
          <a:p>
            <a:r>
              <a:rPr lang="fr-FR" dirty="0"/>
              <a:t>Cette table est la plus importante ; elle stocke les détails de chaque visite médicale et sert de lien entre les autres tables.</a:t>
            </a:r>
          </a:p>
          <a:p>
            <a:endParaRPr lang="fr-FR" dirty="0"/>
          </a:p>
          <a:p>
            <a:r>
              <a:rPr lang="fr-FR" dirty="0"/>
              <a:t>    </a:t>
            </a:r>
            <a:r>
              <a:rPr lang="fr-FR" dirty="0" err="1"/>
              <a:t>visit_id</a:t>
            </a:r>
            <a:r>
              <a:rPr lang="fr-FR" dirty="0"/>
              <a:t> (INTEGER, PRIMARY KEY)</a:t>
            </a:r>
          </a:p>
          <a:p>
            <a:endParaRPr lang="fr-FR" dirty="0"/>
          </a:p>
          <a:p>
            <a:r>
              <a:rPr lang="fr-FR" dirty="0"/>
              <a:t>    </a:t>
            </a:r>
            <a:r>
              <a:rPr lang="fr-FR" dirty="0" err="1"/>
              <a:t>patient_id</a:t>
            </a:r>
            <a:r>
              <a:rPr lang="fr-FR" dirty="0"/>
              <a:t> (INTEGER, FOREIGN KEY vers </a:t>
            </a:r>
            <a:r>
              <a:rPr lang="fr-FR" dirty="0" err="1"/>
              <a:t>Patients.patient_id</a:t>
            </a:r>
            <a:r>
              <a:rPr lang="fr-FR" dirty="0"/>
              <a:t>)</a:t>
            </a:r>
          </a:p>
          <a:p>
            <a:endParaRPr lang="fr-FR" dirty="0"/>
          </a:p>
          <a:p>
            <a:r>
              <a:rPr lang="fr-FR" dirty="0"/>
              <a:t>    </a:t>
            </a:r>
            <a:r>
              <a:rPr lang="fr-FR" dirty="0" err="1"/>
              <a:t>doctor_id</a:t>
            </a:r>
            <a:r>
              <a:rPr lang="fr-FR" dirty="0"/>
              <a:t> (INTEGER, FOREIGN KEY vers </a:t>
            </a:r>
            <a:r>
              <a:rPr lang="fr-FR" dirty="0" err="1"/>
              <a:t>Doctors.doctor_id</a:t>
            </a:r>
            <a:r>
              <a:rPr lang="fr-FR" dirty="0"/>
              <a:t>)</a:t>
            </a:r>
          </a:p>
          <a:p>
            <a:endParaRPr lang="fr-FR" dirty="0"/>
          </a:p>
          <a:p>
            <a:r>
              <a:rPr lang="fr-FR" dirty="0"/>
              <a:t>    </a:t>
            </a:r>
            <a:r>
              <a:rPr lang="fr-FR" dirty="0" err="1"/>
              <a:t>hospital_id</a:t>
            </a:r>
            <a:r>
              <a:rPr lang="fr-FR" dirty="0"/>
              <a:t> (INTEGER, FOREIGN KEY vers </a:t>
            </a:r>
            <a:r>
              <a:rPr lang="fr-FR" dirty="0" err="1"/>
              <a:t>Hospitals.hospital_id</a:t>
            </a:r>
            <a:r>
              <a:rPr lang="fr-FR" dirty="0"/>
              <a:t>)</a:t>
            </a:r>
          </a:p>
          <a:p>
            <a:endParaRPr lang="fr-FR" dirty="0"/>
          </a:p>
          <a:p>
            <a:r>
              <a:rPr lang="fr-FR" dirty="0"/>
              <a:t>    </a:t>
            </a:r>
            <a:r>
              <a:rPr lang="fr-FR" dirty="0" err="1"/>
              <a:t>visit_date</a:t>
            </a:r>
            <a:r>
              <a:rPr lang="fr-FR" dirty="0"/>
              <a:t> (DATE)</a:t>
            </a:r>
          </a:p>
          <a:p>
            <a:endParaRPr lang="fr-FR" dirty="0"/>
          </a:p>
          <a:p>
            <a:r>
              <a:rPr lang="fr-FR" dirty="0"/>
              <a:t>    </a:t>
            </a:r>
            <a:r>
              <a:rPr lang="fr-FR" dirty="0" err="1"/>
              <a:t>blood_pressure</a:t>
            </a:r>
            <a:r>
              <a:rPr lang="fr-FR" dirty="0"/>
              <a:t> (VARCHAR)</a:t>
            </a:r>
          </a:p>
          <a:p>
            <a:endParaRPr lang="fr-FR" dirty="0"/>
          </a:p>
          <a:p>
            <a:r>
              <a:rPr lang="fr-FR" dirty="0"/>
              <a:t>    </a:t>
            </a:r>
            <a:r>
              <a:rPr lang="fr-FR" dirty="0" err="1"/>
              <a:t>cholesterol</a:t>
            </a:r>
            <a:r>
              <a:rPr lang="fr-FR" dirty="0"/>
              <a:t> (INTEGER)</a:t>
            </a:r>
          </a:p>
          <a:p>
            <a:endParaRPr lang="fr-FR" dirty="0"/>
          </a:p>
          <a:p>
            <a:r>
              <a:rPr lang="fr-FR" dirty="0"/>
              <a:t>    </a:t>
            </a:r>
            <a:r>
              <a:rPr lang="fr-FR" dirty="0" err="1"/>
              <a:t>heart_rate</a:t>
            </a:r>
            <a:r>
              <a:rPr lang="fr-FR" dirty="0"/>
              <a:t> (INTEGER)</a:t>
            </a:r>
          </a:p>
          <a:p>
            <a:endParaRPr lang="fr-FR" dirty="0"/>
          </a:p>
          <a:p>
            <a:r>
              <a:rPr lang="fr-FR" dirty="0"/>
              <a:t>    </a:t>
            </a:r>
            <a:r>
              <a:rPr lang="fr-FR" dirty="0" err="1"/>
              <a:t>medication</a:t>
            </a:r>
            <a:r>
              <a:rPr lang="fr-FR" dirty="0"/>
              <a:t> (VARCHAR)</a:t>
            </a:r>
          </a:p>
          <a:p>
            <a:endParaRPr lang="fr-FR" dirty="0"/>
          </a:p>
          <a:p>
            <a:r>
              <a:rPr lang="fr-FR" dirty="0"/>
              <a:t>    </a:t>
            </a:r>
            <a:r>
              <a:rPr lang="fr-FR" dirty="0" err="1"/>
              <a:t>diagnosis_primary</a:t>
            </a:r>
            <a:r>
              <a:rPr lang="fr-FR" dirty="0"/>
              <a:t> (VARCHAR)</a:t>
            </a:r>
          </a:p>
          <a:p>
            <a:endParaRPr lang="fr-FR" dirty="0"/>
          </a:p>
          <a:p>
            <a:r>
              <a:rPr lang="fr-FR" dirty="0"/>
              <a:t>    </a:t>
            </a:r>
            <a:r>
              <a:rPr lang="fr-FR" dirty="0" err="1"/>
              <a:t>diagnosis_secondary</a:t>
            </a:r>
            <a:r>
              <a:rPr lang="fr-FR" dirty="0"/>
              <a:t> (VARCHAR)</a:t>
            </a:r>
          </a:p>
          <a:p>
            <a:endParaRPr lang="fr-FR" dirty="0"/>
          </a:p>
          <a:p>
            <a:r>
              <a:rPr lang="fr-FR" dirty="0"/>
              <a:t>    notes (TEXT)</a:t>
            </a:r>
          </a:p>
        </p:txBody>
      </p:sp>
    </p:spTree>
    <p:extLst>
      <p:ext uri="{BB962C8B-B14F-4D97-AF65-F5344CB8AC3E}">
        <p14:creationId xmlns:p14="http://schemas.microsoft.com/office/powerpoint/2010/main" val="3719296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096000" cy="4524315"/>
          </a:xfrm>
          <a:prstGeom prst="rect">
            <a:avLst/>
          </a:prstGeom>
        </p:spPr>
        <p:txBody>
          <a:bodyPr>
            <a:spAutoFit/>
          </a:bodyPr>
          <a:lstStyle/>
          <a:p>
            <a:r>
              <a:rPr lang="fr-FR" dirty="0"/>
              <a:t>5. Table </a:t>
            </a:r>
            <a:r>
              <a:rPr lang="fr-FR" dirty="0" err="1"/>
              <a:t>Lab_Results</a:t>
            </a:r>
            <a:endParaRPr lang="fr-FR" dirty="0"/>
          </a:p>
          <a:p>
            <a:endParaRPr lang="fr-FR" dirty="0"/>
          </a:p>
          <a:p>
            <a:r>
              <a:rPr lang="fr-FR" dirty="0"/>
              <a:t>Cette table stocke les résultats de laboratoire, en les liant à la table </a:t>
            </a:r>
            <a:r>
              <a:rPr lang="fr-FR" dirty="0" err="1"/>
              <a:t>Visits</a:t>
            </a:r>
            <a:r>
              <a:rPr lang="fr-FR" dirty="0"/>
              <a:t>.</a:t>
            </a:r>
          </a:p>
          <a:p>
            <a:endParaRPr lang="fr-FR" dirty="0"/>
          </a:p>
          <a:p>
            <a:r>
              <a:rPr lang="fr-FR" dirty="0"/>
              <a:t>    </a:t>
            </a:r>
            <a:r>
              <a:rPr lang="fr-FR" dirty="0" err="1"/>
              <a:t>result_id</a:t>
            </a:r>
            <a:r>
              <a:rPr lang="fr-FR" dirty="0"/>
              <a:t> (INTEGER, PRIMARY KEY)</a:t>
            </a:r>
          </a:p>
          <a:p>
            <a:endParaRPr lang="fr-FR" dirty="0"/>
          </a:p>
          <a:p>
            <a:r>
              <a:rPr lang="fr-FR" dirty="0"/>
              <a:t>    </a:t>
            </a:r>
            <a:r>
              <a:rPr lang="fr-FR" dirty="0" err="1"/>
              <a:t>visit_id</a:t>
            </a:r>
            <a:r>
              <a:rPr lang="fr-FR" dirty="0"/>
              <a:t> (INTEGER, FOREIGN KEY vers </a:t>
            </a:r>
            <a:r>
              <a:rPr lang="fr-FR" dirty="0" err="1"/>
              <a:t>Visits.visit_id</a:t>
            </a:r>
            <a:r>
              <a:rPr lang="fr-FR" dirty="0"/>
              <a:t>)</a:t>
            </a:r>
          </a:p>
          <a:p>
            <a:endParaRPr lang="fr-FR" dirty="0"/>
          </a:p>
          <a:p>
            <a:r>
              <a:rPr lang="fr-FR" dirty="0"/>
              <a:t>    </a:t>
            </a:r>
            <a:r>
              <a:rPr lang="fr-FR" dirty="0" err="1"/>
              <a:t>test_name</a:t>
            </a:r>
            <a:r>
              <a:rPr lang="fr-FR" dirty="0"/>
              <a:t> (VARCHAR)</a:t>
            </a:r>
          </a:p>
          <a:p>
            <a:endParaRPr lang="fr-FR" dirty="0"/>
          </a:p>
          <a:p>
            <a:r>
              <a:rPr lang="fr-FR" dirty="0"/>
              <a:t>    value (FLOAT)</a:t>
            </a:r>
          </a:p>
          <a:p>
            <a:endParaRPr lang="fr-FR" dirty="0"/>
          </a:p>
          <a:p>
            <a:r>
              <a:rPr lang="fr-FR" dirty="0"/>
              <a:t>    unit (VARCHAR)</a:t>
            </a:r>
          </a:p>
          <a:p>
            <a:endParaRPr lang="fr-FR" dirty="0"/>
          </a:p>
          <a:p>
            <a:r>
              <a:rPr lang="fr-FR" dirty="0"/>
              <a:t>    </a:t>
            </a:r>
            <a:r>
              <a:rPr lang="fr-FR" dirty="0" err="1"/>
              <a:t>status</a:t>
            </a:r>
            <a:r>
              <a:rPr lang="fr-FR" dirty="0"/>
              <a:t> (VARCHAR)</a:t>
            </a:r>
          </a:p>
        </p:txBody>
      </p:sp>
    </p:spTree>
    <p:extLst>
      <p:ext uri="{BB962C8B-B14F-4D97-AF65-F5344CB8AC3E}">
        <p14:creationId xmlns:p14="http://schemas.microsoft.com/office/powerpoint/2010/main" val="2202317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4150" y="1119116"/>
            <a:ext cx="9584096" cy="707886"/>
          </a:xfrm>
          <a:prstGeom prst="rect">
            <a:avLst/>
          </a:prstGeom>
        </p:spPr>
        <p:txBody>
          <a:bodyPr wrap="square">
            <a:spAutoFit/>
          </a:bodyPr>
          <a:lstStyle/>
          <a:p>
            <a:r>
              <a:rPr lang="fr-FR" sz="4000" dirty="0"/>
              <a:t>contexte de la mission</a:t>
            </a:r>
          </a:p>
        </p:txBody>
      </p:sp>
    </p:spTree>
    <p:extLst>
      <p:ext uri="{BB962C8B-B14F-4D97-AF65-F5344CB8AC3E}">
        <p14:creationId xmlns:p14="http://schemas.microsoft.com/office/powerpoint/2010/main" val="4199125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194" y="751344"/>
            <a:ext cx="8802806" cy="5078313"/>
          </a:xfrm>
          <a:prstGeom prst="rect">
            <a:avLst/>
          </a:prstGeom>
        </p:spPr>
        <p:txBody>
          <a:bodyPr wrap="square">
            <a:spAutoFit/>
          </a:bodyPr>
          <a:lstStyle/>
          <a:p>
            <a:r>
              <a:rPr lang="fr-FR" dirty="0">
                <a:latin typeface="Times New Roman" panose="02020603050405020304" pitchFamily="18" charset="0"/>
                <a:ea typeface="Times New Roman" panose="02020603050405020304" pitchFamily="18" charset="0"/>
              </a:rPr>
              <a:t>Je suis stagiaire Data </a:t>
            </a:r>
            <a:r>
              <a:rPr lang="fr-FR" dirty="0" err="1">
                <a:latin typeface="Times New Roman" panose="02020603050405020304" pitchFamily="18" charset="0"/>
                <a:ea typeface="Times New Roman" panose="02020603050405020304" pitchFamily="18" charset="0"/>
              </a:rPr>
              <a:t>Engineer</a:t>
            </a:r>
            <a:r>
              <a:rPr lang="fr-FR" dirty="0">
                <a:latin typeface="Times New Roman" panose="02020603050405020304" pitchFamily="18" charset="0"/>
                <a:ea typeface="Times New Roman" panose="02020603050405020304" pitchFamily="18" charset="0"/>
              </a:rPr>
              <a:t> dans l’entreprise </a:t>
            </a:r>
            <a:r>
              <a:rPr lang="fr-FR" dirty="0" err="1">
                <a:latin typeface="Times New Roman" panose="02020603050405020304" pitchFamily="18" charset="0"/>
                <a:ea typeface="Times New Roman" panose="02020603050405020304" pitchFamily="18" charset="0"/>
              </a:rPr>
              <a:t>DataSoluTech</a:t>
            </a:r>
            <a:r>
              <a:rPr lang="fr-FR" dirty="0">
                <a:latin typeface="Times New Roman" panose="02020603050405020304" pitchFamily="18" charset="0"/>
                <a:ea typeface="Times New Roman" panose="02020603050405020304" pitchFamily="18" charset="0"/>
              </a:rPr>
              <a:t> sous la responsabilité de Boris</a:t>
            </a:r>
            <a:r>
              <a:rPr lang="fr-FR" dirty="0" smtClean="0">
                <a:latin typeface="Times New Roman" panose="02020603050405020304" pitchFamily="18" charset="0"/>
                <a:ea typeface="Times New Roman" panose="02020603050405020304" pitchFamily="18" charset="0"/>
              </a:rPr>
              <a:t>, chef </a:t>
            </a:r>
            <a:r>
              <a:rPr lang="fr-FR" dirty="0">
                <a:latin typeface="Times New Roman" panose="02020603050405020304" pitchFamily="18" charset="0"/>
                <a:ea typeface="Times New Roman" panose="02020603050405020304" pitchFamily="18" charset="0"/>
              </a:rPr>
              <a:t>de projet</a:t>
            </a:r>
            <a:r>
              <a:rPr lang="fr-FR" dirty="0" smtClean="0">
                <a:latin typeface="Times New Roman" panose="02020603050405020304" pitchFamily="18" charset="0"/>
                <a:ea typeface="Times New Roman" panose="02020603050405020304" pitchFamily="18" charset="0"/>
              </a:rPr>
              <a:t>.</a:t>
            </a:r>
          </a:p>
          <a:p>
            <a:endParaRPr lang="fr-FR" dirty="0">
              <a:latin typeface="Times New Roman" panose="02020603050405020304" pitchFamily="18" charset="0"/>
              <a:ea typeface="Times New Roman" panose="02020603050405020304" pitchFamily="18" charset="0"/>
            </a:endParaRPr>
          </a:p>
          <a:p>
            <a:r>
              <a:rPr lang="fr-FR" dirty="0" err="1">
                <a:latin typeface="Times New Roman" panose="02020603050405020304" pitchFamily="18" charset="0"/>
                <a:ea typeface="Times New Roman" panose="02020603050405020304" pitchFamily="18" charset="0"/>
              </a:rPr>
              <a:t>DataSoluTech</a:t>
            </a:r>
            <a:r>
              <a:rPr lang="fr-FR" dirty="0">
                <a:latin typeface="Times New Roman" panose="02020603050405020304" pitchFamily="18" charset="0"/>
                <a:ea typeface="Times New Roman" panose="02020603050405020304" pitchFamily="18" charset="0"/>
              </a:rPr>
              <a:t> est spécialisé dans la fourniture de solutions de gestion de données et d'analyse pour tous types d’entreprises</a:t>
            </a:r>
            <a:r>
              <a:rPr lang="fr-FR" dirty="0" smtClean="0">
                <a:latin typeface="Times New Roman" panose="02020603050405020304" pitchFamily="18" charset="0"/>
                <a:ea typeface="Times New Roman" panose="02020603050405020304" pitchFamily="18" charset="0"/>
              </a:rPr>
              <a:t>.</a:t>
            </a:r>
          </a:p>
          <a:p>
            <a:endParaRPr lang="fr-FR" dirty="0">
              <a:latin typeface="Times New Roman" panose="02020603050405020304" pitchFamily="18" charset="0"/>
              <a:ea typeface="Times New Roman" panose="02020603050405020304" pitchFamily="18" charset="0"/>
            </a:endParaRPr>
          </a:p>
          <a:p>
            <a:r>
              <a:rPr lang="fr-FR" dirty="0">
                <a:latin typeface="Times New Roman" panose="02020603050405020304" pitchFamily="18" charset="0"/>
                <a:ea typeface="Times New Roman" panose="02020603050405020304" pitchFamily="18" charset="0"/>
              </a:rPr>
              <a:t> L’entreprise aide ses clients à exploiter leurs données pour améliorer leur prise de décision, optimiser leurs opérations et augmenter leur efficacité</a:t>
            </a:r>
          </a:p>
          <a:p>
            <a:r>
              <a:rPr lang="fr-FR" dirty="0">
                <a:latin typeface="Times New Roman" panose="02020603050405020304" pitchFamily="18" charset="0"/>
                <a:ea typeface="Times New Roman" panose="02020603050405020304" pitchFamily="18" charset="0"/>
              </a:rPr>
              <a:t>La mission donc je suis assigné est un </a:t>
            </a:r>
            <a:r>
              <a:rPr lang="fr-FR" dirty="0" err="1">
                <a:latin typeface="Times New Roman" panose="02020603050405020304" pitchFamily="18" charset="0"/>
                <a:ea typeface="Times New Roman" panose="02020603050405020304" pitchFamily="18" charset="0"/>
              </a:rPr>
              <a:t>dataset</a:t>
            </a:r>
            <a:r>
              <a:rPr lang="fr-FR" dirty="0">
                <a:latin typeface="Times New Roman" panose="02020603050405020304" pitchFamily="18" charset="0"/>
                <a:ea typeface="Times New Roman" panose="02020603050405020304" pitchFamily="18" charset="0"/>
              </a:rPr>
              <a:t> de données médicales de patients d'un de nos clients. Ils commencent à avoir des soucis de </a:t>
            </a:r>
            <a:r>
              <a:rPr lang="fr-FR" dirty="0" err="1">
                <a:latin typeface="Times New Roman" panose="02020603050405020304" pitchFamily="18" charset="0"/>
                <a:ea typeface="Times New Roman" panose="02020603050405020304" pitchFamily="18" charset="0"/>
              </a:rPr>
              <a:t>scalabilité</a:t>
            </a:r>
            <a:r>
              <a:rPr lang="fr-FR" dirty="0">
                <a:latin typeface="Times New Roman" panose="02020603050405020304" pitchFamily="18" charset="0"/>
                <a:ea typeface="Times New Roman" panose="02020603050405020304" pitchFamily="18" charset="0"/>
              </a:rPr>
              <a:t> avec leurs tâches quotidiennes et ont besoin de notre </a:t>
            </a:r>
            <a:r>
              <a:rPr lang="fr-FR" dirty="0" smtClean="0">
                <a:latin typeface="Times New Roman" panose="02020603050405020304" pitchFamily="18" charset="0"/>
                <a:ea typeface="Times New Roman" panose="02020603050405020304" pitchFamily="18" charset="0"/>
              </a:rPr>
              <a:t>aide</a:t>
            </a:r>
          </a:p>
          <a:p>
            <a:endParaRPr lang="fr-FR" dirty="0">
              <a:latin typeface="Times New Roman" panose="02020603050405020304" pitchFamily="18" charset="0"/>
              <a:ea typeface="Times New Roman" panose="02020603050405020304" pitchFamily="18" charset="0"/>
            </a:endParaRPr>
          </a:p>
          <a:p>
            <a:r>
              <a:rPr lang="fr-FR" dirty="0">
                <a:latin typeface="Times New Roman" panose="02020603050405020304" pitchFamily="18" charset="0"/>
                <a:ea typeface="Times New Roman" panose="02020603050405020304" pitchFamily="18" charset="0"/>
              </a:rPr>
              <a:t>Pour les aider à mieux gérer leurs données</a:t>
            </a:r>
            <a:r>
              <a:rPr lang="fr-FR" dirty="0" smtClean="0">
                <a:latin typeface="Times New Roman" panose="02020603050405020304" pitchFamily="18" charset="0"/>
                <a:ea typeface="Times New Roman" panose="02020603050405020304" pitchFamily="18" charset="0"/>
              </a:rPr>
              <a:t>,</a:t>
            </a:r>
          </a:p>
          <a:p>
            <a:r>
              <a:rPr lang="fr-FR" dirty="0" smtClean="0">
                <a:latin typeface="Times New Roman" panose="02020603050405020304" pitchFamily="18" charset="0"/>
                <a:ea typeface="Times New Roman" panose="02020603050405020304" pitchFamily="18" charset="0"/>
              </a:rPr>
              <a:t> </a:t>
            </a:r>
            <a:r>
              <a:rPr lang="fr-FR" dirty="0">
                <a:latin typeface="Times New Roman" panose="02020603050405020304" pitchFamily="18" charset="0"/>
                <a:ea typeface="Times New Roman" panose="02020603050405020304" pitchFamily="18" charset="0"/>
              </a:rPr>
              <a:t>nous leur avons proposé une solution </a:t>
            </a:r>
            <a:r>
              <a:rPr lang="fr-FR" dirty="0" err="1">
                <a:latin typeface="Times New Roman" panose="02020603050405020304" pitchFamily="18" charset="0"/>
                <a:ea typeface="Times New Roman" panose="02020603050405020304" pitchFamily="18" charset="0"/>
              </a:rPr>
              <a:t>Big</a:t>
            </a:r>
            <a:r>
              <a:rPr lang="fr-FR" dirty="0">
                <a:latin typeface="Times New Roman" panose="02020603050405020304" pitchFamily="18" charset="0"/>
                <a:ea typeface="Times New Roman" panose="02020603050405020304" pitchFamily="18" charset="0"/>
              </a:rPr>
              <a:t> Data </a:t>
            </a:r>
            <a:r>
              <a:rPr lang="fr-FR" dirty="0" err="1">
                <a:latin typeface="Times New Roman" panose="02020603050405020304" pitchFamily="18" charset="0"/>
                <a:ea typeface="Times New Roman" panose="02020603050405020304" pitchFamily="18" charset="0"/>
              </a:rPr>
              <a:t>scalable</a:t>
            </a:r>
            <a:r>
              <a:rPr lang="fr-FR" dirty="0">
                <a:latin typeface="Times New Roman" panose="02020603050405020304" pitchFamily="18" charset="0"/>
                <a:ea typeface="Times New Roman" panose="02020603050405020304" pitchFamily="18" charset="0"/>
              </a:rPr>
              <a:t> horizontalement, pour cela nous allons procéder a la migration des données vers </a:t>
            </a:r>
            <a:r>
              <a:rPr lang="fr-FR" dirty="0" err="1">
                <a:latin typeface="Times New Roman" panose="02020603050405020304" pitchFamily="18" charset="0"/>
                <a:ea typeface="Times New Roman" panose="02020603050405020304" pitchFamily="18" charset="0"/>
              </a:rPr>
              <a:t>MongoDB</a:t>
            </a:r>
            <a:r>
              <a:rPr lang="fr-FR" dirty="0">
                <a:latin typeface="Times New Roman" panose="02020603050405020304" pitchFamily="18" charset="0"/>
                <a:ea typeface="Times New Roman" panose="02020603050405020304" pitchFamily="18" charset="0"/>
              </a:rPr>
              <a:t> via Docker</a:t>
            </a:r>
            <a:r>
              <a:rPr lang="fr-FR" dirty="0" smtClean="0">
                <a:latin typeface="Times New Roman" panose="02020603050405020304" pitchFamily="18" charset="0"/>
                <a:ea typeface="Times New Roman" panose="02020603050405020304" pitchFamily="18" charset="0"/>
              </a:rPr>
              <a:t>, </a:t>
            </a:r>
            <a:r>
              <a:rPr lang="fr-FR" dirty="0" err="1" smtClean="0">
                <a:latin typeface="Times New Roman" panose="02020603050405020304" pitchFamily="18" charset="0"/>
                <a:ea typeface="Times New Roman" panose="02020603050405020304" pitchFamily="18" charset="0"/>
              </a:rPr>
              <a:t>rediger</a:t>
            </a:r>
            <a:r>
              <a:rPr lang="fr-FR" dirty="0" smtClean="0">
                <a:latin typeface="Times New Roman" panose="02020603050405020304" pitchFamily="18" charset="0"/>
                <a:ea typeface="Times New Roman" panose="02020603050405020304" pitchFamily="18" charset="0"/>
              </a:rPr>
              <a:t> </a:t>
            </a:r>
            <a:r>
              <a:rPr lang="fr-FR" dirty="0">
                <a:latin typeface="Times New Roman" panose="02020603050405020304" pitchFamily="18" charset="0"/>
                <a:ea typeface="Times New Roman" panose="02020603050405020304" pitchFamily="18" charset="0"/>
              </a:rPr>
              <a:t>des scripts afin d’automatiser la migration du </a:t>
            </a:r>
            <a:r>
              <a:rPr lang="fr-FR" dirty="0" err="1">
                <a:latin typeface="Times New Roman" panose="02020603050405020304" pitchFamily="18" charset="0"/>
                <a:ea typeface="Times New Roman" panose="02020603050405020304" pitchFamily="18" charset="0"/>
              </a:rPr>
              <a:t>dataset</a:t>
            </a:r>
            <a:r>
              <a:rPr lang="fr-FR" dirty="0">
                <a:latin typeface="Times New Roman" panose="02020603050405020304" pitchFamily="18" charset="0"/>
                <a:ea typeface="Times New Roman" panose="02020603050405020304" pitchFamily="18" charset="0"/>
              </a:rPr>
              <a:t> reçu vers </a:t>
            </a:r>
            <a:r>
              <a:rPr lang="fr-FR" dirty="0" err="1">
                <a:latin typeface="Times New Roman" panose="02020603050405020304" pitchFamily="18" charset="0"/>
                <a:ea typeface="Times New Roman" panose="02020603050405020304" pitchFamily="18" charset="0"/>
              </a:rPr>
              <a:t>MongoDB</a:t>
            </a:r>
            <a:r>
              <a:rPr lang="fr-FR" dirty="0">
                <a:latin typeface="Times New Roman" panose="02020603050405020304" pitchFamily="18" charset="0"/>
                <a:ea typeface="Times New Roman" panose="02020603050405020304" pitchFamily="18" charset="0"/>
              </a:rPr>
              <a:t>,</a:t>
            </a:r>
            <a:r>
              <a:rPr lang="fr-FR" sz="1600" dirty="0">
                <a:latin typeface="Calibri" panose="020F0502020204030204" pitchFamily="34" charset="0"/>
                <a:ea typeface="Calibri" panose="020F0502020204030204" pitchFamily="34" charset="0"/>
                <a:cs typeface="Times New Roman" panose="02020603050405020304" pitchFamily="18" charset="0"/>
              </a:rPr>
              <a:t> </a:t>
            </a:r>
            <a:r>
              <a:rPr lang="fr-FR" dirty="0">
                <a:latin typeface="Times New Roman" panose="02020603050405020304" pitchFamily="18" charset="0"/>
                <a:ea typeface="Times New Roman" panose="02020603050405020304" pitchFamily="18" charset="0"/>
              </a:rPr>
              <a:t>Utilise Docker pour conteneuriser </a:t>
            </a:r>
            <a:r>
              <a:rPr lang="fr-FR" dirty="0" err="1">
                <a:latin typeface="Times New Roman" panose="02020603050405020304" pitchFamily="18" charset="0"/>
                <a:ea typeface="Times New Roman" panose="02020603050405020304" pitchFamily="18" charset="0"/>
              </a:rPr>
              <a:t>MongoDB</a:t>
            </a:r>
            <a:r>
              <a:rPr lang="fr-FR" dirty="0">
                <a:latin typeface="Times New Roman" panose="02020603050405020304" pitchFamily="18" charset="0"/>
                <a:ea typeface="Times New Roman" panose="02020603050405020304" pitchFamily="18" charset="0"/>
              </a:rPr>
              <a:t> ainsi que le(s) script(s) de migration des données afin que le tout soit portable et </a:t>
            </a:r>
            <a:r>
              <a:rPr lang="fr-FR" dirty="0" err="1">
                <a:latin typeface="Times New Roman" panose="02020603050405020304" pitchFamily="18" charset="0"/>
                <a:ea typeface="Times New Roman" panose="02020603050405020304" pitchFamily="18" charset="0"/>
              </a:rPr>
              <a:t>scalable</a:t>
            </a:r>
            <a:r>
              <a:rPr lang="fr-FR" dirty="0">
                <a:latin typeface="Times New Roman" panose="02020603050405020304" pitchFamily="18" charset="0"/>
                <a:ea typeface="Times New Roman" panose="02020603050405020304" pitchFamily="18" charset="0"/>
              </a:rPr>
              <a:t>,</a:t>
            </a:r>
            <a:r>
              <a:rPr lang="fr-FR" sz="1600" dirty="0">
                <a:latin typeface="Calibri" panose="020F0502020204030204" pitchFamily="34" charset="0"/>
                <a:ea typeface="Calibri" panose="020F0502020204030204" pitchFamily="34" charset="0"/>
                <a:cs typeface="Times New Roman" panose="02020603050405020304" pitchFamily="18" charset="0"/>
              </a:rPr>
              <a:t> </a:t>
            </a:r>
            <a:r>
              <a:rPr lang="fr-FR" dirty="0" err="1">
                <a:latin typeface="Times New Roman" panose="02020603050405020304" pitchFamily="18" charset="0"/>
                <a:ea typeface="Times New Roman" panose="02020603050405020304" pitchFamily="18" charset="0"/>
              </a:rPr>
              <a:t>versionner</a:t>
            </a:r>
            <a:r>
              <a:rPr lang="fr-FR" dirty="0">
                <a:latin typeface="Times New Roman" panose="02020603050405020304" pitchFamily="18" charset="0"/>
                <a:ea typeface="Times New Roman" panose="02020603050405020304" pitchFamily="18" charset="0"/>
              </a:rPr>
              <a:t> et de sauvegarder ton travail via GitHub</a:t>
            </a:r>
          </a:p>
        </p:txBody>
      </p:sp>
    </p:spTree>
    <p:extLst>
      <p:ext uri="{BB962C8B-B14F-4D97-AF65-F5344CB8AC3E}">
        <p14:creationId xmlns:p14="http://schemas.microsoft.com/office/powerpoint/2010/main" val="160905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19200" y="1711741"/>
            <a:ext cx="6096000" cy="2062103"/>
          </a:xfrm>
          <a:prstGeom prst="rect">
            <a:avLst/>
          </a:prstGeom>
        </p:spPr>
        <p:txBody>
          <a:bodyPr>
            <a:spAutoFit/>
          </a:bodyPr>
          <a:lstStyle/>
          <a:p>
            <a:r>
              <a:rPr lang="fr-FR" sz="3200" dirty="0"/>
              <a:t>Un script permettant, lorsqu’il est exécuté, de transférer les données du CSV dans la base de données </a:t>
            </a:r>
            <a:r>
              <a:rPr lang="fr-FR" sz="3200" dirty="0" err="1"/>
              <a:t>MongoDB</a:t>
            </a:r>
            <a:endParaRPr lang="fr-FR" sz="3200" dirty="0"/>
          </a:p>
        </p:txBody>
      </p:sp>
    </p:spTree>
    <p:extLst>
      <p:ext uri="{BB962C8B-B14F-4D97-AF65-F5344CB8AC3E}">
        <p14:creationId xmlns:p14="http://schemas.microsoft.com/office/powerpoint/2010/main" val="102440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46366" y="1305342"/>
            <a:ext cx="7197634" cy="4247317"/>
          </a:xfrm>
          <a:prstGeom prst="rect">
            <a:avLst/>
          </a:prstGeom>
        </p:spPr>
        <p:txBody>
          <a:bodyPr wrap="square">
            <a:spAutoFit/>
          </a:bodyPr>
          <a:lstStyle/>
          <a:p>
            <a:r>
              <a:rPr lang="fr-FR" dirty="0"/>
              <a:t>import csv</a:t>
            </a:r>
          </a:p>
          <a:p>
            <a:r>
              <a:rPr lang="fr-FR" dirty="0" err="1"/>
              <a:t>from</a:t>
            </a:r>
            <a:r>
              <a:rPr lang="fr-FR" dirty="0"/>
              <a:t> </a:t>
            </a:r>
            <a:r>
              <a:rPr lang="fr-FR" dirty="0" err="1"/>
              <a:t>pymongo</a:t>
            </a:r>
            <a:r>
              <a:rPr lang="fr-FR" dirty="0"/>
              <a:t> import </a:t>
            </a:r>
            <a:r>
              <a:rPr lang="fr-FR" dirty="0" err="1"/>
              <a:t>MongoClient</a:t>
            </a:r>
            <a:endParaRPr lang="fr-FR" dirty="0"/>
          </a:p>
          <a:p>
            <a:endParaRPr lang="fr-FR" dirty="0"/>
          </a:p>
          <a:p>
            <a:r>
              <a:rPr lang="fr-FR" dirty="0"/>
              <a:t># --- Configuration de la base de données </a:t>
            </a:r>
            <a:r>
              <a:rPr lang="fr-FR" dirty="0" err="1"/>
              <a:t>MongoDB</a:t>
            </a:r>
            <a:r>
              <a:rPr lang="fr-FR" dirty="0"/>
              <a:t> ---</a:t>
            </a:r>
          </a:p>
          <a:p>
            <a:r>
              <a:rPr lang="fr-FR" dirty="0"/>
              <a:t>MONGO_HOST = "</a:t>
            </a:r>
            <a:r>
              <a:rPr lang="fr-FR" dirty="0" err="1"/>
              <a:t>localhost</a:t>
            </a:r>
            <a:r>
              <a:rPr lang="fr-FR" dirty="0"/>
              <a:t>"</a:t>
            </a:r>
          </a:p>
          <a:p>
            <a:r>
              <a:rPr lang="fr-FR" dirty="0"/>
              <a:t>MONGO_PORT = 27017</a:t>
            </a:r>
          </a:p>
          <a:p>
            <a:r>
              <a:rPr lang="fr-FR" dirty="0"/>
              <a:t>MONGO_DB_NAME = "</a:t>
            </a:r>
            <a:r>
              <a:rPr lang="fr-FR" dirty="0" err="1"/>
              <a:t>healthcare_db</a:t>
            </a:r>
            <a:r>
              <a:rPr lang="fr-FR" dirty="0"/>
              <a:t>"</a:t>
            </a:r>
          </a:p>
          <a:p>
            <a:r>
              <a:rPr lang="fr-FR" dirty="0"/>
              <a:t>MONGO_COLLECTION_NAME = "patients"</a:t>
            </a:r>
          </a:p>
          <a:p>
            <a:endParaRPr lang="fr-FR" dirty="0"/>
          </a:p>
          <a:p>
            <a:r>
              <a:rPr lang="fr-FR" dirty="0"/>
              <a:t># --- Configuration du fichier CSV ---</a:t>
            </a:r>
          </a:p>
          <a:p>
            <a:r>
              <a:rPr lang="fr-FR" dirty="0"/>
              <a:t>CSV_FILE_PATH = "healthcare_dataset.csv"</a:t>
            </a:r>
          </a:p>
          <a:p>
            <a:endParaRPr lang="fr-FR" dirty="0"/>
          </a:p>
          <a:p>
            <a:r>
              <a:rPr lang="fr-FR" dirty="0" err="1"/>
              <a:t>def</a:t>
            </a:r>
            <a:r>
              <a:rPr lang="fr-FR" dirty="0"/>
              <a:t> </a:t>
            </a:r>
            <a:r>
              <a:rPr lang="fr-FR" dirty="0" err="1"/>
              <a:t>run_migration</a:t>
            </a:r>
            <a:r>
              <a:rPr lang="fr-FR" dirty="0"/>
              <a:t>():</a:t>
            </a:r>
          </a:p>
          <a:p>
            <a:r>
              <a:rPr lang="fr-FR" dirty="0"/>
              <a:t>    """</a:t>
            </a:r>
          </a:p>
          <a:p>
            <a:r>
              <a:rPr lang="fr-FR" dirty="0"/>
              <a:t>    Lit le fichier CSV et migre les données vers </a:t>
            </a:r>
            <a:r>
              <a:rPr lang="fr-FR" dirty="0" err="1"/>
              <a:t>MongoDB</a:t>
            </a:r>
            <a:r>
              <a:rPr lang="fr-FR" dirty="0"/>
              <a:t>.</a:t>
            </a:r>
          </a:p>
        </p:txBody>
      </p:sp>
    </p:spTree>
    <p:extLst>
      <p:ext uri="{BB962C8B-B14F-4D97-AF65-F5344CB8AC3E}">
        <p14:creationId xmlns:p14="http://schemas.microsoft.com/office/powerpoint/2010/main" val="647182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0057" y="612845"/>
            <a:ext cx="7053943" cy="4801314"/>
          </a:xfrm>
          <a:prstGeom prst="rect">
            <a:avLst/>
          </a:prstGeom>
        </p:spPr>
        <p:txBody>
          <a:bodyPr wrap="square">
            <a:spAutoFit/>
          </a:bodyPr>
          <a:lstStyle/>
          <a:p>
            <a:r>
              <a:rPr lang="fr-FR" dirty="0" err="1"/>
              <a:t>try</a:t>
            </a:r>
            <a:r>
              <a:rPr lang="fr-FR" dirty="0"/>
              <a:t>:</a:t>
            </a:r>
          </a:p>
          <a:p>
            <a:r>
              <a:rPr lang="fr-FR" dirty="0"/>
              <a:t>        # Connexion à </a:t>
            </a:r>
            <a:r>
              <a:rPr lang="fr-FR" dirty="0" err="1"/>
              <a:t>MongoDB</a:t>
            </a:r>
            <a:endParaRPr lang="fr-FR" dirty="0"/>
          </a:p>
          <a:p>
            <a:r>
              <a:rPr lang="fr-FR" dirty="0"/>
              <a:t>        client = </a:t>
            </a:r>
            <a:r>
              <a:rPr lang="fr-FR" dirty="0" err="1"/>
              <a:t>MongoClient</a:t>
            </a:r>
            <a:r>
              <a:rPr lang="fr-FR" dirty="0"/>
              <a:t>(MONGO_HOST, MONGO_PORT)</a:t>
            </a:r>
          </a:p>
          <a:p>
            <a:r>
              <a:rPr lang="fr-FR" dirty="0"/>
              <a:t>        </a:t>
            </a:r>
            <a:r>
              <a:rPr lang="fr-FR" dirty="0" err="1"/>
              <a:t>db</a:t>
            </a:r>
            <a:r>
              <a:rPr lang="fr-FR" dirty="0"/>
              <a:t> = client[MONGO_DB_NAME]</a:t>
            </a:r>
          </a:p>
          <a:p>
            <a:r>
              <a:rPr lang="fr-FR" dirty="0"/>
              <a:t>        collection = </a:t>
            </a:r>
            <a:r>
              <a:rPr lang="fr-FR" dirty="0" err="1"/>
              <a:t>db</a:t>
            </a:r>
            <a:r>
              <a:rPr lang="fr-FR" dirty="0"/>
              <a:t>[MONGO_COLLECTION_NAME]</a:t>
            </a:r>
          </a:p>
          <a:p>
            <a:endParaRPr lang="fr-FR" dirty="0"/>
          </a:p>
          <a:p>
            <a:r>
              <a:rPr lang="fr-FR" dirty="0"/>
              <a:t>        </a:t>
            </a:r>
            <a:r>
              <a:rPr lang="fr-FR" dirty="0" err="1"/>
              <a:t>print</a:t>
            </a:r>
            <a:r>
              <a:rPr lang="fr-FR" dirty="0"/>
              <a:t>(</a:t>
            </a:r>
            <a:r>
              <a:rPr lang="fr-FR" dirty="0" err="1"/>
              <a:t>f"Connexion</a:t>
            </a:r>
            <a:r>
              <a:rPr lang="fr-FR" dirty="0"/>
              <a:t> établie à la base de données '{MONGO_DB_NAME}'...")</a:t>
            </a:r>
          </a:p>
          <a:p>
            <a:r>
              <a:rPr lang="fr-FR" dirty="0"/>
              <a:t>        </a:t>
            </a:r>
          </a:p>
          <a:p>
            <a:r>
              <a:rPr lang="fr-FR" dirty="0"/>
              <a:t>        # Supprime les données précédentes pour éviter les doublons</a:t>
            </a:r>
          </a:p>
          <a:p>
            <a:r>
              <a:rPr lang="fr-FR" dirty="0"/>
              <a:t>        </a:t>
            </a:r>
            <a:r>
              <a:rPr lang="fr-FR" dirty="0" err="1"/>
              <a:t>collection.delete_many</a:t>
            </a:r>
            <a:r>
              <a:rPr lang="fr-FR" dirty="0"/>
              <a:t>({})</a:t>
            </a:r>
          </a:p>
          <a:p>
            <a:r>
              <a:rPr lang="fr-FR" dirty="0"/>
              <a:t>        </a:t>
            </a:r>
            <a:r>
              <a:rPr lang="fr-FR" dirty="0" err="1"/>
              <a:t>print</a:t>
            </a:r>
            <a:r>
              <a:rPr lang="fr-FR" dirty="0"/>
              <a:t>("Collection 'patients' vidée pour la nouvelle migration.")</a:t>
            </a:r>
          </a:p>
          <a:p>
            <a:endParaRPr lang="fr-FR" dirty="0"/>
          </a:p>
          <a:p>
            <a:r>
              <a:rPr lang="fr-FR" dirty="0"/>
              <a:t>        </a:t>
            </a:r>
            <a:r>
              <a:rPr lang="fr-FR" dirty="0" err="1"/>
              <a:t>data_to_insert</a:t>
            </a:r>
            <a:r>
              <a:rPr lang="fr-FR" dirty="0"/>
              <a:t> = []</a:t>
            </a:r>
          </a:p>
          <a:p>
            <a:r>
              <a:rPr lang="fr-FR" dirty="0"/>
              <a:t>        </a:t>
            </a:r>
            <a:r>
              <a:rPr lang="fr-FR" dirty="0" err="1"/>
              <a:t>with</a:t>
            </a:r>
            <a:r>
              <a:rPr lang="fr-FR" dirty="0"/>
              <a:t> open(CSV_FILE_PATH, 'r', </a:t>
            </a:r>
            <a:r>
              <a:rPr lang="fr-FR" dirty="0" err="1"/>
              <a:t>encoding</a:t>
            </a:r>
            <a:r>
              <a:rPr lang="fr-FR" dirty="0"/>
              <a:t>='utf-8') as file:</a:t>
            </a:r>
          </a:p>
          <a:p>
            <a:r>
              <a:rPr lang="fr-FR" dirty="0"/>
              <a:t>            </a:t>
            </a:r>
            <a:r>
              <a:rPr lang="fr-FR" dirty="0" err="1"/>
              <a:t>reader</a:t>
            </a:r>
            <a:r>
              <a:rPr lang="fr-FR" dirty="0"/>
              <a:t> = </a:t>
            </a:r>
            <a:r>
              <a:rPr lang="fr-FR" dirty="0" err="1"/>
              <a:t>csv.DictReader</a:t>
            </a:r>
            <a:r>
              <a:rPr lang="fr-FR" dirty="0"/>
              <a:t>(file)</a:t>
            </a:r>
          </a:p>
          <a:p>
            <a:r>
              <a:rPr lang="fr-FR" dirty="0"/>
              <a:t> </a:t>
            </a:r>
          </a:p>
        </p:txBody>
      </p:sp>
    </p:spTree>
    <p:extLst>
      <p:ext uri="{BB962C8B-B14F-4D97-AF65-F5344CB8AC3E}">
        <p14:creationId xmlns:p14="http://schemas.microsoft.com/office/powerpoint/2010/main" val="2427439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54480" y="474345"/>
            <a:ext cx="7589520" cy="5632311"/>
          </a:xfrm>
          <a:prstGeom prst="rect">
            <a:avLst/>
          </a:prstGeom>
        </p:spPr>
        <p:txBody>
          <a:bodyPr wrap="square">
            <a:spAutoFit/>
          </a:bodyPr>
          <a:lstStyle/>
          <a:p>
            <a:r>
              <a:rPr lang="fr-FR" dirty="0"/>
              <a:t># Boucle sur chaque ligne du fichier CSV</a:t>
            </a:r>
          </a:p>
          <a:p>
            <a:r>
              <a:rPr lang="fr-FR" dirty="0"/>
              <a:t>            for </a:t>
            </a:r>
            <a:r>
              <a:rPr lang="fr-FR" dirty="0" err="1"/>
              <a:t>row</a:t>
            </a:r>
            <a:r>
              <a:rPr lang="fr-FR" dirty="0"/>
              <a:t> in </a:t>
            </a:r>
            <a:r>
              <a:rPr lang="fr-FR" dirty="0" err="1"/>
              <a:t>reader</a:t>
            </a:r>
            <a:r>
              <a:rPr lang="fr-FR" dirty="0"/>
              <a:t>:</a:t>
            </a:r>
          </a:p>
          <a:p>
            <a:r>
              <a:rPr lang="fr-FR" dirty="0"/>
              <a:t>                # Ajout de vérifications pour gérer les valeurs manquantes ou vides</a:t>
            </a:r>
          </a:p>
          <a:p>
            <a:r>
              <a:rPr lang="fr-FR" dirty="0"/>
              <a:t>                </a:t>
            </a:r>
            <a:r>
              <a:rPr lang="fr-FR" dirty="0" err="1"/>
              <a:t>try</a:t>
            </a:r>
            <a:r>
              <a:rPr lang="fr-FR" dirty="0"/>
              <a:t>:</a:t>
            </a:r>
          </a:p>
          <a:p>
            <a:r>
              <a:rPr lang="fr-FR" dirty="0"/>
              <a:t>                    # Conversion de Age</a:t>
            </a:r>
          </a:p>
          <a:p>
            <a:r>
              <a:rPr lang="fr-FR" dirty="0"/>
              <a:t>                    if </a:t>
            </a:r>
            <a:r>
              <a:rPr lang="fr-FR" dirty="0" err="1"/>
              <a:t>row.get</a:t>
            </a:r>
            <a:r>
              <a:rPr lang="fr-FR" dirty="0"/>
              <a:t>('Age'):</a:t>
            </a:r>
          </a:p>
          <a:p>
            <a:r>
              <a:rPr lang="fr-FR" dirty="0"/>
              <a:t>                        </a:t>
            </a:r>
            <a:r>
              <a:rPr lang="fr-FR" dirty="0" err="1"/>
              <a:t>row</a:t>
            </a:r>
            <a:r>
              <a:rPr lang="fr-FR" dirty="0"/>
              <a:t>['Age'] = </a:t>
            </a:r>
            <a:r>
              <a:rPr lang="fr-FR" dirty="0" err="1"/>
              <a:t>int</a:t>
            </a:r>
            <a:r>
              <a:rPr lang="fr-FR" dirty="0"/>
              <a:t>(</a:t>
            </a:r>
            <a:r>
              <a:rPr lang="fr-FR" dirty="0" err="1"/>
              <a:t>row</a:t>
            </a:r>
            <a:r>
              <a:rPr lang="fr-FR" dirty="0"/>
              <a:t>['Age'])</a:t>
            </a:r>
          </a:p>
          <a:p>
            <a:r>
              <a:rPr lang="fr-FR" dirty="0"/>
              <a:t>                    </a:t>
            </a:r>
            <a:r>
              <a:rPr lang="fr-FR" dirty="0" err="1"/>
              <a:t>else</a:t>
            </a:r>
            <a:r>
              <a:rPr lang="fr-FR" dirty="0"/>
              <a:t>:</a:t>
            </a:r>
          </a:p>
          <a:p>
            <a:r>
              <a:rPr lang="fr-FR" dirty="0"/>
              <a:t>                        </a:t>
            </a:r>
            <a:r>
              <a:rPr lang="fr-FR" dirty="0" err="1"/>
              <a:t>row</a:t>
            </a:r>
            <a:r>
              <a:rPr lang="fr-FR" dirty="0"/>
              <a:t>['Age'] = None # Ou 0, ou un autre valeur par défaut</a:t>
            </a:r>
          </a:p>
          <a:p>
            <a:endParaRPr lang="fr-FR" dirty="0"/>
          </a:p>
          <a:p>
            <a:r>
              <a:rPr lang="fr-FR" dirty="0"/>
              <a:t>                    # Conversion de </a:t>
            </a:r>
            <a:r>
              <a:rPr lang="fr-FR" dirty="0" err="1"/>
              <a:t>Billing</a:t>
            </a:r>
            <a:r>
              <a:rPr lang="fr-FR" dirty="0"/>
              <a:t> </a:t>
            </a:r>
            <a:r>
              <a:rPr lang="fr-FR" dirty="0" err="1"/>
              <a:t>Amount</a:t>
            </a:r>
            <a:endParaRPr lang="fr-FR" dirty="0"/>
          </a:p>
          <a:p>
            <a:r>
              <a:rPr lang="fr-FR" dirty="0"/>
              <a:t>                    if </a:t>
            </a:r>
            <a:r>
              <a:rPr lang="fr-FR" dirty="0" err="1"/>
              <a:t>row.get</a:t>
            </a:r>
            <a:r>
              <a:rPr lang="fr-FR" dirty="0"/>
              <a:t>('</a:t>
            </a:r>
            <a:r>
              <a:rPr lang="fr-FR" dirty="0" err="1"/>
              <a:t>Billing</a:t>
            </a:r>
            <a:r>
              <a:rPr lang="fr-FR" dirty="0"/>
              <a:t> </a:t>
            </a:r>
            <a:r>
              <a:rPr lang="fr-FR" dirty="0" err="1"/>
              <a:t>Amount</a:t>
            </a:r>
            <a:r>
              <a:rPr lang="fr-FR" dirty="0"/>
              <a:t>'):</a:t>
            </a:r>
          </a:p>
          <a:p>
            <a:r>
              <a:rPr lang="fr-FR" dirty="0"/>
              <a:t>                        # Utilise replace(',', '.') pour gérer les virgules dans les nombres décimaux</a:t>
            </a:r>
          </a:p>
          <a:p>
            <a:r>
              <a:rPr lang="fr-FR" dirty="0"/>
              <a:t>                        </a:t>
            </a:r>
            <a:r>
              <a:rPr lang="fr-FR" dirty="0" err="1"/>
              <a:t>row</a:t>
            </a:r>
            <a:r>
              <a:rPr lang="fr-FR" dirty="0"/>
              <a:t>['</a:t>
            </a:r>
            <a:r>
              <a:rPr lang="fr-FR" dirty="0" err="1"/>
              <a:t>Billing</a:t>
            </a:r>
            <a:r>
              <a:rPr lang="fr-FR" dirty="0"/>
              <a:t> </a:t>
            </a:r>
            <a:r>
              <a:rPr lang="fr-FR" dirty="0" err="1"/>
              <a:t>Amount</a:t>
            </a:r>
            <a:r>
              <a:rPr lang="fr-FR" dirty="0"/>
              <a:t>'] = </a:t>
            </a:r>
            <a:r>
              <a:rPr lang="fr-FR" dirty="0" err="1"/>
              <a:t>float</a:t>
            </a:r>
            <a:r>
              <a:rPr lang="fr-FR" dirty="0"/>
              <a:t>(</a:t>
            </a:r>
            <a:r>
              <a:rPr lang="fr-FR" dirty="0" err="1"/>
              <a:t>row</a:t>
            </a:r>
            <a:r>
              <a:rPr lang="fr-FR" dirty="0"/>
              <a:t>['</a:t>
            </a:r>
            <a:r>
              <a:rPr lang="fr-FR" dirty="0" err="1"/>
              <a:t>Billing</a:t>
            </a:r>
            <a:r>
              <a:rPr lang="fr-FR" dirty="0"/>
              <a:t> </a:t>
            </a:r>
            <a:r>
              <a:rPr lang="fr-FR" dirty="0" err="1"/>
              <a:t>Amount</a:t>
            </a:r>
            <a:r>
              <a:rPr lang="fr-FR" dirty="0"/>
              <a:t>'].replace(',', '.'))</a:t>
            </a:r>
          </a:p>
          <a:p>
            <a:r>
              <a:rPr lang="fr-FR" dirty="0"/>
              <a:t>                    </a:t>
            </a:r>
            <a:r>
              <a:rPr lang="fr-FR" dirty="0" err="1"/>
              <a:t>else</a:t>
            </a:r>
            <a:r>
              <a:rPr lang="fr-FR" dirty="0"/>
              <a:t>:</a:t>
            </a:r>
          </a:p>
          <a:p>
            <a:r>
              <a:rPr lang="fr-FR" dirty="0"/>
              <a:t>                        </a:t>
            </a:r>
            <a:r>
              <a:rPr lang="fr-FR" dirty="0" err="1"/>
              <a:t>row</a:t>
            </a:r>
            <a:r>
              <a:rPr lang="fr-FR" dirty="0"/>
              <a:t>['</a:t>
            </a:r>
            <a:r>
              <a:rPr lang="fr-FR" dirty="0" err="1"/>
              <a:t>Billing</a:t>
            </a:r>
            <a:r>
              <a:rPr lang="fr-FR" dirty="0"/>
              <a:t> </a:t>
            </a:r>
            <a:r>
              <a:rPr lang="fr-FR" dirty="0" err="1"/>
              <a:t>Amount</a:t>
            </a:r>
            <a:r>
              <a:rPr lang="fr-FR" dirty="0"/>
              <a:t>'] = None</a:t>
            </a:r>
          </a:p>
          <a:p>
            <a:r>
              <a:rPr lang="fr-FR" dirty="0"/>
              <a:t> </a:t>
            </a:r>
          </a:p>
        </p:txBody>
      </p:sp>
    </p:spTree>
    <p:extLst>
      <p:ext uri="{BB962C8B-B14F-4D97-AF65-F5344CB8AC3E}">
        <p14:creationId xmlns:p14="http://schemas.microsoft.com/office/powerpoint/2010/main" val="4222479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94114" y="1443841"/>
            <a:ext cx="7249886" cy="3693319"/>
          </a:xfrm>
          <a:prstGeom prst="rect">
            <a:avLst/>
          </a:prstGeom>
        </p:spPr>
        <p:txBody>
          <a:bodyPr wrap="square">
            <a:spAutoFit/>
          </a:bodyPr>
          <a:lstStyle/>
          <a:p>
            <a:r>
              <a:rPr lang="fr-FR" dirty="0"/>
              <a:t># Conversion de Room </a:t>
            </a:r>
            <a:r>
              <a:rPr lang="fr-FR" dirty="0" err="1"/>
              <a:t>Number</a:t>
            </a:r>
            <a:endParaRPr lang="fr-FR" dirty="0"/>
          </a:p>
          <a:p>
            <a:r>
              <a:rPr lang="fr-FR" dirty="0"/>
              <a:t>                    if </a:t>
            </a:r>
            <a:r>
              <a:rPr lang="fr-FR" dirty="0" err="1"/>
              <a:t>row.get</a:t>
            </a:r>
            <a:r>
              <a:rPr lang="fr-FR" dirty="0"/>
              <a:t>('Room </a:t>
            </a:r>
            <a:r>
              <a:rPr lang="fr-FR" dirty="0" err="1"/>
              <a:t>Number</a:t>
            </a:r>
            <a:r>
              <a:rPr lang="fr-FR" dirty="0"/>
              <a:t>'):</a:t>
            </a:r>
          </a:p>
          <a:p>
            <a:r>
              <a:rPr lang="fr-FR" dirty="0"/>
              <a:t>                        </a:t>
            </a:r>
            <a:r>
              <a:rPr lang="fr-FR" dirty="0" err="1"/>
              <a:t>row</a:t>
            </a:r>
            <a:r>
              <a:rPr lang="fr-FR" dirty="0"/>
              <a:t>['Room </a:t>
            </a:r>
            <a:r>
              <a:rPr lang="fr-FR" dirty="0" err="1"/>
              <a:t>Number</a:t>
            </a:r>
            <a:r>
              <a:rPr lang="fr-FR" dirty="0"/>
              <a:t>'] = </a:t>
            </a:r>
            <a:r>
              <a:rPr lang="fr-FR" dirty="0" err="1"/>
              <a:t>int</a:t>
            </a:r>
            <a:r>
              <a:rPr lang="fr-FR" dirty="0"/>
              <a:t>(</a:t>
            </a:r>
            <a:r>
              <a:rPr lang="fr-FR" dirty="0" err="1"/>
              <a:t>row</a:t>
            </a:r>
            <a:r>
              <a:rPr lang="fr-FR" dirty="0"/>
              <a:t>['Room </a:t>
            </a:r>
            <a:r>
              <a:rPr lang="fr-FR" dirty="0" err="1"/>
              <a:t>Number</a:t>
            </a:r>
            <a:r>
              <a:rPr lang="fr-FR" dirty="0"/>
              <a:t>'])</a:t>
            </a:r>
          </a:p>
          <a:p>
            <a:r>
              <a:rPr lang="fr-FR" dirty="0"/>
              <a:t>                    </a:t>
            </a:r>
            <a:r>
              <a:rPr lang="fr-FR" dirty="0" err="1"/>
              <a:t>else</a:t>
            </a:r>
            <a:r>
              <a:rPr lang="fr-FR" dirty="0"/>
              <a:t>:</a:t>
            </a:r>
          </a:p>
          <a:p>
            <a:r>
              <a:rPr lang="fr-FR" dirty="0"/>
              <a:t>                        </a:t>
            </a:r>
            <a:r>
              <a:rPr lang="fr-FR" dirty="0" err="1"/>
              <a:t>row</a:t>
            </a:r>
            <a:r>
              <a:rPr lang="fr-FR" dirty="0"/>
              <a:t>['Room </a:t>
            </a:r>
            <a:r>
              <a:rPr lang="fr-FR" dirty="0" err="1"/>
              <a:t>Number</a:t>
            </a:r>
            <a:r>
              <a:rPr lang="fr-FR" dirty="0"/>
              <a:t>'] = None</a:t>
            </a:r>
          </a:p>
          <a:p>
            <a:r>
              <a:rPr lang="fr-FR" dirty="0"/>
              <a:t>                        </a:t>
            </a:r>
          </a:p>
          <a:p>
            <a:r>
              <a:rPr lang="fr-FR" dirty="0"/>
              <a:t>                </a:t>
            </a:r>
            <a:r>
              <a:rPr lang="fr-FR" dirty="0" err="1"/>
              <a:t>except</a:t>
            </a:r>
            <a:r>
              <a:rPr lang="fr-FR" dirty="0"/>
              <a:t> (</a:t>
            </a:r>
            <a:r>
              <a:rPr lang="fr-FR" dirty="0" err="1"/>
              <a:t>ValueError</a:t>
            </a:r>
            <a:r>
              <a:rPr lang="fr-FR" dirty="0"/>
              <a:t>, </a:t>
            </a:r>
            <a:r>
              <a:rPr lang="fr-FR" dirty="0" err="1"/>
              <a:t>TypeError</a:t>
            </a:r>
            <a:r>
              <a:rPr lang="fr-FR" dirty="0"/>
              <a:t>) as e:</a:t>
            </a:r>
          </a:p>
          <a:p>
            <a:r>
              <a:rPr lang="fr-FR" dirty="0"/>
              <a:t>                    </a:t>
            </a:r>
            <a:r>
              <a:rPr lang="fr-FR" dirty="0" err="1"/>
              <a:t>print</a:t>
            </a:r>
            <a:r>
              <a:rPr lang="fr-FR" dirty="0"/>
              <a:t>(</a:t>
            </a:r>
            <a:r>
              <a:rPr lang="fr-FR" dirty="0" err="1"/>
              <a:t>f"Erreur</a:t>
            </a:r>
            <a:r>
              <a:rPr lang="fr-FR" dirty="0"/>
              <a:t> de conversion de type pour la ligne : {</a:t>
            </a:r>
            <a:r>
              <a:rPr lang="fr-FR" dirty="0" err="1"/>
              <a:t>row</a:t>
            </a:r>
            <a:r>
              <a:rPr lang="fr-FR" dirty="0"/>
              <a:t>}. Ignorée. Erreur: {e}")</a:t>
            </a:r>
          </a:p>
          <a:p>
            <a:r>
              <a:rPr lang="fr-FR" dirty="0"/>
              <a:t>                    continue</a:t>
            </a:r>
          </a:p>
          <a:p>
            <a:endParaRPr lang="fr-FR" dirty="0"/>
          </a:p>
          <a:p>
            <a:r>
              <a:rPr lang="fr-FR" dirty="0"/>
              <a:t>                </a:t>
            </a:r>
            <a:r>
              <a:rPr lang="fr-FR" dirty="0" err="1"/>
              <a:t>data_to_insert.append</a:t>
            </a:r>
            <a:r>
              <a:rPr lang="fr-FR" dirty="0"/>
              <a:t>(</a:t>
            </a:r>
            <a:r>
              <a:rPr lang="fr-FR" dirty="0" err="1"/>
              <a:t>row</a:t>
            </a:r>
            <a:r>
              <a:rPr lang="fr-FR" dirty="0"/>
              <a:t>)</a:t>
            </a:r>
          </a:p>
          <a:p>
            <a:r>
              <a:rPr lang="fr-FR" dirty="0"/>
              <a:t> </a:t>
            </a:r>
          </a:p>
        </p:txBody>
      </p:sp>
    </p:spTree>
    <p:extLst>
      <p:ext uri="{BB962C8B-B14F-4D97-AF65-F5344CB8AC3E}">
        <p14:creationId xmlns:p14="http://schemas.microsoft.com/office/powerpoint/2010/main" val="303946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9977" y="751344"/>
            <a:ext cx="7694023" cy="4801314"/>
          </a:xfrm>
          <a:prstGeom prst="rect">
            <a:avLst/>
          </a:prstGeom>
        </p:spPr>
        <p:txBody>
          <a:bodyPr wrap="square">
            <a:spAutoFit/>
          </a:bodyPr>
          <a:lstStyle/>
          <a:p>
            <a:r>
              <a:rPr lang="fr-FR" dirty="0"/>
              <a:t>if </a:t>
            </a:r>
            <a:r>
              <a:rPr lang="fr-FR" dirty="0" err="1"/>
              <a:t>data_to_insert</a:t>
            </a:r>
            <a:r>
              <a:rPr lang="fr-FR" dirty="0"/>
              <a:t>:</a:t>
            </a:r>
          </a:p>
          <a:p>
            <a:r>
              <a:rPr lang="fr-FR" dirty="0"/>
              <a:t>            # Insère toutes les données en une seule fois pour plus d'efficacité</a:t>
            </a:r>
          </a:p>
          <a:p>
            <a:r>
              <a:rPr lang="fr-FR" dirty="0"/>
              <a:t>            </a:t>
            </a:r>
            <a:r>
              <a:rPr lang="fr-FR" dirty="0" err="1"/>
              <a:t>collection.insert_many</a:t>
            </a:r>
            <a:r>
              <a:rPr lang="fr-FR" dirty="0"/>
              <a:t>(</a:t>
            </a:r>
            <a:r>
              <a:rPr lang="fr-FR" dirty="0" err="1"/>
              <a:t>data_to_insert</a:t>
            </a:r>
            <a:r>
              <a:rPr lang="fr-FR" dirty="0"/>
              <a:t>)</a:t>
            </a:r>
          </a:p>
          <a:p>
            <a:r>
              <a:rPr lang="fr-FR" dirty="0"/>
              <a:t>            </a:t>
            </a:r>
            <a:r>
              <a:rPr lang="fr-FR" dirty="0" err="1"/>
              <a:t>print</a:t>
            </a:r>
            <a:r>
              <a:rPr lang="fr-FR" dirty="0"/>
              <a:t>(</a:t>
            </a:r>
            <a:r>
              <a:rPr lang="fr-FR" dirty="0" err="1"/>
              <a:t>f"Migration</a:t>
            </a:r>
            <a:r>
              <a:rPr lang="fr-FR" dirty="0"/>
              <a:t> terminée ! {</a:t>
            </a:r>
            <a:r>
              <a:rPr lang="fr-FR" dirty="0" err="1"/>
              <a:t>len</a:t>
            </a:r>
            <a:r>
              <a:rPr lang="fr-FR" dirty="0"/>
              <a:t>(</a:t>
            </a:r>
            <a:r>
              <a:rPr lang="fr-FR" dirty="0" err="1"/>
              <a:t>data_to_insert</a:t>
            </a:r>
            <a:r>
              <a:rPr lang="fr-FR" dirty="0"/>
              <a:t>)} documents insérés dans la collection 'patients'.")</a:t>
            </a:r>
          </a:p>
          <a:p>
            <a:r>
              <a:rPr lang="fr-FR" dirty="0"/>
              <a:t>        </a:t>
            </a:r>
            <a:r>
              <a:rPr lang="fr-FR" dirty="0" err="1"/>
              <a:t>else</a:t>
            </a:r>
            <a:r>
              <a:rPr lang="fr-FR" dirty="0"/>
              <a:t>:</a:t>
            </a:r>
          </a:p>
          <a:p>
            <a:r>
              <a:rPr lang="fr-FR" dirty="0"/>
              <a:t>            </a:t>
            </a:r>
            <a:r>
              <a:rPr lang="fr-FR" dirty="0" err="1"/>
              <a:t>print</a:t>
            </a:r>
            <a:r>
              <a:rPr lang="fr-FR" dirty="0"/>
              <a:t>("Aucune donnée trouvée dans le fichier CSV.")</a:t>
            </a:r>
          </a:p>
          <a:p>
            <a:endParaRPr lang="fr-FR" dirty="0"/>
          </a:p>
          <a:p>
            <a:r>
              <a:rPr lang="fr-FR" dirty="0"/>
              <a:t>    </a:t>
            </a:r>
            <a:r>
              <a:rPr lang="fr-FR" dirty="0" err="1"/>
              <a:t>except</a:t>
            </a:r>
            <a:r>
              <a:rPr lang="fr-FR" dirty="0"/>
              <a:t> Exception as e:</a:t>
            </a:r>
          </a:p>
          <a:p>
            <a:r>
              <a:rPr lang="fr-FR" dirty="0"/>
              <a:t>        </a:t>
            </a:r>
            <a:r>
              <a:rPr lang="fr-FR" dirty="0" err="1"/>
              <a:t>print</a:t>
            </a:r>
            <a:r>
              <a:rPr lang="fr-FR" dirty="0"/>
              <a:t>(</a:t>
            </a:r>
            <a:r>
              <a:rPr lang="fr-FR" dirty="0" err="1"/>
              <a:t>f"Une</a:t>
            </a:r>
            <a:r>
              <a:rPr lang="fr-FR" dirty="0"/>
              <a:t> erreur s'est produite lors de la migration : {e}")</a:t>
            </a:r>
          </a:p>
          <a:p>
            <a:r>
              <a:rPr lang="fr-FR" dirty="0"/>
              <a:t>    </a:t>
            </a:r>
            <a:r>
              <a:rPr lang="fr-FR" dirty="0" err="1"/>
              <a:t>finally</a:t>
            </a:r>
            <a:r>
              <a:rPr lang="fr-FR" dirty="0"/>
              <a:t>:</a:t>
            </a:r>
          </a:p>
          <a:p>
            <a:r>
              <a:rPr lang="fr-FR" dirty="0"/>
              <a:t>        </a:t>
            </a:r>
            <a:r>
              <a:rPr lang="fr-FR" dirty="0" err="1"/>
              <a:t>client.close</a:t>
            </a:r>
            <a:r>
              <a:rPr lang="fr-FR" dirty="0"/>
              <a:t>()</a:t>
            </a:r>
          </a:p>
          <a:p>
            <a:r>
              <a:rPr lang="fr-FR" dirty="0"/>
              <a:t>        </a:t>
            </a:r>
            <a:r>
              <a:rPr lang="fr-FR" dirty="0" err="1"/>
              <a:t>print</a:t>
            </a:r>
            <a:r>
              <a:rPr lang="fr-FR" dirty="0"/>
              <a:t>("Connexion à </a:t>
            </a:r>
            <a:r>
              <a:rPr lang="fr-FR" dirty="0" err="1"/>
              <a:t>MongoDB</a:t>
            </a:r>
            <a:r>
              <a:rPr lang="fr-FR" dirty="0"/>
              <a:t> fermée.")</a:t>
            </a:r>
          </a:p>
          <a:p>
            <a:endParaRPr lang="fr-FR" dirty="0"/>
          </a:p>
          <a:p>
            <a:r>
              <a:rPr lang="fr-FR" dirty="0"/>
              <a:t>if __</a:t>
            </a:r>
            <a:r>
              <a:rPr lang="fr-FR" dirty="0" err="1"/>
              <a:t>name</a:t>
            </a:r>
            <a:r>
              <a:rPr lang="fr-FR" dirty="0"/>
              <a:t>__ == "__main__":</a:t>
            </a:r>
          </a:p>
          <a:p>
            <a:r>
              <a:rPr lang="fr-FR" dirty="0"/>
              <a:t>    </a:t>
            </a:r>
            <a:r>
              <a:rPr lang="fr-FR" dirty="0" err="1"/>
              <a:t>run_migration</a:t>
            </a:r>
            <a:r>
              <a:rPr lang="fr-FR" dirty="0"/>
              <a:t>()</a:t>
            </a:r>
          </a:p>
        </p:txBody>
      </p:sp>
    </p:spTree>
    <p:extLst>
      <p:ext uri="{BB962C8B-B14F-4D97-AF65-F5344CB8AC3E}">
        <p14:creationId xmlns:p14="http://schemas.microsoft.com/office/powerpoint/2010/main" val="3167370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736503"/>
            <a:ext cx="6096000" cy="1384995"/>
          </a:xfrm>
          <a:prstGeom prst="rect">
            <a:avLst/>
          </a:prstGeom>
        </p:spPr>
        <p:txBody>
          <a:bodyPr>
            <a:spAutoFit/>
          </a:bodyPr>
          <a:lstStyle/>
          <a:p>
            <a:r>
              <a:rPr lang="fr-FR" sz="2800" dirty="0">
                <a:latin typeface="Calibri" panose="020F0502020204030204" pitchFamily="34" charset="0"/>
                <a:ea typeface="Calibri" panose="020F0502020204030204" pitchFamily="34" charset="0"/>
                <a:cs typeface="Times New Roman" panose="02020603050405020304" pitchFamily="18" charset="0"/>
              </a:rPr>
              <a:t>Voici le </a:t>
            </a:r>
            <a:r>
              <a:rPr lang="fr-FR" sz="2800" dirty="0" err="1">
                <a:latin typeface="Calibri" panose="020F0502020204030204" pitchFamily="34" charset="0"/>
                <a:ea typeface="Calibri" panose="020F0502020204030204" pitchFamily="34" charset="0"/>
                <a:cs typeface="Times New Roman" panose="02020603050405020304" pitchFamily="18" charset="0"/>
              </a:rPr>
              <a:t>Readme</a:t>
            </a:r>
            <a:r>
              <a:rPr lang="fr-FR" sz="2800" dirty="0">
                <a:latin typeface="Calibri" panose="020F0502020204030204" pitchFamily="34" charset="0"/>
                <a:ea typeface="Calibri" panose="020F0502020204030204" pitchFamily="34" charset="0"/>
                <a:cs typeface="Times New Roman" panose="02020603050405020304" pitchFamily="18" charset="0"/>
              </a:rPr>
              <a:t> expliquant la logique de la migration et comment fonctionne le script</a:t>
            </a:r>
            <a:endParaRPr lang="fr-FR" dirty="0"/>
          </a:p>
        </p:txBody>
      </p:sp>
    </p:spTree>
    <p:extLst>
      <p:ext uri="{BB962C8B-B14F-4D97-AF65-F5344CB8AC3E}">
        <p14:creationId xmlns:p14="http://schemas.microsoft.com/office/powerpoint/2010/main" val="558857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2491" y="2690336"/>
            <a:ext cx="7171509" cy="1477328"/>
          </a:xfrm>
          <a:prstGeom prst="rect">
            <a:avLst/>
          </a:prstGeom>
        </p:spPr>
        <p:txBody>
          <a:bodyPr wrap="square">
            <a:spAutoFit/>
          </a:bodyPr>
          <a:lstStyle/>
          <a:p>
            <a:r>
              <a:rPr lang="fr-FR" dirty="0"/>
              <a:t>Projet de Migration de Données Hospitalières</a:t>
            </a:r>
          </a:p>
          <a:p>
            <a:endParaRPr lang="fr-FR" dirty="0"/>
          </a:p>
          <a:p>
            <a:r>
              <a:rPr lang="fr-FR" dirty="0"/>
              <a:t>Ce projet contient un script Python simple conçu pour migrer des données de santé depuis un fichier CSV vers une base de données </a:t>
            </a:r>
            <a:r>
              <a:rPr lang="fr-FR" dirty="0" err="1"/>
              <a:t>MongoDB</a:t>
            </a:r>
            <a:endParaRPr lang="fr-FR" dirty="0"/>
          </a:p>
        </p:txBody>
      </p:sp>
    </p:spTree>
    <p:extLst>
      <p:ext uri="{BB962C8B-B14F-4D97-AF65-F5344CB8AC3E}">
        <p14:creationId xmlns:p14="http://schemas.microsoft.com/office/powerpoint/2010/main" val="1475159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9794" y="2413338"/>
            <a:ext cx="7524206" cy="1754326"/>
          </a:xfrm>
          <a:prstGeom prst="rect">
            <a:avLst/>
          </a:prstGeom>
        </p:spPr>
        <p:txBody>
          <a:bodyPr wrap="square">
            <a:spAutoFit/>
          </a:bodyPr>
          <a:lstStyle/>
          <a:p>
            <a:r>
              <a:rPr lang="fr-FR" dirty="0"/>
              <a:t>1. Contexte</a:t>
            </a:r>
          </a:p>
          <a:p>
            <a:endParaRPr lang="fr-FR" dirty="0"/>
          </a:p>
          <a:p>
            <a:r>
              <a:rPr lang="fr-FR" dirty="0"/>
              <a:t>L'objectif de ce script est d'automatiser le processus d'importation du jeu de données healthcare_dataset.csv dans une base de données </a:t>
            </a:r>
            <a:r>
              <a:rPr lang="fr-FR" dirty="0" err="1"/>
              <a:t>NoSQL</a:t>
            </a:r>
            <a:r>
              <a:rPr lang="fr-FR" dirty="0"/>
              <a:t> (</a:t>
            </a:r>
            <a:r>
              <a:rPr lang="fr-FR" dirty="0" err="1"/>
              <a:t>MongoDB</a:t>
            </a:r>
            <a:r>
              <a:rPr lang="fr-FR" dirty="0"/>
              <a:t>), en s'assurant que les données sont correctement formatées pour leur utilisation future.</a:t>
            </a:r>
          </a:p>
        </p:txBody>
      </p:sp>
    </p:spTree>
    <p:extLst>
      <p:ext uri="{BB962C8B-B14F-4D97-AF65-F5344CB8AC3E}">
        <p14:creationId xmlns:p14="http://schemas.microsoft.com/office/powerpoint/2010/main" val="1529516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6915" y="627017"/>
            <a:ext cx="7707086" cy="5355312"/>
          </a:xfrm>
          <a:prstGeom prst="rect">
            <a:avLst/>
          </a:prstGeom>
        </p:spPr>
        <p:txBody>
          <a:bodyPr wrap="square">
            <a:spAutoFit/>
          </a:bodyPr>
          <a:lstStyle/>
          <a:p>
            <a:r>
              <a:rPr lang="fr-FR" dirty="0"/>
              <a:t>2. Prérequis</a:t>
            </a:r>
          </a:p>
          <a:p>
            <a:endParaRPr lang="fr-FR" dirty="0"/>
          </a:p>
          <a:p>
            <a:r>
              <a:rPr lang="fr-FR" dirty="0"/>
              <a:t>Pour exécuter ce script, vous devez avoir </a:t>
            </a:r>
            <a:r>
              <a:rPr lang="fr-FR" dirty="0" smtClean="0"/>
              <a:t>:</a:t>
            </a:r>
          </a:p>
          <a:p>
            <a:r>
              <a:rPr lang="fr-FR" dirty="0" smtClean="0"/>
              <a:t> </a:t>
            </a:r>
            <a:r>
              <a:rPr lang="fr-FR" dirty="0"/>
              <a:t>le fichier de données : Le fichier healthcare_dataset.csv doit se trouver dans le même répertoire que le script migration.py.</a:t>
            </a:r>
          </a:p>
          <a:p>
            <a:endParaRPr lang="fr-FR" dirty="0"/>
          </a:p>
          <a:p>
            <a:r>
              <a:rPr lang="fr-FR" dirty="0"/>
              <a:t>Serveur </a:t>
            </a:r>
            <a:r>
              <a:rPr lang="fr-FR" dirty="0" err="1"/>
              <a:t>MongoDB</a:t>
            </a:r>
            <a:r>
              <a:rPr lang="fr-FR" dirty="0"/>
              <a:t> : Un serveur </a:t>
            </a:r>
            <a:r>
              <a:rPr lang="fr-FR" dirty="0" err="1"/>
              <a:t>MongoDB</a:t>
            </a:r>
            <a:r>
              <a:rPr lang="fr-FR" dirty="0"/>
              <a:t> doit être en cours d'exécution. Vous pouvez le lancer via l'exécutable </a:t>
            </a:r>
            <a:r>
              <a:rPr lang="fr-FR" dirty="0" err="1"/>
              <a:t>mongod</a:t>
            </a:r>
            <a:r>
              <a:rPr lang="fr-FR" dirty="0"/>
              <a:t> ou via un conteneur Docker.</a:t>
            </a:r>
          </a:p>
          <a:p>
            <a:endParaRPr lang="fr-FR" dirty="0"/>
          </a:p>
          <a:p>
            <a:r>
              <a:rPr lang="fr-FR" dirty="0"/>
              <a:t>    Python 3 installé sur votre machine.</a:t>
            </a:r>
          </a:p>
          <a:p>
            <a:endParaRPr lang="fr-FR" dirty="0"/>
          </a:p>
          <a:p>
            <a:r>
              <a:rPr lang="fr-FR" dirty="0"/>
              <a:t>    Un serveur </a:t>
            </a:r>
            <a:r>
              <a:rPr lang="fr-FR" dirty="0" err="1"/>
              <a:t>MongoDB</a:t>
            </a:r>
            <a:r>
              <a:rPr lang="fr-FR" dirty="0"/>
              <a:t> en cours d'exécution.</a:t>
            </a:r>
          </a:p>
          <a:p>
            <a:endParaRPr lang="fr-FR" dirty="0"/>
          </a:p>
          <a:p>
            <a:r>
              <a:rPr lang="fr-FR" dirty="0"/>
              <a:t>    La bibliothèque </a:t>
            </a:r>
            <a:r>
              <a:rPr lang="fr-FR" dirty="0" err="1"/>
              <a:t>pymongo</a:t>
            </a:r>
            <a:r>
              <a:rPr lang="fr-FR" dirty="0"/>
              <a:t> installée. Si ce n'est pas le cas, exécutez la commande suivante dans votre terminal :</a:t>
            </a:r>
          </a:p>
          <a:p>
            <a:r>
              <a:rPr lang="fr-FR" dirty="0"/>
              <a:t>    </a:t>
            </a:r>
          </a:p>
          <a:p>
            <a:endParaRPr lang="fr-FR" dirty="0"/>
          </a:p>
          <a:p>
            <a:r>
              <a:rPr lang="fr-FR" dirty="0" err="1"/>
              <a:t>pip</a:t>
            </a:r>
            <a:r>
              <a:rPr lang="fr-FR" dirty="0"/>
              <a:t> </a:t>
            </a:r>
            <a:r>
              <a:rPr lang="fr-FR" dirty="0" err="1"/>
              <a:t>install</a:t>
            </a:r>
            <a:r>
              <a:rPr lang="fr-FR" dirty="0"/>
              <a:t> </a:t>
            </a:r>
            <a:r>
              <a:rPr lang="fr-FR" dirty="0" err="1"/>
              <a:t>pymongo</a:t>
            </a:r>
            <a:endParaRPr lang="fr-FR" dirty="0"/>
          </a:p>
        </p:txBody>
      </p:sp>
    </p:spTree>
    <p:extLst>
      <p:ext uri="{BB962C8B-B14F-4D97-AF65-F5344CB8AC3E}">
        <p14:creationId xmlns:p14="http://schemas.microsoft.com/office/powerpoint/2010/main" val="3917277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1051" y="2551837"/>
            <a:ext cx="7262949" cy="1477328"/>
          </a:xfrm>
          <a:prstGeom prst="rect">
            <a:avLst/>
          </a:prstGeom>
        </p:spPr>
        <p:txBody>
          <a:bodyPr wrap="square">
            <a:spAutoFit/>
          </a:bodyPr>
          <a:lstStyle/>
          <a:p>
            <a:r>
              <a:rPr lang="fr-FR" dirty="0"/>
              <a:t>Si vous utilisez un environnement virtuel, assurez-vous d'avoir installé les dépendances via le fichier requirements.txt :</a:t>
            </a:r>
          </a:p>
          <a:p>
            <a:r>
              <a:rPr lang="fr-FR" dirty="0" err="1"/>
              <a:t>Bash</a:t>
            </a:r>
            <a:endParaRPr lang="fr-FR" dirty="0"/>
          </a:p>
          <a:p>
            <a:endParaRPr lang="fr-FR" dirty="0"/>
          </a:p>
          <a:p>
            <a:r>
              <a:rPr lang="fr-FR" dirty="0" err="1"/>
              <a:t>pip</a:t>
            </a:r>
            <a:r>
              <a:rPr lang="fr-FR" dirty="0"/>
              <a:t> </a:t>
            </a:r>
            <a:r>
              <a:rPr lang="fr-FR" dirty="0" err="1"/>
              <a:t>install</a:t>
            </a:r>
            <a:r>
              <a:rPr lang="fr-FR" dirty="0"/>
              <a:t> -r requirements.txt</a:t>
            </a:r>
          </a:p>
        </p:txBody>
      </p:sp>
    </p:spTree>
    <p:extLst>
      <p:ext uri="{BB962C8B-B14F-4D97-AF65-F5344CB8AC3E}">
        <p14:creationId xmlns:p14="http://schemas.microsoft.com/office/powerpoint/2010/main" val="2437336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1997839"/>
            <a:ext cx="6096000" cy="2585323"/>
          </a:xfrm>
          <a:prstGeom prst="rect">
            <a:avLst/>
          </a:prstGeom>
        </p:spPr>
        <p:txBody>
          <a:bodyPr>
            <a:spAutoFit/>
          </a:bodyPr>
          <a:lstStyle/>
          <a:p>
            <a:r>
              <a:rPr lang="fr-FR" dirty="0"/>
              <a:t>2. Exécution de la Migration</a:t>
            </a:r>
          </a:p>
          <a:p>
            <a:endParaRPr lang="fr-FR" dirty="0"/>
          </a:p>
          <a:p>
            <a:r>
              <a:rPr lang="fr-FR" dirty="0"/>
              <a:t>La migration est un processus simple et direct.</a:t>
            </a:r>
          </a:p>
          <a:p>
            <a:endParaRPr lang="fr-FR" dirty="0"/>
          </a:p>
          <a:p>
            <a:r>
              <a:rPr lang="fr-FR" dirty="0"/>
              <a:t>    Ouvrez un terminal dans le répertoire du projet.</a:t>
            </a:r>
          </a:p>
          <a:p>
            <a:endParaRPr lang="fr-FR" dirty="0"/>
          </a:p>
          <a:p>
            <a:r>
              <a:rPr lang="fr-FR" dirty="0"/>
              <a:t>    Lancez le script de migration avec la commande :</a:t>
            </a:r>
          </a:p>
          <a:p>
            <a:r>
              <a:rPr lang="fr-FR" dirty="0"/>
              <a:t>    </a:t>
            </a:r>
          </a:p>
          <a:p>
            <a:r>
              <a:rPr lang="fr-FR" dirty="0"/>
              <a:t>python migration.py</a:t>
            </a:r>
          </a:p>
        </p:txBody>
      </p:sp>
    </p:spTree>
    <p:extLst>
      <p:ext uri="{BB962C8B-B14F-4D97-AF65-F5344CB8AC3E}">
        <p14:creationId xmlns:p14="http://schemas.microsoft.com/office/powerpoint/2010/main" val="898178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20240" y="1166843"/>
            <a:ext cx="7223760" cy="4247317"/>
          </a:xfrm>
          <a:prstGeom prst="rect">
            <a:avLst/>
          </a:prstGeom>
        </p:spPr>
        <p:txBody>
          <a:bodyPr wrap="square">
            <a:spAutoFit/>
          </a:bodyPr>
          <a:lstStyle/>
          <a:p>
            <a:r>
              <a:rPr lang="fr-FR" dirty="0"/>
              <a:t>Ce qui se passe pendant la migration :</a:t>
            </a:r>
          </a:p>
          <a:p>
            <a:endParaRPr lang="fr-FR" dirty="0"/>
          </a:p>
          <a:p>
            <a:r>
              <a:rPr lang="fr-FR" dirty="0"/>
              <a:t>Le script fournit des messages de statut dans le terminal pour vous tenir informé de la progression :</a:t>
            </a:r>
          </a:p>
          <a:p>
            <a:endParaRPr lang="fr-FR" dirty="0"/>
          </a:p>
          <a:p>
            <a:r>
              <a:rPr lang="fr-FR" dirty="0"/>
              <a:t>    Connexion établie à la base de données... : Confirme que la connexion avec le serveur </a:t>
            </a:r>
            <a:r>
              <a:rPr lang="fr-FR" dirty="0" err="1"/>
              <a:t>MongoDB</a:t>
            </a:r>
            <a:r>
              <a:rPr lang="fr-FR" dirty="0"/>
              <a:t> a réussi.</a:t>
            </a:r>
          </a:p>
          <a:p>
            <a:endParaRPr lang="fr-FR" dirty="0"/>
          </a:p>
          <a:p>
            <a:r>
              <a:rPr lang="fr-FR" dirty="0"/>
              <a:t>    Collection 'patients' vidée... : Indique que la collection de destination a été nettoyée. Cela évite d'avoir des doublons si vous exécutez le script plusieurs fois.</a:t>
            </a:r>
          </a:p>
          <a:p>
            <a:endParaRPr lang="fr-FR" dirty="0"/>
          </a:p>
          <a:p>
            <a:r>
              <a:rPr lang="fr-FR" dirty="0"/>
              <a:t>    Migration terminée ! X documents insérés... : Confirme que l'opération a réussi et indique le nombre total de documents migrés.</a:t>
            </a:r>
          </a:p>
        </p:txBody>
      </p:sp>
    </p:spTree>
    <p:extLst>
      <p:ext uri="{BB962C8B-B14F-4D97-AF65-F5344CB8AC3E}">
        <p14:creationId xmlns:p14="http://schemas.microsoft.com/office/powerpoint/2010/main" val="806471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5029" y="751344"/>
            <a:ext cx="8098971" cy="4801314"/>
          </a:xfrm>
          <a:prstGeom prst="rect">
            <a:avLst/>
          </a:prstGeom>
        </p:spPr>
        <p:txBody>
          <a:bodyPr wrap="square">
            <a:spAutoFit/>
          </a:bodyPr>
          <a:lstStyle/>
          <a:p>
            <a:r>
              <a:rPr lang="fr-FR" dirty="0" smtClean="0"/>
              <a:t>4.Nettoyage </a:t>
            </a:r>
            <a:r>
              <a:rPr lang="fr-FR" dirty="0"/>
              <a:t>et Conversion des Données :</a:t>
            </a:r>
          </a:p>
          <a:p>
            <a:endParaRPr lang="fr-FR" dirty="0"/>
          </a:p>
          <a:p>
            <a:r>
              <a:rPr lang="fr-FR" dirty="0"/>
              <a:t>    Le script parcourt chaque ligne pour s'assurer que les valeurs sont du bon type.</a:t>
            </a:r>
          </a:p>
          <a:p>
            <a:endParaRPr lang="fr-FR" dirty="0"/>
          </a:p>
          <a:p>
            <a:r>
              <a:rPr lang="fr-FR" dirty="0"/>
              <a:t>    Il tente de convertir les colonnes Age, </a:t>
            </a:r>
            <a:r>
              <a:rPr lang="fr-FR" dirty="0" err="1"/>
              <a:t>Billing</a:t>
            </a:r>
            <a:r>
              <a:rPr lang="fr-FR" dirty="0"/>
              <a:t> </a:t>
            </a:r>
            <a:r>
              <a:rPr lang="fr-FR" dirty="0" err="1"/>
              <a:t>Amount</a:t>
            </a:r>
            <a:r>
              <a:rPr lang="fr-FR" dirty="0"/>
              <a:t> et Room </a:t>
            </a:r>
            <a:r>
              <a:rPr lang="fr-FR" dirty="0" err="1"/>
              <a:t>Number</a:t>
            </a:r>
            <a:r>
              <a:rPr lang="fr-FR" dirty="0"/>
              <a:t> en types numériques (</a:t>
            </a:r>
            <a:r>
              <a:rPr lang="fr-FR" dirty="0" err="1"/>
              <a:t>int</a:t>
            </a:r>
            <a:r>
              <a:rPr lang="fr-FR" dirty="0"/>
              <a:t> ou </a:t>
            </a:r>
            <a:r>
              <a:rPr lang="fr-FR" dirty="0" err="1"/>
              <a:t>float</a:t>
            </a:r>
            <a:r>
              <a:rPr lang="fr-FR" dirty="0"/>
              <a:t>).</a:t>
            </a:r>
          </a:p>
          <a:p>
            <a:endParaRPr lang="fr-FR" dirty="0"/>
          </a:p>
          <a:p>
            <a:r>
              <a:rPr lang="fr-FR" dirty="0"/>
              <a:t>    Gestion des Erreurs : Une logique de gestion des erreurs a été ajoutée. Si une valeur est manquante ou invalide (par exemple, si une cellule est vide), le script ne plante pas. Il ignore simplement la conversion, ce qui évite les erreurs de type </a:t>
            </a:r>
            <a:r>
              <a:rPr lang="fr-FR" dirty="0" err="1"/>
              <a:t>NoneType</a:t>
            </a:r>
            <a:r>
              <a:rPr lang="fr-FR" dirty="0"/>
              <a:t>.</a:t>
            </a:r>
          </a:p>
          <a:p>
            <a:endParaRPr lang="fr-FR" dirty="0"/>
          </a:p>
          <a:p>
            <a:r>
              <a:rPr lang="fr-FR" dirty="0" smtClean="0"/>
              <a:t>5.Insertion </a:t>
            </a:r>
            <a:r>
              <a:rPr lang="fr-FR" dirty="0"/>
              <a:t>en Masse : Une fois toutes les données lues et préparées, le script utilise la méthode </a:t>
            </a:r>
            <a:r>
              <a:rPr lang="fr-FR" dirty="0" err="1"/>
              <a:t>insert_many</a:t>
            </a:r>
            <a:r>
              <a:rPr lang="fr-FR" dirty="0"/>
              <a:t>() de </a:t>
            </a:r>
            <a:r>
              <a:rPr lang="fr-FR" dirty="0" err="1"/>
              <a:t>pymongo</a:t>
            </a:r>
            <a:r>
              <a:rPr lang="fr-FR" dirty="0"/>
              <a:t>. Cette méthode insère tous les documents en une seule fois, ce qui est beaucoup plus performant que de les insérer un par un.</a:t>
            </a:r>
          </a:p>
        </p:txBody>
      </p:sp>
    </p:spTree>
    <p:extLst>
      <p:ext uri="{BB962C8B-B14F-4D97-AF65-F5344CB8AC3E}">
        <p14:creationId xmlns:p14="http://schemas.microsoft.com/office/powerpoint/2010/main" val="2390027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93669" y="1443841"/>
            <a:ext cx="7550331" cy="3416320"/>
          </a:xfrm>
          <a:prstGeom prst="rect">
            <a:avLst/>
          </a:prstGeom>
        </p:spPr>
        <p:txBody>
          <a:bodyPr wrap="square">
            <a:spAutoFit/>
          </a:bodyPr>
          <a:lstStyle/>
          <a:p>
            <a:r>
              <a:rPr lang="fr-FR" dirty="0" smtClean="0"/>
              <a:t>4.Comment </a:t>
            </a:r>
            <a:r>
              <a:rPr lang="fr-FR" dirty="0"/>
              <a:t>Exécuter le Script</a:t>
            </a:r>
          </a:p>
          <a:p>
            <a:endParaRPr lang="fr-FR" dirty="0"/>
          </a:p>
          <a:p>
            <a:r>
              <a:rPr lang="fr-FR" dirty="0"/>
              <a:t>Assurez-vous que votre serveur </a:t>
            </a:r>
            <a:r>
              <a:rPr lang="fr-FR" dirty="0" err="1"/>
              <a:t>MongoDB</a:t>
            </a:r>
            <a:r>
              <a:rPr lang="fr-FR" dirty="0"/>
              <a:t> est démarré.</a:t>
            </a:r>
          </a:p>
          <a:p>
            <a:endParaRPr lang="fr-FR" dirty="0"/>
          </a:p>
          <a:p>
            <a:r>
              <a:rPr lang="fr-FR" dirty="0"/>
              <a:t>Dans le même répertoire que les fichiers healthcare_dataset.csv et migration.py, ouvrez un terminal et exécutez la commande suivante :</a:t>
            </a:r>
          </a:p>
          <a:p>
            <a:endParaRPr lang="fr-FR" dirty="0"/>
          </a:p>
          <a:p>
            <a:r>
              <a:rPr lang="fr-FR" dirty="0"/>
              <a:t>python migration.py</a:t>
            </a:r>
          </a:p>
          <a:p>
            <a:endParaRPr lang="fr-FR" dirty="0"/>
          </a:p>
          <a:p>
            <a:r>
              <a:rPr lang="fr-FR" dirty="0"/>
              <a:t>Le terminal affichera les étapes du processus, et une fois l'exécution terminée, vous verrez un message de confirmation indiquant le nombre de documents insérés.</a:t>
            </a:r>
          </a:p>
        </p:txBody>
      </p:sp>
    </p:spTree>
    <p:extLst>
      <p:ext uri="{BB962C8B-B14F-4D97-AF65-F5344CB8AC3E}">
        <p14:creationId xmlns:p14="http://schemas.microsoft.com/office/powerpoint/2010/main" val="35426017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4034" y="889844"/>
            <a:ext cx="7889966" cy="3970318"/>
          </a:xfrm>
          <a:prstGeom prst="rect">
            <a:avLst/>
          </a:prstGeom>
        </p:spPr>
        <p:txBody>
          <a:bodyPr wrap="square">
            <a:spAutoFit/>
          </a:bodyPr>
          <a:lstStyle/>
          <a:p>
            <a:r>
              <a:rPr lang="fr-FR" dirty="0"/>
              <a:t>. Analyse du Script (migration.py)</a:t>
            </a:r>
          </a:p>
          <a:p>
            <a:endParaRPr lang="fr-FR" dirty="0"/>
          </a:p>
          <a:p>
            <a:r>
              <a:rPr lang="fr-FR" dirty="0"/>
              <a:t>Le script est conçu pour être à la fois simple et robuste. Voici sa logique :</a:t>
            </a:r>
          </a:p>
          <a:p>
            <a:endParaRPr lang="fr-FR" dirty="0"/>
          </a:p>
          <a:p>
            <a:r>
              <a:rPr lang="fr-FR" dirty="0"/>
              <a:t>    Connexion : </a:t>
            </a:r>
            <a:r>
              <a:rPr lang="fr-FR" dirty="0" err="1"/>
              <a:t>MongoClient</a:t>
            </a:r>
            <a:r>
              <a:rPr lang="fr-FR" dirty="0"/>
              <a:t> établit la connexion au serveur </a:t>
            </a:r>
            <a:r>
              <a:rPr lang="fr-FR" dirty="0" err="1"/>
              <a:t>MongoDB</a:t>
            </a:r>
            <a:r>
              <a:rPr lang="fr-FR" dirty="0"/>
              <a:t>.</a:t>
            </a:r>
          </a:p>
          <a:p>
            <a:endParaRPr lang="fr-FR" dirty="0"/>
          </a:p>
          <a:p>
            <a:r>
              <a:rPr lang="fr-FR" dirty="0"/>
              <a:t>    Nettoyage : La méthode </a:t>
            </a:r>
            <a:r>
              <a:rPr lang="fr-FR" dirty="0" err="1"/>
              <a:t>collection.delete_many</a:t>
            </a:r>
            <a:r>
              <a:rPr lang="fr-FR" dirty="0"/>
              <a:t>({}) est un exemple de l'opération CRUD (</a:t>
            </a:r>
            <a:r>
              <a:rPr lang="fr-FR" dirty="0" err="1"/>
              <a:t>Create</a:t>
            </a:r>
            <a:r>
              <a:rPr lang="fr-FR" dirty="0"/>
              <a:t>, Read, Update, </a:t>
            </a:r>
            <a:r>
              <a:rPr lang="fr-FR" dirty="0" err="1"/>
              <a:t>Delete</a:t>
            </a:r>
            <a:r>
              <a:rPr lang="fr-FR" dirty="0"/>
              <a:t>). Dans ce cas, nous utilisons </a:t>
            </a:r>
            <a:r>
              <a:rPr lang="fr-FR" dirty="0" err="1"/>
              <a:t>Delete</a:t>
            </a:r>
            <a:r>
              <a:rPr lang="fr-FR" dirty="0"/>
              <a:t> pour vider la collection.</a:t>
            </a:r>
          </a:p>
          <a:p>
            <a:endParaRPr lang="fr-FR" dirty="0"/>
          </a:p>
          <a:p>
            <a:r>
              <a:rPr lang="fr-FR" dirty="0"/>
              <a:t>    Lecture des données : Le script utilise </a:t>
            </a:r>
            <a:r>
              <a:rPr lang="fr-FR" dirty="0" err="1"/>
              <a:t>csv.DictReader</a:t>
            </a:r>
            <a:r>
              <a:rPr lang="fr-FR" dirty="0"/>
              <a:t> pour lire le fichier CSV. Chaque ligne est lue comme un dictionnaire, ce qui permet de mapper directement les colonnes (Name, Age, etc.) aux champs du document JSON de </a:t>
            </a:r>
            <a:r>
              <a:rPr lang="fr-FR" dirty="0" err="1"/>
              <a:t>MongoDB</a:t>
            </a:r>
            <a:r>
              <a:rPr lang="fr-FR" dirty="0"/>
              <a:t>.</a:t>
            </a:r>
          </a:p>
        </p:txBody>
      </p:sp>
    </p:spTree>
    <p:extLst>
      <p:ext uri="{BB962C8B-B14F-4D97-AF65-F5344CB8AC3E}">
        <p14:creationId xmlns:p14="http://schemas.microsoft.com/office/powerpoint/2010/main" val="748648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7726" y="474345"/>
            <a:ext cx="7746274" cy="5078313"/>
          </a:xfrm>
          <a:prstGeom prst="rect">
            <a:avLst/>
          </a:prstGeom>
        </p:spPr>
        <p:txBody>
          <a:bodyPr wrap="square">
            <a:spAutoFit/>
          </a:bodyPr>
          <a:lstStyle/>
          <a:p>
            <a:r>
              <a:rPr lang="fr-FR" dirty="0"/>
              <a:t>Rôle des Volumes et des Conteneurs (Docker)</a:t>
            </a:r>
          </a:p>
          <a:p>
            <a:endParaRPr lang="fr-FR" dirty="0"/>
          </a:p>
          <a:p>
            <a:r>
              <a:rPr lang="fr-FR" dirty="0"/>
              <a:t>Bien que ce script puisse être exécuté localement, il est généralement utilisé dans un environnement conteneurisé. Voici comment Docker et ses concepts sont liés à ce processus :</a:t>
            </a:r>
          </a:p>
          <a:p>
            <a:endParaRPr lang="fr-FR" dirty="0"/>
          </a:p>
          <a:p>
            <a:r>
              <a:rPr lang="fr-FR" dirty="0"/>
              <a:t>    Conteneurs (Containers) : Le script migration.py et son environnement Python peuvent être encapsulés dans un conteneur Docker. Cela garantit que le script s'exécutera de la même manière, quel que soit l'ordinateur, car il inclut toutes ses dépendances.</a:t>
            </a:r>
          </a:p>
          <a:p>
            <a:endParaRPr lang="fr-FR" dirty="0"/>
          </a:p>
          <a:p>
            <a:r>
              <a:rPr lang="fr-FR" dirty="0"/>
              <a:t>    Images Docker : L'image de base pour un tel conteneur pourrait être python:3.9-slim, ce qui fournit l'environnement minimal pour exécuter le script.</a:t>
            </a:r>
          </a:p>
          <a:p>
            <a:endParaRPr lang="fr-FR" dirty="0"/>
          </a:p>
          <a:p>
            <a:r>
              <a:rPr lang="fr-FR" dirty="0"/>
              <a:t>    Volumes (Volumes) : Dans un environnement Docker, pour que le conteneur puisse lire le fichier CSV et écrire des données persistantes dans la base de données, on utilise des volumes.</a:t>
            </a:r>
          </a:p>
        </p:txBody>
      </p:sp>
    </p:spTree>
    <p:extLst>
      <p:ext uri="{BB962C8B-B14F-4D97-AF65-F5344CB8AC3E}">
        <p14:creationId xmlns:p14="http://schemas.microsoft.com/office/powerpoint/2010/main" val="6931355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8720" y="1859340"/>
            <a:ext cx="7955280" cy="2862322"/>
          </a:xfrm>
          <a:prstGeom prst="rect">
            <a:avLst/>
          </a:prstGeom>
        </p:spPr>
        <p:txBody>
          <a:bodyPr wrap="square">
            <a:spAutoFit/>
          </a:bodyPr>
          <a:lstStyle/>
          <a:p>
            <a:r>
              <a:rPr lang="fr-FR" dirty="0"/>
              <a:t>Un volume permet de lier un répertoire de votre machine hôte (par exemple, le dossier de votre projet) à un répertoire à l'intérieur du conteneur.</a:t>
            </a:r>
          </a:p>
          <a:p>
            <a:endParaRPr lang="fr-FR" dirty="0"/>
          </a:p>
          <a:p>
            <a:r>
              <a:rPr lang="fr-FR" dirty="0"/>
              <a:t>Le fichier healthcare_dataset.csv serait ainsi "monté" dans le conteneur, lui permettant d'y accéder, même s'il se trouve sur votre machine locale.</a:t>
            </a:r>
          </a:p>
          <a:p>
            <a:endParaRPr lang="fr-FR" dirty="0"/>
          </a:p>
          <a:p>
            <a:r>
              <a:rPr lang="fr-FR" dirty="0"/>
              <a:t>De même, un volume est crucial pour le conteneur de base de données </a:t>
            </a:r>
            <a:r>
              <a:rPr lang="fr-FR" dirty="0" err="1"/>
              <a:t>MongoDB</a:t>
            </a:r>
            <a:r>
              <a:rPr lang="fr-FR" dirty="0"/>
              <a:t> afin de stocker les données de manière persistante, même si le conteneur est supprimé.</a:t>
            </a:r>
          </a:p>
        </p:txBody>
      </p:sp>
    </p:spTree>
    <p:extLst>
      <p:ext uri="{BB962C8B-B14F-4D97-AF65-F5344CB8AC3E}">
        <p14:creationId xmlns:p14="http://schemas.microsoft.com/office/powerpoint/2010/main" val="1594093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2460786"/>
            <a:ext cx="6096000" cy="1936428"/>
          </a:xfrm>
          <a:prstGeom prst="rect">
            <a:avLst/>
          </a:prstGeom>
        </p:spPr>
        <p:txBody>
          <a:bodyPr>
            <a:spAutoFit/>
          </a:bodyPr>
          <a:lstStyle/>
          <a:p>
            <a:pPr>
              <a:lnSpc>
                <a:spcPct val="107000"/>
              </a:lnSpc>
              <a:spcAft>
                <a:spcPts val="800"/>
              </a:spcAft>
            </a:pPr>
            <a:r>
              <a:rPr lang="fr-FR" sz="2800" dirty="0">
                <a:latin typeface="Calibri" panose="020F0502020204030204" pitchFamily="34" charset="0"/>
                <a:ea typeface="Calibri" panose="020F0502020204030204" pitchFamily="34" charset="0"/>
                <a:cs typeface="Times New Roman" panose="02020603050405020304" pitchFamily="18" charset="0"/>
              </a:rPr>
              <a:t>Un requirements.txt contenant tous les modules (et leur version) nécessaires au bon fonctionnement de votre environnement virtuel</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2490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94114" y="2413338"/>
            <a:ext cx="7249886" cy="1754326"/>
          </a:xfrm>
          <a:prstGeom prst="rect">
            <a:avLst/>
          </a:prstGeom>
        </p:spPr>
        <p:txBody>
          <a:bodyPr wrap="square">
            <a:spAutoFit/>
          </a:bodyPr>
          <a:lstStyle/>
          <a:p>
            <a:r>
              <a:rPr lang="fr-FR" dirty="0"/>
              <a:t>Un fichier requirements.txt est essentiel pour lister toutes les bibliothèques Python nécessaires </a:t>
            </a:r>
            <a:r>
              <a:rPr lang="fr-FR" dirty="0" smtClean="0"/>
              <a:t>au projet</a:t>
            </a:r>
            <a:r>
              <a:rPr lang="fr-FR" dirty="0"/>
              <a:t>. Il permet à d'autres développeurs de reproduire facilement </a:t>
            </a:r>
            <a:r>
              <a:rPr lang="fr-FR" dirty="0" smtClean="0"/>
              <a:t>l’environnement </a:t>
            </a:r>
            <a:r>
              <a:rPr lang="fr-FR" dirty="0"/>
              <a:t>de travail.</a:t>
            </a:r>
          </a:p>
          <a:p>
            <a:endParaRPr lang="fr-FR" dirty="0"/>
          </a:p>
          <a:p>
            <a:r>
              <a:rPr lang="fr-FR" dirty="0" smtClean="0"/>
              <a:t>Le </a:t>
            </a:r>
            <a:r>
              <a:rPr lang="fr-FR" dirty="0"/>
              <a:t>script de migration utilise une seule bibliothèque externe : </a:t>
            </a:r>
            <a:r>
              <a:rPr lang="fr-FR" dirty="0" err="1"/>
              <a:t>pymongo</a:t>
            </a:r>
            <a:endParaRPr lang="fr-FR" dirty="0"/>
          </a:p>
        </p:txBody>
      </p:sp>
    </p:spTree>
    <p:extLst>
      <p:ext uri="{BB962C8B-B14F-4D97-AF65-F5344CB8AC3E}">
        <p14:creationId xmlns:p14="http://schemas.microsoft.com/office/powerpoint/2010/main" val="2209721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25189" y="1794026"/>
            <a:ext cx="6923314" cy="2031325"/>
          </a:xfrm>
          <a:prstGeom prst="rect">
            <a:avLst/>
          </a:prstGeom>
        </p:spPr>
        <p:txBody>
          <a:bodyPr wrap="square">
            <a:spAutoFit/>
          </a:bodyPr>
          <a:lstStyle/>
          <a:p>
            <a:r>
              <a:rPr lang="fr-FR" dirty="0"/>
              <a:t>Méthode 1 : Créer le fichier manuellement</a:t>
            </a:r>
          </a:p>
          <a:p>
            <a:endParaRPr lang="fr-FR" dirty="0"/>
          </a:p>
          <a:p>
            <a:r>
              <a:rPr lang="fr-FR" dirty="0"/>
              <a:t>Vous pouvez créer un fichier nommé requirements.txt dans le dossier de votre projet et y ajouter la ligne suivante :</a:t>
            </a:r>
          </a:p>
          <a:p>
            <a:endParaRPr lang="fr-FR" dirty="0"/>
          </a:p>
          <a:p>
            <a:r>
              <a:rPr lang="fr-FR" dirty="0" err="1"/>
              <a:t>pymongo</a:t>
            </a:r>
            <a:r>
              <a:rPr lang="fr-FR" dirty="0"/>
              <a:t>==4.6.1</a:t>
            </a:r>
          </a:p>
          <a:p>
            <a:endParaRPr lang="fr-FR" dirty="0"/>
          </a:p>
        </p:txBody>
      </p:sp>
    </p:spTree>
    <p:extLst>
      <p:ext uri="{BB962C8B-B14F-4D97-AF65-F5344CB8AC3E}">
        <p14:creationId xmlns:p14="http://schemas.microsoft.com/office/powerpoint/2010/main" val="714851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3406" y="474345"/>
            <a:ext cx="8020594" cy="5355312"/>
          </a:xfrm>
          <a:prstGeom prst="rect">
            <a:avLst/>
          </a:prstGeom>
        </p:spPr>
        <p:txBody>
          <a:bodyPr wrap="square">
            <a:spAutoFit/>
          </a:bodyPr>
          <a:lstStyle/>
          <a:p>
            <a:r>
              <a:rPr lang="fr-FR" dirty="0"/>
              <a:t>Méthode 2 : Générer le fichier automatiquement (recommandé)</a:t>
            </a:r>
          </a:p>
          <a:p>
            <a:endParaRPr lang="fr-FR" dirty="0"/>
          </a:p>
          <a:p>
            <a:r>
              <a:rPr lang="fr-FR" dirty="0"/>
              <a:t>La meilleure méthode est de laisser </a:t>
            </a:r>
            <a:r>
              <a:rPr lang="fr-FR" dirty="0" err="1"/>
              <a:t>pip</a:t>
            </a:r>
            <a:r>
              <a:rPr lang="fr-FR" dirty="0"/>
              <a:t> générer ce fichier pour vous, car il listera toutes les bibliothèques et leurs versions exactes, y compris leurs dépendances.</a:t>
            </a:r>
          </a:p>
          <a:p>
            <a:endParaRPr lang="fr-FR" dirty="0"/>
          </a:p>
          <a:p>
            <a:r>
              <a:rPr lang="fr-FR" dirty="0"/>
              <a:t>    Assurez-vous d'être dans votre environnement virtuel si vous en utilisez un.</a:t>
            </a:r>
          </a:p>
          <a:p>
            <a:endParaRPr lang="fr-FR" dirty="0"/>
          </a:p>
          <a:p>
            <a:r>
              <a:rPr lang="fr-FR" dirty="0"/>
              <a:t>    Ouvrez votre terminal dans le dossier de votre projet.</a:t>
            </a:r>
          </a:p>
          <a:p>
            <a:endParaRPr lang="fr-FR" dirty="0"/>
          </a:p>
          <a:p>
            <a:r>
              <a:rPr lang="fr-FR" dirty="0"/>
              <a:t>    Tapez la commande suivante et appuyez sur Entrée :</a:t>
            </a:r>
          </a:p>
          <a:p>
            <a:endParaRPr lang="fr-FR" dirty="0"/>
          </a:p>
          <a:p>
            <a:endParaRPr lang="fr-FR" dirty="0"/>
          </a:p>
          <a:p>
            <a:r>
              <a:rPr lang="fr-FR" dirty="0" err="1"/>
              <a:t>pip</a:t>
            </a:r>
            <a:r>
              <a:rPr lang="fr-FR" dirty="0"/>
              <a:t> </a:t>
            </a:r>
            <a:r>
              <a:rPr lang="fr-FR" dirty="0" err="1"/>
              <a:t>freeze</a:t>
            </a:r>
            <a:r>
              <a:rPr lang="fr-FR" dirty="0"/>
              <a:t> &gt; requirements.txt</a:t>
            </a:r>
          </a:p>
          <a:p>
            <a:endParaRPr lang="fr-FR" dirty="0"/>
          </a:p>
          <a:p>
            <a:r>
              <a:rPr lang="fr-FR" dirty="0"/>
              <a:t>Cette commande </a:t>
            </a:r>
            <a:r>
              <a:rPr lang="fr-FR" dirty="0" err="1"/>
              <a:t>pip</a:t>
            </a:r>
            <a:r>
              <a:rPr lang="fr-FR" dirty="0"/>
              <a:t> </a:t>
            </a:r>
            <a:r>
              <a:rPr lang="fr-FR" dirty="0" err="1"/>
              <a:t>freeze</a:t>
            </a:r>
            <a:r>
              <a:rPr lang="fr-FR" dirty="0"/>
              <a:t> liste toutes les bibliothèques installées dans votre environnement, et &gt; redirige cette liste vers un nouveau fichier nommé requirements.txt.</a:t>
            </a:r>
          </a:p>
        </p:txBody>
      </p:sp>
    </p:spTree>
    <p:extLst>
      <p:ext uri="{BB962C8B-B14F-4D97-AF65-F5344CB8AC3E}">
        <p14:creationId xmlns:p14="http://schemas.microsoft.com/office/powerpoint/2010/main" val="2787635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9794" y="2136339"/>
            <a:ext cx="7524206" cy="2031325"/>
          </a:xfrm>
          <a:prstGeom prst="rect">
            <a:avLst/>
          </a:prstGeom>
        </p:spPr>
        <p:txBody>
          <a:bodyPr wrap="square">
            <a:spAutoFit/>
          </a:bodyPr>
          <a:lstStyle/>
          <a:p>
            <a:r>
              <a:rPr lang="fr-FR" dirty="0"/>
              <a:t>Utilisation du fichier</a:t>
            </a:r>
          </a:p>
          <a:p>
            <a:endParaRPr lang="fr-FR" dirty="0"/>
          </a:p>
          <a:p>
            <a:r>
              <a:rPr lang="fr-FR" dirty="0"/>
              <a:t>Pour installer toutes les dépendances de votre projet sur une autre machine (ou dans un nouvel environnement virtuel), vous n'aurez qu'à utiliser la commande suivante :</a:t>
            </a:r>
          </a:p>
          <a:p>
            <a:endParaRPr lang="fr-FR" dirty="0"/>
          </a:p>
          <a:p>
            <a:r>
              <a:rPr lang="fr-FR" dirty="0" err="1"/>
              <a:t>pip</a:t>
            </a:r>
            <a:r>
              <a:rPr lang="fr-FR" dirty="0"/>
              <a:t> </a:t>
            </a:r>
            <a:r>
              <a:rPr lang="fr-FR" dirty="0" err="1"/>
              <a:t>install</a:t>
            </a:r>
            <a:r>
              <a:rPr lang="fr-FR" dirty="0"/>
              <a:t> -r requirements.txt</a:t>
            </a:r>
          </a:p>
        </p:txBody>
      </p:sp>
    </p:spTree>
    <p:extLst>
      <p:ext uri="{BB962C8B-B14F-4D97-AF65-F5344CB8AC3E}">
        <p14:creationId xmlns:p14="http://schemas.microsoft.com/office/powerpoint/2010/main" val="2827251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136339"/>
            <a:ext cx="6096000" cy="3416320"/>
          </a:xfrm>
          <a:prstGeom prst="rect">
            <a:avLst/>
          </a:prstGeom>
        </p:spPr>
        <p:txBody>
          <a:bodyPr>
            <a:spAutoFit/>
          </a:bodyPr>
          <a:lstStyle/>
          <a:p>
            <a:endParaRPr lang="fr-FR" dirty="0"/>
          </a:p>
          <a:p>
            <a:endParaRPr lang="fr-FR" dirty="0"/>
          </a:p>
          <a:p>
            <a:r>
              <a:rPr lang="fr-FR" sz="3600" dirty="0"/>
              <a:t>Définir les concepts clés de </a:t>
            </a:r>
            <a:r>
              <a:rPr lang="fr-FR" sz="3600" dirty="0" err="1"/>
              <a:t>MongoDB</a:t>
            </a:r>
            <a:r>
              <a:rPr lang="fr-FR" sz="3600" dirty="0"/>
              <a:t> </a:t>
            </a:r>
            <a:r>
              <a:rPr lang="fr-FR" dirty="0"/>
              <a:t>: </a:t>
            </a:r>
          </a:p>
          <a:p>
            <a:endParaRPr lang="fr-FR" dirty="0"/>
          </a:p>
          <a:p>
            <a:r>
              <a:rPr lang="fr-FR" dirty="0"/>
              <a:t>    Documents </a:t>
            </a:r>
          </a:p>
          <a:p>
            <a:endParaRPr lang="fr-FR" dirty="0"/>
          </a:p>
          <a:p>
            <a:r>
              <a:rPr lang="fr-FR" dirty="0"/>
              <a:t>    Collections </a:t>
            </a:r>
          </a:p>
          <a:p>
            <a:endParaRPr lang="fr-FR" dirty="0"/>
          </a:p>
          <a:p>
            <a:r>
              <a:rPr lang="fr-FR" dirty="0"/>
              <a:t>    Bases de données</a:t>
            </a:r>
          </a:p>
        </p:txBody>
      </p:sp>
    </p:spTree>
    <p:extLst>
      <p:ext uri="{BB962C8B-B14F-4D97-AF65-F5344CB8AC3E}">
        <p14:creationId xmlns:p14="http://schemas.microsoft.com/office/powerpoint/2010/main" val="398970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6469" y="474345"/>
            <a:ext cx="8007531" cy="5078313"/>
          </a:xfrm>
          <a:prstGeom prst="rect">
            <a:avLst/>
          </a:prstGeom>
        </p:spPr>
        <p:txBody>
          <a:bodyPr wrap="square">
            <a:spAutoFit/>
          </a:bodyPr>
          <a:lstStyle/>
          <a:p>
            <a:r>
              <a:rPr lang="fr-FR" dirty="0"/>
              <a:t>Documents</a:t>
            </a:r>
          </a:p>
          <a:p>
            <a:endParaRPr lang="fr-FR" dirty="0"/>
          </a:p>
          <a:p>
            <a:r>
              <a:rPr lang="fr-FR" dirty="0"/>
              <a:t>Un document est l'unité de base de stockage dans </a:t>
            </a:r>
            <a:r>
              <a:rPr lang="fr-FR" dirty="0" err="1"/>
              <a:t>MongoDB</a:t>
            </a:r>
            <a:r>
              <a:rPr lang="fr-FR" dirty="0"/>
              <a:t>. Il correspond à une ligne dans une base de données relationnelle.</a:t>
            </a:r>
          </a:p>
          <a:p>
            <a:endParaRPr lang="fr-FR" dirty="0"/>
          </a:p>
          <a:p>
            <a:r>
              <a:rPr lang="fr-FR" dirty="0"/>
              <a:t>    Structure : Un document est une structure de données au format JSON (ou plus précisément, BSON - </a:t>
            </a:r>
            <a:r>
              <a:rPr lang="fr-FR" dirty="0" err="1"/>
              <a:t>Binary</a:t>
            </a:r>
            <a:r>
              <a:rPr lang="fr-FR" dirty="0"/>
              <a:t> JSON).</a:t>
            </a:r>
          </a:p>
          <a:p>
            <a:endParaRPr lang="fr-FR" dirty="0"/>
          </a:p>
          <a:p>
            <a:r>
              <a:rPr lang="fr-FR" dirty="0"/>
              <a:t>    Format : Il contient des paires champ: valeur. Par exemple : {"nom": "Jean", "</a:t>
            </a:r>
            <a:r>
              <a:rPr lang="fr-FR" dirty="0" err="1"/>
              <a:t>age</a:t>
            </a:r>
            <a:r>
              <a:rPr lang="fr-FR" dirty="0"/>
              <a:t>": 30}.</a:t>
            </a:r>
          </a:p>
          <a:p>
            <a:endParaRPr lang="fr-FR" dirty="0"/>
          </a:p>
          <a:p>
            <a:r>
              <a:rPr lang="fr-FR" dirty="0"/>
              <a:t>    Flexibilité : Chaque document d'une même collection peut avoir une structure différente, ce qui est l'un des principaux avantages de </a:t>
            </a:r>
            <a:r>
              <a:rPr lang="fr-FR" dirty="0" err="1"/>
              <a:t>MongoDB</a:t>
            </a:r>
            <a:r>
              <a:rPr lang="fr-FR" dirty="0"/>
              <a:t> (schéma flexible).</a:t>
            </a:r>
          </a:p>
          <a:p>
            <a:endParaRPr lang="fr-FR" dirty="0"/>
          </a:p>
          <a:p>
            <a:r>
              <a:rPr lang="fr-FR" dirty="0"/>
              <a:t>Dans </a:t>
            </a:r>
            <a:r>
              <a:rPr lang="fr-FR" dirty="0" smtClean="0"/>
              <a:t>le projet actuel, </a:t>
            </a:r>
            <a:r>
              <a:rPr lang="fr-FR" dirty="0"/>
              <a:t>chaque patient de </a:t>
            </a:r>
            <a:r>
              <a:rPr lang="fr-FR" dirty="0" smtClean="0"/>
              <a:t>du </a:t>
            </a:r>
            <a:r>
              <a:rPr lang="fr-FR" dirty="0"/>
              <a:t>fichier CSV (healthcare_dataset.csv) correspond à un document. Chaque ligne du CSV est devenue un document dans </a:t>
            </a:r>
            <a:r>
              <a:rPr lang="fr-FR" dirty="0" smtClean="0"/>
              <a:t>la </a:t>
            </a:r>
            <a:r>
              <a:rPr lang="fr-FR" dirty="0"/>
              <a:t>base de données.</a:t>
            </a:r>
          </a:p>
        </p:txBody>
      </p:sp>
    </p:spTree>
    <p:extLst>
      <p:ext uri="{BB962C8B-B14F-4D97-AF65-F5344CB8AC3E}">
        <p14:creationId xmlns:p14="http://schemas.microsoft.com/office/powerpoint/2010/main" val="25997042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8903" y="1166843"/>
            <a:ext cx="8125097" cy="3416320"/>
          </a:xfrm>
          <a:prstGeom prst="rect">
            <a:avLst/>
          </a:prstGeom>
        </p:spPr>
        <p:txBody>
          <a:bodyPr wrap="square">
            <a:spAutoFit/>
          </a:bodyPr>
          <a:lstStyle/>
          <a:p>
            <a:r>
              <a:rPr lang="fr-FR" dirty="0"/>
              <a:t>Collections</a:t>
            </a:r>
          </a:p>
          <a:p>
            <a:endParaRPr lang="fr-FR" dirty="0"/>
          </a:p>
          <a:p>
            <a:r>
              <a:rPr lang="fr-FR" dirty="0"/>
              <a:t>Une collection est un groupe de documents. Elle est l'équivalent d'une table dans une base de données relationnelle.</a:t>
            </a:r>
          </a:p>
          <a:p>
            <a:endParaRPr lang="fr-FR" dirty="0"/>
          </a:p>
          <a:p>
            <a:r>
              <a:rPr lang="fr-FR" dirty="0"/>
              <a:t>    Rôle : Elle organise et stocke les documents de manière logique.</a:t>
            </a:r>
          </a:p>
          <a:p>
            <a:endParaRPr lang="fr-FR" dirty="0"/>
          </a:p>
          <a:p>
            <a:r>
              <a:rPr lang="fr-FR" dirty="0"/>
              <a:t>    Exemple : Dans </a:t>
            </a:r>
            <a:r>
              <a:rPr lang="fr-FR" dirty="0" smtClean="0"/>
              <a:t>la </a:t>
            </a:r>
            <a:r>
              <a:rPr lang="fr-FR" dirty="0"/>
              <a:t>base de données </a:t>
            </a:r>
            <a:r>
              <a:rPr lang="fr-FR" dirty="0" err="1"/>
              <a:t>healthcare_db</a:t>
            </a:r>
            <a:r>
              <a:rPr lang="fr-FR" dirty="0"/>
              <a:t>, la collection patients contient tous les documents, chacun représentant un patient.</a:t>
            </a:r>
          </a:p>
          <a:p>
            <a:endParaRPr lang="fr-FR" dirty="0"/>
          </a:p>
          <a:p>
            <a:r>
              <a:rPr lang="fr-FR" dirty="0"/>
              <a:t>    Schéma : Les collections sont "sans schéma" (</a:t>
            </a:r>
            <a:r>
              <a:rPr lang="fr-FR" dirty="0" err="1"/>
              <a:t>schemaless</a:t>
            </a:r>
            <a:r>
              <a:rPr lang="fr-FR" dirty="0"/>
              <a:t>), ce qui signifie que vous pouvez y insérer des documents avec des structures variées.</a:t>
            </a:r>
          </a:p>
        </p:txBody>
      </p:sp>
    </p:spTree>
    <p:extLst>
      <p:ext uri="{BB962C8B-B14F-4D97-AF65-F5344CB8AC3E}">
        <p14:creationId xmlns:p14="http://schemas.microsoft.com/office/powerpoint/2010/main" val="3530019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8903" y="751344"/>
            <a:ext cx="8125097" cy="4801314"/>
          </a:xfrm>
          <a:prstGeom prst="rect">
            <a:avLst/>
          </a:prstGeom>
        </p:spPr>
        <p:txBody>
          <a:bodyPr wrap="square">
            <a:spAutoFit/>
          </a:bodyPr>
          <a:lstStyle/>
          <a:p>
            <a:r>
              <a:rPr lang="fr-FR" dirty="0"/>
              <a:t>Bases de Données (</a:t>
            </a:r>
            <a:r>
              <a:rPr lang="fr-FR" dirty="0" err="1"/>
              <a:t>Databases</a:t>
            </a:r>
            <a:r>
              <a:rPr lang="fr-FR" dirty="0"/>
              <a:t>)</a:t>
            </a:r>
          </a:p>
          <a:p>
            <a:endParaRPr lang="fr-FR" dirty="0"/>
          </a:p>
          <a:p>
            <a:r>
              <a:rPr lang="fr-FR" dirty="0"/>
              <a:t>Une base de données est un conteneur physique pour les collections. C'est le plus grand niveau d'organisation.</a:t>
            </a:r>
          </a:p>
          <a:p>
            <a:endParaRPr lang="fr-FR" dirty="0"/>
          </a:p>
          <a:p>
            <a:r>
              <a:rPr lang="fr-FR" dirty="0"/>
              <a:t>    Rôle : Elle regroupe des collections pour un projet ou une application donnée.</a:t>
            </a:r>
          </a:p>
          <a:p>
            <a:endParaRPr lang="fr-FR" dirty="0"/>
          </a:p>
          <a:p>
            <a:r>
              <a:rPr lang="fr-FR" dirty="0"/>
              <a:t>    Exemple : </a:t>
            </a:r>
            <a:r>
              <a:rPr lang="fr-FR" dirty="0" smtClean="0"/>
              <a:t>le projet actuel </a:t>
            </a:r>
            <a:r>
              <a:rPr lang="fr-FR" dirty="0"/>
              <a:t>a créé une base de données appelée </a:t>
            </a:r>
            <a:r>
              <a:rPr lang="fr-FR" dirty="0" err="1"/>
              <a:t>healthcare_db</a:t>
            </a:r>
            <a:r>
              <a:rPr lang="fr-FR" dirty="0"/>
              <a:t>, qui contient la collection patients.</a:t>
            </a:r>
          </a:p>
          <a:p>
            <a:endParaRPr lang="fr-FR" dirty="0"/>
          </a:p>
          <a:p>
            <a:r>
              <a:rPr lang="fr-FR" dirty="0"/>
              <a:t>    Hiérarchie : La structure est donc : Base de données &gt; Collections &gt; Documents.</a:t>
            </a:r>
          </a:p>
          <a:p>
            <a:endParaRPr lang="fr-FR" dirty="0"/>
          </a:p>
          <a:p>
            <a:r>
              <a:rPr lang="fr-FR" dirty="0"/>
              <a:t>En résumé, </a:t>
            </a:r>
            <a:r>
              <a:rPr lang="fr-FR" dirty="0" smtClean="0"/>
              <a:t>nous avons créé </a:t>
            </a:r>
            <a:r>
              <a:rPr lang="fr-FR" dirty="0"/>
              <a:t>une base de données </a:t>
            </a:r>
            <a:r>
              <a:rPr lang="fr-FR" dirty="0" err="1"/>
              <a:t>healthcare_db</a:t>
            </a:r>
            <a:r>
              <a:rPr lang="fr-FR" dirty="0"/>
              <a:t> qui contient une collection patients, laquelle est remplie de documents qui sont les données individuelles de chaque patient.</a:t>
            </a:r>
          </a:p>
        </p:txBody>
      </p:sp>
    </p:spTree>
    <p:extLst>
      <p:ext uri="{BB962C8B-B14F-4D97-AF65-F5344CB8AC3E}">
        <p14:creationId xmlns:p14="http://schemas.microsoft.com/office/powerpoint/2010/main" val="1052016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376" y="723331"/>
            <a:ext cx="8693624" cy="2308324"/>
          </a:xfrm>
          <a:prstGeom prst="rect">
            <a:avLst/>
          </a:prstGeom>
        </p:spPr>
        <p:txBody>
          <a:bodyPr wrap="square">
            <a:spAutoFit/>
          </a:bodyPr>
          <a:lstStyle/>
          <a:p>
            <a:r>
              <a:rPr lang="fr-FR" sz="3600" dirty="0"/>
              <a:t>Créer et manipuler des collections et documents </a:t>
            </a:r>
            <a:r>
              <a:rPr lang="fr-FR" sz="3600" dirty="0" err="1"/>
              <a:t>MongoDB</a:t>
            </a:r>
            <a:r>
              <a:rPr lang="fr-FR" sz="3600" dirty="0"/>
              <a:t> en utilisant quelques exemples pris dans votre </a:t>
            </a:r>
            <a:r>
              <a:rPr lang="fr-FR" sz="3600" dirty="0" err="1"/>
              <a:t>dataset</a:t>
            </a:r>
            <a:endParaRPr lang="fr-FR" sz="3600" dirty="0"/>
          </a:p>
        </p:txBody>
      </p:sp>
    </p:spTree>
    <p:extLst>
      <p:ext uri="{BB962C8B-B14F-4D97-AF65-F5344CB8AC3E}">
        <p14:creationId xmlns:p14="http://schemas.microsoft.com/office/powerpoint/2010/main" val="34833746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7211"/>
            <a:ext cx="12192000" cy="6203577"/>
          </a:xfrm>
          <a:prstGeom prst="rect">
            <a:avLst/>
          </a:prstGeom>
        </p:spPr>
      </p:pic>
    </p:spTree>
    <p:extLst>
      <p:ext uri="{BB962C8B-B14F-4D97-AF65-F5344CB8AC3E}">
        <p14:creationId xmlns:p14="http://schemas.microsoft.com/office/powerpoint/2010/main" val="38644291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15291" y="889844"/>
            <a:ext cx="7628709" cy="4801314"/>
          </a:xfrm>
          <a:prstGeom prst="rect">
            <a:avLst/>
          </a:prstGeom>
        </p:spPr>
        <p:txBody>
          <a:bodyPr wrap="square">
            <a:spAutoFit/>
          </a:bodyPr>
          <a:lstStyle/>
          <a:p>
            <a:r>
              <a:rPr lang="fr-FR" dirty="0"/>
              <a:t>. Créer (</a:t>
            </a:r>
            <a:r>
              <a:rPr lang="fr-FR" dirty="0" err="1"/>
              <a:t>Create</a:t>
            </a:r>
            <a:r>
              <a:rPr lang="fr-FR" dirty="0"/>
              <a:t>) : Insérer un nouveau document</a:t>
            </a:r>
          </a:p>
          <a:p>
            <a:endParaRPr lang="fr-FR" dirty="0"/>
          </a:p>
          <a:p>
            <a:r>
              <a:rPr lang="fr-FR" dirty="0"/>
              <a:t>    Dans l'onglet "Collection </a:t>
            </a:r>
            <a:r>
              <a:rPr lang="fr-FR" dirty="0" err="1"/>
              <a:t>View</a:t>
            </a:r>
            <a:r>
              <a:rPr lang="fr-FR" dirty="0"/>
              <a:t>", en haut à gauche, cliquez sur le bouton + (ou Insert Document). Une fenêtre s'ouvrira.</a:t>
            </a:r>
          </a:p>
          <a:p>
            <a:endParaRPr lang="fr-FR" dirty="0"/>
          </a:p>
          <a:p>
            <a:r>
              <a:rPr lang="fr-FR" dirty="0"/>
              <a:t>    Copiez et collez le document JSON suivant dans la fenêtre, puis cliquez sur Save :</a:t>
            </a:r>
          </a:p>
          <a:p>
            <a:r>
              <a:rPr lang="fr-FR" dirty="0"/>
              <a:t>    JSON</a:t>
            </a:r>
          </a:p>
          <a:p>
            <a:endParaRPr lang="fr-FR" dirty="0"/>
          </a:p>
          <a:p>
            <a:r>
              <a:rPr lang="fr-FR" dirty="0"/>
              <a:t>{</a:t>
            </a:r>
          </a:p>
          <a:p>
            <a:r>
              <a:rPr lang="fr-FR" dirty="0"/>
              <a:t>  "Name": "Julien Dupont",</a:t>
            </a:r>
          </a:p>
          <a:p>
            <a:r>
              <a:rPr lang="fr-FR" dirty="0"/>
              <a:t>  "Age": 28,</a:t>
            </a:r>
          </a:p>
          <a:p>
            <a:r>
              <a:rPr lang="fr-FR" dirty="0"/>
              <a:t>  "</a:t>
            </a:r>
            <a:r>
              <a:rPr lang="fr-FR" dirty="0" err="1"/>
              <a:t>Gender</a:t>
            </a:r>
            <a:r>
              <a:rPr lang="fr-FR" dirty="0"/>
              <a:t>": "Male",</a:t>
            </a:r>
          </a:p>
          <a:p>
            <a:r>
              <a:rPr lang="fr-FR" dirty="0"/>
              <a:t>  "</a:t>
            </a:r>
            <a:r>
              <a:rPr lang="fr-FR" dirty="0" err="1"/>
              <a:t>Medical</a:t>
            </a:r>
            <a:r>
              <a:rPr lang="fr-FR" dirty="0"/>
              <a:t> Condition": "</a:t>
            </a:r>
            <a:r>
              <a:rPr lang="fr-FR" dirty="0" err="1"/>
              <a:t>Asthma</a:t>
            </a:r>
            <a:r>
              <a:rPr lang="fr-FR" dirty="0"/>
              <a:t>",</a:t>
            </a:r>
          </a:p>
          <a:p>
            <a:r>
              <a:rPr lang="fr-FR" dirty="0"/>
              <a:t>  "</a:t>
            </a:r>
            <a:r>
              <a:rPr lang="fr-FR" dirty="0" err="1"/>
              <a:t>Billing</a:t>
            </a:r>
            <a:r>
              <a:rPr lang="fr-FR" dirty="0"/>
              <a:t> </a:t>
            </a:r>
            <a:r>
              <a:rPr lang="fr-FR" dirty="0" err="1"/>
              <a:t>Amount</a:t>
            </a:r>
            <a:r>
              <a:rPr lang="fr-FR" dirty="0"/>
              <a:t>": 12500.00,</a:t>
            </a:r>
          </a:p>
          <a:p>
            <a:r>
              <a:rPr lang="fr-FR" dirty="0"/>
              <a:t>  "Room </a:t>
            </a:r>
            <a:r>
              <a:rPr lang="fr-FR" dirty="0" err="1"/>
              <a:t>Number</a:t>
            </a:r>
            <a:r>
              <a:rPr lang="fr-FR" dirty="0"/>
              <a:t>": 501</a:t>
            </a:r>
          </a:p>
          <a:p>
            <a:r>
              <a:rPr lang="fr-FR" dirty="0"/>
              <a:t>}</a:t>
            </a:r>
          </a:p>
        </p:txBody>
      </p:sp>
    </p:spTree>
    <p:extLst>
      <p:ext uri="{BB962C8B-B14F-4D97-AF65-F5344CB8AC3E}">
        <p14:creationId xmlns:p14="http://schemas.microsoft.com/office/powerpoint/2010/main" val="1713331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76103" y="1611580"/>
            <a:ext cx="7667897" cy="3338478"/>
          </a:xfrm>
          <a:prstGeom prst="rect">
            <a:avLst/>
          </a:prstGeom>
        </p:spPr>
        <p:txBody>
          <a:bodyPr wrap="square">
            <a:spAutoFit/>
          </a:bodyPr>
          <a:lstStyle/>
          <a:p>
            <a:pPr>
              <a:lnSpc>
                <a:spcPct val="107000"/>
              </a:lnSpc>
              <a:spcAft>
                <a:spcPts val="800"/>
              </a:spcAft>
            </a:pPr>
            <a:r>
              <a:rPr lang="fr-FR" sz="4000" dirty="0">
                <a:latin typeface="Calibri" panose="020F0502020204030204" pitchFamily="34" charset="0"/>
                <a:ea typeface="Calibri" panose="020F0502020204030204" pitchFamily="34" charset="0"/>
                <a:cs typeface="Times New Roman" panose="02020603050405020304" pitchFamily="18" charset="0"/>
              </a:rPr>
              <a:t>Trouver des documents</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Studio 3T dispose d'une barre de requête en haut de la vue de la collection, ce qui est l'équivalent de la commande </a:t>
            </a:r>
            <a:r>
              <a:rPr lang="fr-FR" dirty="0" err="1">
                <a:latin typeface="Calibri" panose="020F0502020204030204" pitchFamily="34" charset="0"/>
                <a:ea typeface="Calibri" panose="020F0502020204030204" pitchFamily="34" charset="0"/>
                <a:cs typeface="Times New Roman" panose="02020603050405020304" pitchFamily="18" charset="0"/>
              </a:rPr>
              <a:t>db.collection.find</a:t>
            </a:r>
            <a:r>
              <a:rPr lang="fr-FR"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Exemple 1 : Trouver un patient spécifique</a:t>
            </a:r>
            <a:endParaRPr lang="fr-FR"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dirty="0">
                <a:latin typeface="Calibri" panose="020F0502020204030204" pitchFamily="34" charset="0"/>
                <a:ea typeface="Calibri" panose="020F0502020204030204" pitchFamily="34" charset="0"/>
                <a:cs typeface="Times New Roman" panose="02020603050405020304" pitchFamily="18" charset="0"/>
              </a:rPr>
              <a:t>Dans la barre de requête, tapez :</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"Name": "Bobby </a:t>
            </a:r>
            <a:r>
              <a:rPr lang="fr-FR" dirty="0" err="1">
                <a:latin typeface="Calibri" panose="020F0502020204030204" pitchFamily="34" charset="0"/>
                <a:ea typeface="Calibri" panose="020F0502020204030204" pitchFamily="34" charset="0"/>
                <a:cs typeface="Times New Roman" panose="02020603050405020304" pitchFamily="18" charset="0"/>
              </a:rPr>
              <a:t>JacksOn</a:t>
            </a:r>
            <a:r>
              <a:rPr lang="fr-FR"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Appuyez sur </a:t>
            </a:r>
            <a:r>
              <a:rPr lang="fr-FR" dirty="0" err="1">
                <a:latin typeface="Calibri" panose="020F0502020204030204" pitchFamily="34" charset="0"/>
                <a:ea typeface="Calibri" panose="020F0502020204030204" pitchFamily="34" charset="0"/>
                <a:cs typeface="Times New Roman" panose="02020603050405020304" pitchFamily="18" charset="0"/>
              </a:rPr>
              <a:t>Run</a:t>
            </a:r>
            <a:r>
              <a:rPr lang="fr-FR" dirty="0">
                <a:latin typeface="Calibri" panose="020F0502020204030204" pitchFamily="34" charset="0"/>
                <a:ea typeface="Calibri" panose="020F0502020204030204" pitchFamily="34" charset="0"/>
                <a:cs typeface="Times New Roman" panose="02020603050405020304" pitchFamily="18" charset="0"/>
              </a:rPr>
              <a:t> (le bouton "Play" vert). Studio 3T affichera uniquement le ou les documents correspondants.</a:t>
            </a:r>
          </a:p>
        </p:txBody>
      </p:sp>
    </p:spTree>
    <p:extLst>
      <p:ext uri="{BB962C8B-B14F-4D97-AF65-F5344CB8AC3E}">
        <p14:creationId xmlns:p14="http://schemas.microsoft.com/office/powerpoint/2010/main" val="20120537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6748"/>
            <a:ext cx="11599817" cy="4844503"/>
          </a:xfrm>
          <a:prstGeom prst="rect">
            <a:avLst/>
          </a:prstGeom>
        </p:spPr>
      </p:pic>
    </p:spTree>
    <p:extLst>
      <p:ext uri="{BB962C8B-B14F-4D97-AF65-F5344CB8AC3E}">
        <p14:creationId xmlns:p14="http://schemas.microsoft.com/office/powerpoint/2010/main" val="32220064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41417" y="2214758"/>
            <a:ext cx="7602583" cy="2527230"/>
          </a:xfrm>
          <a:prstGeom prst="rect">
            <a:avLst/>
          </a:prstGeom>
        </p:spPr>
        <p:txBody>
          <a:bodyPr wrap="square">
            <a:spAutoFit/>
          </a:bodyPr>
          <a:lstStyle/>
          <a:p>
            <a:pPr>
              <a:lnSpc>
                <a:spcPct val="107000"/>
              </a:lnSpc>
              <a:spcBef>
                <a:spcPts val="200"/>
              </a:spcBef>
              <a:spcAft>
                <a:spcPts val="0"/>
              </a:spcAft>
            </a:pPr>
            <a:r>
              <a:rPr lang="fr-FR" sz="3600" b="1"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rPr>
              <a:t>Trouver tous les patients avec une condition médicale</a:t>
            </a:r>
            <a:endParaRPr lang="fr-FR" sz="1600" b="1" i="1"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dirty="0">
                <a:latin typeface="Times New Roman" panose="02020603050405020304" pitchFamily="18" charset="0"/>
                <a:ea typeface="Times New Roman" panose="02020603050405020304" pitchFamily="18" charset="0"/>
                <a:cs typeface="Times New Roman" panose="02020603050405020304" pitchFamily="18" charset="0"/>
              </a:rPr>
              <a:t>Dans la barre de requête, tapez :</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fr-FR" dirty="0">
                <a:latin typeface="Symbol" panose="05050102010706020507" pitchFamily="18" charset="2"/>
                <a:ea typeface="Times New Roman" panose="02020603050405020304" pitchFamily="18" charset="0"/>
                <a:cs typeface="Courier New" panose="02070309020205020404" pitchFamily="49" charset="0"/>
              </a:rPr>
              <a:t>·</a:t>
            </a:r>
            <a:r>
              <a:rPr lang="fr-FR" dirty="0">
                <a:latin typeface="Courier New" panose="02070309020205020404" pitchFamily="49" charset="0"/>
                <a:ea typeface="Times New Roman" panose="02020603050405020304" pitchFamily="18" charset="0"/>
                <a:cs typeface="Times New Roman" panose="02020603050405020304" pitchFamily="18" charset="0"/>
              </a:rPr>
              <a:t>  { </a:t>
            </a:r>
            <a:r>
              <a:rPr lang="fr-FR" dirty="0" smtClean="0">
                <a:latin typeface="Courier New" panose="02070309020205020404" pitchFamily="49" charset="0"/>
                <a:ea typeface="Times New Roman" panose="02020603050405020304" pitchFamily="18" charset="0"/>
                <a:cs typeface="Times New Roman" panose="02020603050405020304" pitchFamily="18" charset="0"/>
              </a:rPr>
              <a:t>"Médical </a:t>
            </a:r>
            <a:r>
              <a:rPr lang="fr-FR" dirty="0">
                <a:latin typeface="Courier New" panose="02070309020205020404" pitchFamily="49" charset="0"/>
                <a:ea typeface="Times New Roman" panose="02020603050405020304" pitchFamily="18" charset="0"/>
                <a:cs typeface="Times New Roman" panose="02020603050405020304" pitchFamily="18" charset="0"/>
              </a:rPr>
              <a:t>Condition": "Cancer" }</a:t>
            </a:r>
            <a:endParaRPr lang="fr-FR" dirty="0">
              <a:latin typeface="Calibri" panose="020F0502020204030204" pitchFamily="34" charset="0"/>
              <a:ea typeface="Calibri" panose="020F0502020204030204" pitchFamily="34" charset="0"/>
              <a:cs typeface="Times New Roman" panose="02020603050405020304" pitchFamily="18" charset="0"/>
            </a:endParaRPr>
          </a:p>
          <a:p>
            <a:r>
              <a:rPr lang="fr-FR" dirty="0">
                <a:latin typeface="Symbol" panose="05050102010706020507" pitchFamily="18" charset="2"/>
                <a:ea typeface="Times New Roman" panose="02020603050405020304" pitchFamily="18" charset="0"/>
                <a:cs typeface="Times New Roman" panose="02020603050405020304" pitchFamily="18" charset="0"/>
              </a:rPr>
              <a:t>·</a:t>
            </a:r>
            <a:r>
              <a:rPr lang="fr-FR" dirty="0">
                <a:latin typeface="Times New Roman" panose="02020603050405020304" pitchFamily="18" charset="0"/>
                <a:ea typeface="Times New Roman" panose="02020603050405020304" pitchFamily="18" charset="0"/>
              </a:rPr>
              <a:t>  Appuyez sur </a:t>
            </a:r>
            <a:r>
              <a:rPr lang="fr-FR" dirty="0" err="1">
                <a:latin typeface="Courier New" panose="02070309020205020404" pitchFamily="49" charset="0"/>
                <a:ea typeface="Times New Roman" panose="02020603050405020304" pitchFamily="18" charset="0"/>
              </a:rPr>
              <a:t>Run</a:t>
            </a:r>
            <a:r>
              <a:rPr lang="fr-FR" dirty="0">
                <a:latin typeface="Times New Roman" panose="02020603050405020304" pitchFamily="18" charset="0"/>
                <a:ea typeface="Times New Roman" panose="02020603050405020304" pitchFamily="18" charset="0"/>
              </a:rPr>
              <a:t>. Vous verrez tous les documents où la condition médicale est "Cancer</a:t>
            </a:r>
            <a:endParaRPr lang="fr-FR" dirty="0"/>
          </a:p>
        </p:txBody>
      </p:sp>
    </p:spTree>
    <p:extLst>
      <p:ext uri="{BB962C8B-B14F-4D97-AF65-F5344CB8AC3E}">
        <p14:creationId xmlns:p14="http://schemas.microsoft.com/office/powerpoint/2010/main" val="10706591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8522"/>
            <a:ext cx="12192000" cy="6140956"/>
          </a:xfrm>
          <a:prstGeom prst="rect">
            <a:avLst/>
          </a:prstGeom>
        </p:spPr>
      </p:pic>
    </p:spTree>
    <p:extLst>
      <p:ext uri="{BB962C8B-B14F-4D97-AF65-F5344CB8AC3E}">
        <p14:creationId xmlns:p14="http://schemas.microsoft.com/office/powerpoint/2010/main" val="25715542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9269" y="1166843"/>
            <a:ext cx="8464731" cy="4524315"/>
          </a:xfrm>
          <a:prstGeom prst="rect">
            <a:avLst/>
          </a:prstGeom>
        </p:spPr>
        <p:txBody>
          <a:bodyPr wrap="square">
            <a:spAutoFit/>
          </a:bodyPr>
          <a:lstStyle/>
          <a:p>
            <a:r>
              <a:rPr lang="fr-FR" sz="3600" dirty="0" smtClean="0"/>
              <a:t>Mettre </a:t>
            </a:r>
            <a:r>
              <a:rPr lang="fr-FR" sz="3600" dirty="0"/>
              <a:t>à jour (Update) : Modifier un document</a:t>
            </a:r>
          </a:p>
          <a:p>
            <a:endParaRPr lang="fr-FR" dirty="0"/>
          </a:p>
          <a:p>
            <a:r>
              <a:rPr lang="fr-FR" dirty="0"/>
              <a:t>Pour modifier un document, il suffit de le faire directement dans le tableau.</a:t>
            </a:r>
          </a:p>
          <a:p>
            <a:endParaRPr lang="fr-FR" dirty="0"/>
          </a:p>
          <a:p>
            <a:r>
              <a:rPr lang="fr-FR" dirty="0"/>
              <a:t>    Trouvez le document que vous souhaitez modifier (par exemple, "Julien Dupont" que vous venez de créer).</a:t>
            </a:r>
          </a:p>
          <a:p>
            <a:endParaRPr lang="fr-FR" dirty="0"/>
          </a:p>
          <a:p>
            <a:r>
              <a:rPr lang="fr-FR" dirty="0"/>
              <a:t>    Double-cliquez sur la valeur du champ que vous souhaitez changer (par exemple, la cellule </a:t>
            </a:r>
            <a:r>
              <a:rPr lang="fr-FR" dirty="0" err="1"/>
              <a:t>Billing</a:t>
            </a:r>
            <a:r>
              <a:rPr lang="fr-FR" dirty="0"/>
              <a:t> </a:t>
            </a:r>
            <a:r>
              <a:rPr lang="fr-FR" dirty="0" err="1"/>
              <a:t>Amount</a:t>
            </a:r>
            <a:r>
              <a:rPr lang="fr-FR" dirty="0"/>
              <a:t>).</a:t>
            </a:r>
          </a:p>
          <a:p>
            <a:endParaRPr lang="fr-FR" dirty="0"/>
          </a:p>
          <a:p>
            <a:r>
              <a:rPr lang="fr-FR" dirty="0"/>
              <a:t>    Tapez la nouvelle valeur (15000.00).</a:t>
            </a:r>
          </a:p>
          <a:p>
            <a:endParaRPr lang="fr-FR" dirty="0"/>
          </a:p>
          <a:p>
            <a:r>
              <a:rPr lang="fr-FR" dirty="0"/>
              <a:t>    Appuyez sur Entrée et confirmez la mise à jour si Studio 3T vous le demande.</a:t>
            </a:r>
          </a:p>
        </p:txBody>
      </p:sp>
    </p:spTree>
    <p:extLst>
      <p:ext uri="{BB962C8B-B14F-4D97-AF65-F5344CB8AC3E}">
        <p14:creationId xmlns:p14="http://schemas.microsoft.com/office/powerpoint/2010/main" val="5801544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8903" y="1582341"/>
            <a:ext cx="8125097" cy="4247317"/>
          </a:xfrm>
          <a:prstGeom prst="rect">
            <a:avLst/>
          </a:prstGeom>
        </p:spPr>
        <p:txBody>
          <a:bodyPr wrap="square">
            <a:spAutoFit/>
          </a:bodyPr>
          <a:lstStyle/>
          <a:p>
            <a:r>
              <a:rPr lang="fr-FR" sz="3600" dirty="0"/>
              <a:t>Supprimer (</a:t>
            </a:r>
            <a:r>
              <a:rPr lang="fr-FR" sz="3600" dirty="0" err="1"/>
              <a:t>Delete</a:t>
            </a:r>
            <a:r>
              <a:rPr lang="fr-FR" sz="3600" dirty="0"/>
              <a:t>) : Enlever un document</a:t>
            </a:r>
          </a:p>
          <a:p>
            <a:endParaRPr lang="fr-FR" dirty="0"/>
          </a:p>
          <a:p>
            <a:r>
              <a:rPr lang="fr-FR" dirty="0"/>
              <a:t>Pour supprimer un document, vous pouvez le faire directement dans la vue de la collection.</a:t>
            </a:r>
          </a:p>
          <a:p>
            <a:endParaRPr lang="fr-FR" dirty="0"/>
          </a:p>
          <a:p>
            <a:r>
              <a:rPr lang="fr-FR" dirty="0"/>
              <a:t>    Trouvez le document que vous souhaitez supprimer.</a:t>
            </a:r>
          </a:p>
          <a:p>
            <a:endParaRPr lang="fr-FR" dirty="0"/>
          </a:p>
          <a:p>
            <a:r>
              <a:rPr lang="fr-FR" dirty="0"/>
              <a:t>    Faites un clic droit sur la ligne du document.</a:t>
            </a:r>
          </a:p>
          <a:p>
            <a:endParaRPr lang="fr-FR" dirty="0"/>
          </a:p>
          <a:p>
            <a:r>
              <a:rPr lang="fr-FR" dirty="0"/>
              <a:t>    Dans le menu contextuel, sélectionnez </a:t>
            </a:r>
            <a:r>
              <a:rPr lang="fr-FR" dirty="0" err="1"/>
              <a:t>Delete</a:t>
            </a:r>
            <a:r>
              <a:rPr lang="fr-FR" dirty="0"/>
              <a:t>.</a:t>
            </a:r>
          </a:p>
          <a:p>
            <a:endParaRPr lang="fr-FR" dirty="0"/>
          </a:p>
          <a:p>
            <a:r>
              <a:rPr lang="fr-FR" dirty="0"/>
              <a:t>    Confirmez l'action dans la boîte de dialogue qui apparaît.</a:t>
            </a:r>
          </a:p>
        </p:txBody>
      </p:sp>
    </p:spTree>
    <p:extLst>
      <p:ext uri="{BB962C8B-B14F-4D97-AF65-F5344CB8AC3E}">
        <p14:creationId xmlns:p14="http://schemas.microsoft.com/office/powerpoint/2010/main" val="19754431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250576"/>
            <a:ext cx="6858000" cy="2862322"/>
          </a:xfrm>
          <a:prstGeom prst="rect">
            <a:avLst/>
          </a:prstGeom>
        </p:spPr>
        <p:txBody>
          <a:bodyPr wrap="square">
            <a:spAutoFit/>
          </a:bodyPr>
          <a:lstStyle/>
          <a:p>
            <a:endParaRPr lang="fr-FR" dirty="0"/>
          </a:p>
          <a:p>
            <a:endParaRPr lang="fr-FR" dirty="0"/>
          </a:p>
          <a:p>
            <a:r>
              <a:rPr lang="fr-FR" sz="3600" dirty="0"/>
              <a:t>Utiliser les commandes de base pour CRUD (</a:t>
            </a:r>
            <a:r>
              <a:rPr lang="fr-FR" sz="3600" dirty="0" err="1"/>
              <a:t>Create</a:t>
            </a:r>
            <a:r>
              <a:rPr lang="fr-FR" sz="3600" dirty="0"/>
              <a:t>, Read, Update, </a:t>
            </a:r>
            <a:r>
              <a:rPr lang="fr-FR" sz="3600" dirty="0" err="1"/>
              <a:t>Delete</a:t>
            </a:r>
            <a:r>
              <a:rPr lang="fr-FR" sz="3600" dirty="0"/>
              <a:t>) dans </a:t>
            </a:r>
            <a:r>
              <a:rPr lang="fr-FR" sz="3600" dirty="0" err="1"/>
              <a:t>MongoDB</a:t>
            </a:r>
            <a:r>
              <a:rPr lang="fr-FR" sz="3600" dirty="0"/>
              <a:t> via un script python.</a:t>
            </a:r>
          </a:p>
        </p:txBody>
      </p:sp>
    </p:spTree>
    <p:extLst>
      <p:ext uri="{BB962C8B-B14F-4D97-AF65-F5344CB8AC3E}">
        <p14:creationId xmlns:p14="http://schemas.microsoft.com/office/powerpoint/2010/main" val="5311242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6947" y="3395658"/>
            <a:ext cx="38105" cy="66684"/>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1237" y="3424237"/>
            <a:ext cx="9526" cy="9526"/>
          </a:xfrm>
          <a:prstGeom prst="rect">
            <a:avLst/>
          </a:prstGeom>
        </p:spPr>
      </p:pic>
      <p:pic>
        <p:nvPicPr>
          <p:cNvPr id="4" name="Image 3" descr="Capture d’écr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953" y="416860"/>
            <a:ext cx="9124658" cy="5250828"/>
          </a:xfrm>
          <a:prstGeom prst="rect">
            <a:avLst/>
          </a:prstGeom>
        </p:spPr>
      </p:pic>
    </p:spTree>
    <p:extLst>
      <p:ext uri="{BB962C8B-B14F-4D97-AF65-F5344CB8AC3E}">
        <p14:creationId xmlns:p14="http://schemas.microsoft.com/office/powerpoint/2010/main" val="5667510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99" y="443753"/>
            <a:ext cx="9446322" cy="4909565"/>
          </a:xfrm>
          <a:prstGeom prst="rect">
            <a:avLst/>
          </a:prstGeom>
        </p:spPr>
      </p:pic>
    </p:spTree>
    <p:extLst>
      <p:ext uri="{BB962C8B-B14F-4D97-AF65-F5344CB8AC3E}">
        <p14:creationId xmlns:p14="http://schemas.microsoft.com/office/powerpoint/2010/main" val="71214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730" y="111345"/>
            <a:ext cx="9417092" cy="5342000"/>
          </a:xfrm>
          <a:prstGeom prst="rect">
            <a:avLst/>
          </a:prstGeom>
        </p:spPr>
      </p:pic>
    </p:spTree>
    <p:extLst>
      <p:ext uri="{BB962C8B-B14F-4D97-AF65-F5344CB8AC3E}">
        <p14:creationId xmlns:p14="http://schemas.microsoft.com/office/powerpoint/2010/main" val="2320409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76" y="303656"/>
            <a:ext cx="9903745" cy="5168742"/>
          </a:xfrm>
          <a:prstGeom prst="rect">
            <a:avLst/>
          </a:prstGeom>
        </p:spPr>
      </p:pic>
    </p:spTree>
    <p:extLst>
      <p:ext uri="{BB962C8B-B14F-4D97-AF65-F5344CB8AC3E}">
        <p14:creationId xmlns:p14="http://schemas.microsoft.com/office/powerpoint/2010/main" val="20371944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06" y="101225"/>
            <a:ext cx="9766747" cy="5514067"/>
          </a:xfrm>
          <a:prstGeom prst="rect">
            <a:avLst/>
          </a:prstGeom>
        </p:spPr>
      </p:pic>
    </p:spTree>
    <p:extLst>
      <p:ext uri="{BB962C8B-B14F-4D97-AF65-F5344CB8AC3E}">
        <p14:creationId xmlns:p14="http://schemas.microsoft.com/office/powerpoint/2010/main" val="4288789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06" y="2084294"/>
            <a:ext cx="9860405" cy="2202075"/>
          </a:xfrm>
          <a:prstGeom prst="rect">
            <a:avLst/>
          </a:prstGeom>
        </p:spPr>
      </p:pic>
    </p:spTree>
    <p:extLst>
      <p:ext uri="{BB962C8B-B14F-4D97-AF65-F5344CB8AC3E}">
        <p14:creationId xmlns:p14="http://schemas.microsoft.com/office/powerpoint/2010/main" val="4193065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859" y="188260"/>
            <a:ext cx="10599490" cy="6322508"/>
          </a:xfrm>
          <a:prstGeom prst="rect">
            <a:avLst/>
          </a:prstGeom>
        </p:spPr>
      </p:pic>
    </p:spTree>
    <p:extLst>
      <p:ext uri="{BB962C8B-B14F-4D97-AF65-F5344CB8AC3E}">
        <p14:creationId xmlns:p14="http://schemas.microsoft.com/office/powerpoint/2010/main" val="8256498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2624" y="1492625"/>
            <a:ext cx="7651376" cy="2062103"/>
          </a:xfrm>
          <a:prstGeom prst="rect">
            <a:avLst/>
          </a:prstGeom>
        </p:spPr>
        <p:txBody>
          <a:bodyPr wrap="square">
            <a:spAutoFit/>
          </a:bodyPr>
          <a:lstStyle/>
          <a:p>
            <a:r>
              <a:rPr lang="fr-FR" sz="3200" dirty="0"/>
              <a:t>Tester l’intégrité (colonnes disponibles, types des variables, doublons, valeurs manquantes, etc…) des données avant et après la migration</a:t>
            </a:r>
          </a:p>
        </p:txBody>
      </p:sp>
    </p:spTree>
    <p:extLst>
      <p:ext uri="{BB962C8B-B14F-4D97-AF65-F5344CB8AC3E}">
        <p14:creationId xmlns:p14="http://schemas.microsoft.com/office/powerpoint/2010/main" val="20880557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4094" y="1398494"/>
            <a:ext cx="12168348" cy="646331"/>
          </a:xfrm>
          <a:prstGeom prst="rect">
            <a:avLst/>
          </a:prstGeom>
        </p:spPr>
        <p:txBody>
          <a:bodyPr wrap="square">
            <a:spAutoFit/>
          </a:bodyPr>
          <a:lstStyle/>
          <a:p>
            <a:r>
              <a:rPr lang="fr-FR" sz="3600" dirty="0" smtClean="0"/>
              <a:t>Voici d’abord </a:t>
            </a:r>
            <a:r>
              <a:rPr lang="fr-FR" sz="3600" dirty="0"/>
              <a:t>le script python</a:t>
            </a:r>
          </a:p>
        </p:txBody>
      </p:sp>
    </p:spTree>
    <p:extLst>
      <p:ext uri="{BB962C8B-B14F-4D97-AF65-F5344CB8AC3E}">
        <p14:creationId xmlns:p14="http://schemas.microsoft.com/office/powerpoint/2010/main" val="1883686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365" y="103311"/>
            <a:ext cx="9878535" cy="5535797"/>
          </a:xfrm>
          <a:prstGeom prst="rect">
            <a:avLst/>
          </a:prstGeom>
        </p:spPr>
      </p:pic>
    </p:spTree>
    <p:extLst>
      <p:ext uri="{BB962C8B-B14F-4D97-AF65-F5344CB8AC3E}">
        <p14:creationId xmlns:p14="http://schemas.microsoft.com/office/powerpoint/2010/main" val="33574499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9" y="295835"/>
            <a:ext cx="10050286" cy="5152747"/>
          </a:xfrm>
          <a:prstGeom prst="rect">
            <a:avLst/>
          </a:prstGeom>
        </p:spPr>
      </p:pic>
    </p:spTree>
    <p:extLst>
      <p:ext uri="{BB962C8B-B14F-4D97-AF65-F5344CB8AC3E}">
        <p14:creationId xmlns:p14="http://schemas.microsoft.com/office/powerpoint/2010/main" val="40763105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71" y="256615"/>
            <a:ext cx="9962587" cy="5301519"/>
          </a:xfrm>
          <a:prstGeom prst="rect">
            <a:avLst/>
          </a:prstGeom>
        </p:spPr>
      </p:pic>
    </p:spTree>
    <p:extLst>
      <p:ext uri="{BB962C8B-B14F-4D97-AF65-F5344CB8AC3E}">
        <p14:creationId xmlns:p14="http://schemas.microsoft.com/office/powerpoint/2010/main" val="4299025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350" y="161366"/>
            <a:ext cx="10405303" cy="5277690"/>
          </a:xfrm>
          <a:prstGeom prst="rect">
            <a:avLst/>
          </a:prstGeom>
        </p:spPr>
      </p:pic>
    </p:spTree>
    <p:extLst>
      <p:ext uri="{BB962C8B-B14F-4D97-AF65-F5344CB8AC3E}">
        <p14:creationId xmlns:p14="http://schemas.microsoft.com/office/powerpoint/2010/main" val="27281180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376"/>
            <a:ext cx="9939874" cy="5284022"/>
          </a:xfrm>
          <a:prstGeom prst="rect">
            <a:avLst/>
          </a:prstGeom>
        </p:spPr>
      </p:pic>
    </p:spTree>
    <p:extLst>
      <p:ext uri="{BB962C8B-B14F-4D97-AF65-F5344CB8AC3E}">
        <p14:creationId xmlns:p14="http://schemas.microsoft.com/office/powerpoint/2010/main" val="18527198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035" y="201706"/>
            <a:ext cx="10253146" cy="5308797"/>
          </a:xfrm>
          <a:prstGeom prst="rect">
            <a:avLst/>
          </a:prstGeom>
        </p:spPr>
      </p:pic>
    </p:spTree>
    <p:extLst>
      <p:ext uri="{BB962C8B-B14F-4D97-AF65-F5344CB8AC3E}">
        <p14:creationId xmlns:p14="http://schemas.microsoft.com/office/powerpoint/2010/main" val="41327706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2318"/>
            <a:ext cx="10011321" cy="3809921"/>
          </a:xfrm>
          <a:prstGeom prst="rect">
            <a:avLst/>
          </a:prstGeom>
        </p:spPr>
      </p:pic>
    </p:spTree>
    <p:extLst>
      <p:ext uri="{BB962C8B-B14F-4D97-AF65-F5344CB8AC3E}">
        <p14:creationId xmlns:p14="http://schemas.microsoft.com/office/powerpoint/2010/main" val="36545664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01504"/>
            <a:ext cx="13167808" cy="646331"/>
          </a:xfrm>
          <a:prstGeom prst="rect">
            <a:avLst/>
          </a:prstGeom>
        </p:spPr>
        <p:txBody>
          <a:bodyPr wrap="square">
            <a:spAutoFit/>
          </a:bodyPr>
          <a:lstStyle/>
          <a:p>
            <a:r>
              <a:rPr lang="fr-FR" sz="3600" dirty="0"/>
              <a:t>Ensuite </a:t>
            </a:r>
            <a:r>
              <a:rPr lang="fr-FR" sz="3600" dirty="0" smtClean="0"/>
              <a:t>le </a:t>
            </a:r>
            <a:r>
              <a:rPr lang="fr-FR" sz="3600" dirty="0"/>
              <a:t>résultat du script</a:t>
            </a:r>
          </a:p>
        </p:txBody>
      </p:sp>
    </p:spTree>
    <p:extLst>
      <p:ext uri="{BB962C8B-B14F-4D97-AF65-F5344CB8AC3E}">
        <p14:creationId xmlns:p14="http://schemas.microsoft.com/office/powerpoint/2010/main" val="18455752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786" y="66480"/>
            <a:ext cx="10096616" cy="6425235"/>
          </a:xfrm>
          <a:prstGeom prst="rect">
            <a:avLst/>
          </a:prstGeom>
        </p:spPr>
      </p:pic>
    </p:spTree>
    <p:extLst>
      <p:ext uri="{BB962C8B-B14F-4D97-AF65-F5344CB8AC3E}">
        <p14:creationId xmlns:p14="http://schemas.microsoft.com/office/powerpoint/2010/main" val="29679913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955" y="328180"/>
            <a:ext cx="9914603" cy="6201640"/>
          </a:xfrm>
          <a:prstGeom prst="rect">
            <a:avLst/>
          </a:prstGeom>
        </p:spPr>
      </p:pic>
    </p:spTree>
    <p:extLst>
      <p:ext uri="{BB962C8B-B14F-4D97-AF65-F5344CB8AC3E}">
        <p14:creationId xmlns:p14="http://schemas.microsoft.com/office/powerpoint/2010/main" val="18394243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899" y="351995"/>
            <a:ext cx="9930817" cy="6154009"/>
          </a:xfrm>
          <a:prstGeom prst="rect">
            <a:avLst/>
          </a:prstGeom>
        </p:spPr>
      </p:pic>
    </p:spTree>
    <p:extLst>
      <p:ext uri="{BB962C8B-B14F-4D97-AF65-F5344CB8AC3E}">
        <p14:creationId xmlns:p14="http://schemas.microsoft.com/office/powerpoint/2010/main" val="38908812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0752" y="2265528"/>
            <a:ext cx="11104879" cy="707886"/>
          </a:xfrm>
          <a:prstGeom prst="rect">
            <a:avLst/>
          </a:prstGeom>
        </p:spPr>
        <p:txBody>
          <a:bodyPr wrap="square">
            <a:spAutoFit/>
          </a:bodyPr>
          <a:lstStyle/>
          <a:p>
            <a:r>
              <a:rPr lang="fr-FR" sz="4000" dirty="0"/>
              <a:t>Automatiser le processus de test</a:t>
            </a:r>
          </a:p>
        </p:txBody>
      </p:sp>
    </p:spTree>
    <p:extLst>
      <p:ext uri="{BB962C8B-B14F-4D97-AF65-F5344CB8AC3E}">
        <p14:creationId xmlns:p14="http://schemas.microsoft.com/office/powerpoint/2010/main" val="24915221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6537" y="2413338"/>
            <a:ext cx="7847463" cy="2092881"/>
          </a:xfrm>
          <a:prstGeom prst="rect">
            <a:avLst/>
          </a:prstGeom>
        </p:spPr>
        <p:txBody>
          <a:bodyPr wrap="square">
            <a:spAutoFit/>
          </a:bodyPr>
          <a:lstStyle/>
          <a:p>
            <a:r>
              <a:rPr lang="fr-FR" sz="4000" dirty="0"/>
              <a:t>Étape 1 : Installation de </a:t>
            </a:r>
            <a:r>
              <a:rPr lang="fr-FR" sz="4000" dirty="0" err="1"/>
              <a:t>pytest</a:t>
            </a:r>
            <a:endParaRPr lang="fr-FR" sz="4000" dirty="0"/>
          </a:p>
          <a:p>
            <a:endParaRPr lang="fr-FR" dirty="0"/>
          </a:p>
          <a:p>
            <a:r>
              <a:rPr lang="fr-FR" dirty="0"/>
              <a:t>Dans votre terminal, assurez-vous que votre environnement virtuel est activé, puis installez </a:t>
            </a:r>
            <a:r>
              <a:rPr lang="fr-FR" dirty="0" err="1"/>
              <a:t>pytest</a:t>
            </a:r>
            <a:r>
              <a:rPr lang="fr-FR" dirty="0"/>
              <a:t> :</a:t>
            </a:r>
          </a:p>
          <a:p>
            <a:endParaRPr lang="fr-FR" dirty="0"/>
          </a:p>
          <a:p>
            <a:r>
              <a:rPr lang="fr-FR" dirty="0" err="1"/>
              <a:t>pip</a:t>
            </a:r>
            <a:r>
              <a:rPr lang="fr-FR" dirty="0"/>
              <a:t> </a:t>
            </a:r>
            <a:r>
              <a:rPr lang="fr-FR" dirty="0" err="1"/>
              <a:t>install</a:t>
            </a:r>
            <a:r>
              <a:rPr lang="fr-FR" dirty="0"/>
              <a:t> </a:t>
            </a:r>
            <a:r>
              <a:rPr lang="fr-FR" dirty="0" err="1"/>
              <a:t>pytest</a:t>
            </a:r>
            <a:endParaRPr lang="fr-FR" dirty="0"/>
          </a:p>
        </p:txBody>
      </p:sp>
    </p:spTree>
    <p:extLst>
      <p:ext uri="{BB962C8B-B14F-4D97-AF65-F5344CB8AC3E}">
        <p14:creationId xmlns:p14="http://schemas.microsoft.com/office/powerpoint/2010/main" val="19459834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773" y="1119116"/>
            <a:ext cx="10947839" cy="3100570"/>
          </a:xfrm>
          <a:prstGeom prst="rect">
            <a:avLst/>
          </a:prstGeom>
        </p:spPr>
      </p:pic>
    </p:spTree>
    <p:extLst>
      <p:ext uri="{BB962C8B-B14F-4D97-AF65-F5344CB8AC3E}">
        <p14:creationId xmlns:p14="http://schemas.microsoft.com/office/powerpoint/2010/main" val="5580270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8173" y="2140378"/>
            <a:ext cx="8065827" cy="1984518"/>
          </a:xfrm>
          <a:prstGeom prst="rect">
            <a:avLst/>
          </a:prstGeom>
        </p:spPr>
        <p:txBody>
          <a:bodyPr wrap="square">
            <a:spAutoFit/>
          </a:bodyPr>
          <a:lstStyle/>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Étape 2 : Création du script de test</a:t>
            </a: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Étape 3 : Exécution des tests</a:t>
            </a:r>
            <a:endParaRPr lang="fr-FR"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fr-FR" dirty="0">
                <a:latin typeface="Calibri" panose="020F0502020204030204" pitchFamily="34" charset="0"/>
                <a:ea typeface="Calibri" panose="020F0502020204030204" pitchFamily="34" charset="0"/>
                <a:cs typeface="Times New Roman" panose="02020603050405020304" pitchFamily="18" charset="0"/>
              </a:rPr>
              <a:t>Assurez-vous que le serveur </a:t>
            </a:r>
            <a:r>
              <a:rPr lang="fr-FR" b="1" dirty="0" err="1">
                <a:latin typeface="Calibri" panose="020F0502020204030204" pitchFamily="34" charset="0"/>
                <a:ea typeface="Calibri" panose="020F0502020204030204" pitchFamily="34" charset="0"/>
                <a:cs typeface="Times New Roman" panose="02020603050405020304" pitchFamily="18" charset="0"/>
              </a:rPr>
              <a:t>MongoDB</a:t>
            </a:r>
            <a:r>
              <a:rPr lang="fr-FR" b="1" dirty="0">
                <a:latin typeface="Calibri" panose="020F0502020204030204" pitchFamily="34" charset="0"/>
                <a:ea typeface="Calibri" panose="020F0502020204030204" pitchFamily="34" charset="0"/>
                <a:cs typeface="Times New Roman" panose="02020603050405020304" pitchFamily="18" charset="0"/>
              </a:rPr>
              <a:t> est démarré</a:t>
            </a:r>
            <a:r>
              <a:rPr lang="fr-FR" dirty="0">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800"/>
              </a:spcAft>
              <a:buFont typeface="+mj-lt"/>
              <a:buAutoNum type="arabicPeriod"/>
              <a:tabLst>
                <a:tab pos="457200" algn="l"/>
              </a:tabLst>
            </a:pPr>
            <a:r>
              <a:rPr lang="fr-FR" dirty="0">
                <a:latin typeface="Calibri" panose="020F0502020204030204" pitchFamily="34" charset="0"/>
                <a:ea typeface="Calibri" panose="020F0502020204030204" pitchFamily="34" charset="0"/>
                <a:cs typeface="Times New Roman" panose="02020603050405020304" pitchFamily="18" charset="0"/>
              </a:rPr>
              <a:t>Assurez-vous d'être dans le même répertoire que votre fichier test_integrity.py.</a:t>
            </a:r>
          </a:p>
          <a:p>
            <a:pPr marL="342900" lvl="0" indent="-342900">
              <a:lnSpc>
                <a:spcPct val="107000"/>
              </a:lnSpc>
              <a:spcAft>
                <a:spcPts val="800"/>
              </a:spcAft>
              <a:buFont typeface="+mj-lt"/>
              <a:buAutoNum type="arabicPeriod"/>
              <a:tabLst>
                <a:tab pos="457200" algn="l"/>
              </a:tabLst>
            </a:pPr>
            <a:r>
              <a:rPr lang="fr-FR" dirty="0">
                <a:latin typeface="Calibri" panose="020F0502020204030204" pitchFamily="34" charset="0"/>
                <a:ea typeface="Calibri" panose="020F0502020204030204" pitchFamily="34" charset="0"/>
                <a:cs typeface="Times New Roman" panose="02020603050405020304" pitchFamily="18" charset="0"/>
              </a:rPr>
              <a:t>Dans votre terminal, exécutez simplement la commande suivante : </a:t>
            </a:r>
            <a:r>
              <a:rPr lang="fr-FR" dirty="0" err="1">
                <a:latin typeface="Calibri" panose="020F0502020204030204" pitchFamily="34" charset="0"/>
                <a:ea typeface="Calibri" panose="020F0502020204030204" pitchFamily="34" charset="0"/>
                <a:cs typeface="Times New Roman" panose="02020603050405020304" pitchFamily="18" charset="0"/>
              </a:rPr>
              <a:t>pytest</a:t>
            </a:r>
            <a:endParaRPr lang="fr-FR"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925936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377" y="1842448"/>
            <a:ext cx="10912450" cy="584775"/>
          </a:xfrm>
          <a:prstGeom prst="rect">
            <a:avLst/>
          </a:prstGeom>
        </p:spPr>
        <p:txBody>
          <a:bodyPr wrap="square">
            <a:spAutoFit/>
          </a:bodyPr>
          <a:lstStyle/>
          <a:p>
            <a:r>
              <a:rPr lang="fr-FR" dirty="0"/>
              <a:t>	</a:t>
            </a:r>
            <a:r>
              <a:rPr lang="fr-FR" sz="3200" dirty="0"/>
              <a:t>Maintenant </a:t>
            </a:r>
            <a:r>
              <a:rPr lang="fr-FR" sz="3200" dirty="0" smtClean="0"/>
              <a:t>le </a:t>
            </a:r>
            <a:r>
              <a:rPr lang="fr-FR" sz="3200" dirty="0"/>
              <a:t>script</a:t>
            </a:r>
          </a:p>
        </p:txBody>
      </p:sp>
    </p:spTree>
    <p:extLst>
      <p:ext uri="{BB962C8B-B14F-4D97-AF65-F5344CB8AC3E}">
        <p14:creationId xmlns:p14="http://schemas.microsoft.com/office/powerpoint/2010/main" val="4190403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16" y="306092"/>
            <a:ext cx="9611315" cy="5094858"/>
          </a:xfrm>
          <a:prstGeom prst="rect">
            <a:avLst/>
          </a:prstGeom>
        </p:spPr>
      </p:pic>
    </p:spTree>
    <p:extLst>
      <p:ext uri="{BB962C8B-B14F-4D97-AF65-F5344CB8AC3E}">
        <p14:creationId xmlns:p14="http://schemas.microsoft.com/office/powerpoint/2010/main" val="7901028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08" y="148195"/>
            <a:ext cx="9556724" cy="6184365"/>
          </a:xfrm>
          <a:prstGeom prst="rect">
            <a:avLst/>
          </a:prstGeom>
        </p:spPr>
      </p:pic>
    </p:spTree>
    <p:extLst>
      <p:ext uri="{BB962C8B-B14F-4D97-AF65-F5344CB8AC3E}">
        <p14:creationId xmlns:p14="http://schemas.microsoft.com/office/powerpoint/2010/main" val="26454667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34" y="87743"/>
            <a:ext cx="9730024" cy="6476829"/>
          </a:xfrm>
          <a:prstGeom prst="rect">
            <a:avLst/>
          </a:prstGeom>
        </p:spPr>
      </p:pic>
    </p:spTree>
    <p:extLst>
      <p:ext uri="{BB962C8B-B14F-4D97-AF65-F5344CB8AC3E}">
        <p14:creationId xmlns:p14="http://schemas.microsoft.com/office/powerpoint/2010/main" val="41576822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54" y="504967"/>
            <a:ext cx="10008725" cy="6155140"/>
          </a:xfrm>
          <a:prstGeom prst="rect">
            <a:avLst/>
          </a:prstGeom>
        </p:spPr>
      </p:pic>
    </p:spTree>
    <p:extLst>
      <p:ext uri="{BB962C8B-B14F-4D97-AF65-F5344CB8AC3E}">
        <p14:creationId xmlns:p14="http://schemas.microsoft.com/office/powerpoint/2010/main" val="6514917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47" y="272955"/>
            <a:ext cx="9734995" cy="5841242"/>
          </a:xfrm>
          <a:prstGeom prst="rect">
            <a:avLst/>
          </a:prstGeom>
        </p:spPr>
      </p:pic>
    </p:spTree>
    <p:extLst>
      <p:ext uri="{BB962C8B-B14F-4D97-AF65-F5344CB8AC3E}">
        <p14:creationId xmlns:p14="http://schemas.microsoft.com/office/powerpoint/2010/main" val="2470449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43" y="1637732"/>
            <a:ext cx="12027494" cy="584775"/>
          </a:xfrm>
          <a:prstGeom prst="rect">
            <a:avLst/>
          </a:prstGeom>
        </p:spPr>
        <p:txBody>
          <a:bodyPr wrap="square">
            <a:spAutoFit/>
          </a:bodyPr>
          <a:lstStyle/>
          <a:p>
            <a:r>
              <a:rPr lang="fr-FR" dirty="0"/>
              <a:t>	</a:t>
            </a:r>
            <a:r>
              <a:rPr lang="fr-FR" sz="3200" dirty="0"/>
              <a:t>Ensuite </a:t>
            </a:r>
            <a:r>
              <a:rPr lang="fr-FR" sz="3200" dirty="0" smtClean="0"/>
              <a:t>le </a:t>
            </a:r>
            <a:r>
              <a:rPr lang="fr-FR" sz="3200" dirty="0"/>
              <a:t>résultat du script</a:t>
            </a:r>
          </a:p>
        </p:txBody>
      </p:sp>
    </p:spTree>
    <p:extLst>
      <p:ext uri="{BB962C8B-B14F-4D97-AF65-F5344CB8AC3E}">
        <p14:creationId xmlns:p14="http://schemas.microsoft.com/office/powerpoint/2010/main" val="19843692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082" y="390101"/>
            <a:ext cx="10283662" cy="6077798"/>
          </a:xfrm>
          <a:prstGeom prst="rect">
            <a:avLst/>
          </a:prstGeom>
        </p:spPr>
      </p:pic>
    </p:spTree>
    <p:extLst>
      <p:ext uri="{BB962C8B-B14F-4D97-AF65-F5344CB8AC3E}">
        <p14:creationId xmlns:p14="http://schemas.microsoft.com/office/powerpoint/2010/main" val="2282424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194" y="118600"/>
            <a:ext cx="10513207" cy="6620799"/>
          </a:xfrm>
          <a:prstGeom prst="rect">
            <a:avLst/>
          </a:prstGeom>
        </p:spPr>
      </p:pic>
    </p:spTree>
    <p:extLst>
      <p:ext uri="{BB962C8B-B14F-4D97-AF65-F5344CB8AC3E}">
        <p14:creationId xmlns:p14="http://schemas.microsoft.com/office/powerpoint/2010/main" val="11477310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070" y="118600"/>
            <a:ext cx="10744306" cy="6620799"/>
          </a:xfrm>
          <a:prstGeom prst="rect">
            <a:avLst/>
          </a:prstGeom>
        </p:spPr>
      </p:pic>
    </p:spTree>
    <p:extLst>
      <p:ext uri="{BB962C8B-B14F-4D97-AF65-F5344CB8AC3E}">
        <p14:creationId xmlns:p14="http://schemas.microsoft.com/office/powerpoint/2010/main" val="13608960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900" y="161469"/>
            <a:ext cx="10573844" cy="6535062"/>
          </a:xfrm>
          <a:prstGeom prst="rect">
            <a:avLst/>
          </a:prstGeom>
        </p:spPr>
      </p:pic>
    </p:spTree>
    <p:extLst>
      <p:ext uri="{BB962C8B-B14F-4D97-AF65-F5344CB8AC3E}">
        <p14:creationId xmlns:p14="http://schemas.microsoft.com/office/powerpoint/2010/main" val="41818357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16" y="75732"/>
            <a:ext cx="10373422" cy="6706536"/>
          </a:xfrm>
          <a:prstGeom prst="rect">
            <a:avLst/>
          </a:prstGeom>
        </p:spPr>
      </p:pic>
    </p:spTree>
    <p:extLst>
      <p:ext uri="{BB962C8B-B14F-4D97-AF65-F5344CB8AC3E}">
        <p14:creationId xmlns:p14="http://schemas.microsoft.com/office/powerpoint/2010/main" val="8054883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3266" y="1555845"/>
            <a:ext cx="7410734" cy="1384995"/>
          </a:xfrm>
          <a:prstGeom prst="rect">
            <a:avLst/>
          </a:prstGeom>
        </p:spPr>
        <p:txBody>
          <a:bodyPr wrap="square">
            <a:spAutoFit/>
          </a:bodyPr>
          <a:lstStyle/>
          <a:p>
            <a:r>
              <a:rPr lang="fr-FR" sz="2800" dirty="0"/>
              <a:t>L'automatisation des tests est une pratique essentielle dans le développement pour garantir la qualité et la fiabilité </a:t>
            </a:r>
            <a:r>
              <a:rPr lang="fr-FR" sz="2800" dirty="0" smtClean="0"/>
              <a:t>des projets</a:t>
            </a:r>
            <a:r>
              <a:rPr lang="fr-FR" sz="2800" dirty="0"/>
              <a:t>.</a:t>
            </a:r>
          </a:p>
        </p:txBody>
      </p:sp>
    </p:spTree>
    <p:extLst>
      <p:ext uri="{BB962C8B-B14F-4D97-AF65-F5344CB8AC3E}">
        <p14:creationId xmlns:p14="http://schemas.microsoft.com/office/powerpoint/2010/main" val="34443979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8741" y="1173707"/>
            <a:ext cx="8475260" cy="3063724"/>
          </a:xfrm>
          <a:prstGeom prst="rect">
            <a:avLst/>
          </a:prstGeom>
        </p:spPr>
        <p:txBody>
          <a:bodyPr wrap="square">
            <a:spAutoFit/>
          </a:bodyPr>
          <a:lstStyle/>
          <a:p>
            <a:pPr>
              <a:lnSpc>
                <a:spcPct val="107000"/>
              </a:lnSpc>
              <a:spcAft>
                <a:spcPts val="800"/>
              </a:spcAft>
            </a:pPr>
            <a:r>
              <a:rPr lang="fr-FR" sz="2400" dirty="0">
                <a:latin typeface="Calibri" panose="020F0502020204030204" pitchFamily="34" charset="0"/>
                <a:ea typeface="Calibri" panose="020F0502020204030204" pitchFamily="34" charset="0"/>
                <a:cs typeface="Times New Roman" panose="02020603050405020304" pitchFamily="18" charset="0"/>
              </a:rPr>
              <a:t>Pour l’importation, j’ai télécharger et installé </a:t>
            </a:r>
            <a:r>
              <a:rPr lang="fr-FR" sz="2400" dirty="0" err="1">
                <a:latin typeface="Calibri" panose="020F0502020204030204" pitchFamily="34" charset="0"/>
                <a:ea typeface="Calibri" panose="020F0502020204030204" pitchFamily="34" charset="0"/>
                <a:cs typeface="Times New Roman" panose="02020603050405020304" pitchFamily="18" charset="0"/>
              </a:rPr>
              <a:t>MongoDB</a:t>
            </a:r>
            <a:r>
              <a:rPr lang="fr-FR" sz="2400" dirty="0">
                <a:latin typeface="Calibri" panose="020F0502020204030204" pitchFamily="34" charset="0"/>
                <a:ea typeface="Calibri" panose="020F0502020204030204" pitchFamily="34" charset="0"/>
                <a:cs typeface="Times New Roman" panose="02020603050405020304" pitchFamily="18" charset="0"/>
              </a:rPr>
              <a:t> </a:t>
            </a:r>
            <a:r>
              <a:rPr lang="fr-FR" sz="2400" dirty="0" err="1">
                <a:latin typeface="Calibri" panose="020F0502020204030204" pitchFamily="34" charset="0"/>
                <a:ea typeface="Calibri" panose="020F0502020204030204" pitchFamily="34" charset="0"/>
                <a:cs typeface="Times New Roman" panose="02020603050405020304" pitchFamily="18" charset="0"/>
              </a:rPr>
              <a:t>Compass</a:t>
            </a:r>
            <a:r>
              <a:rPr lang="fr-FR" sz="2400" dirty="0">
                <a:latin typeface="Calibri" panose="020F0502020204030204" pitchFamily="34" charset="0"/>
                <a:ea typeface="Calibri" panose="020F0502020204030204" pitchFamily="34" charset="0"/>
                <a:cs typeface="Times New Roman" panose="02020603050405020304" pitchFamily="18" charset="0"/>
              </a:rPr>
              <a:t>, puis celui-ci s’est automatiquement connecté à studio 3T </a:t>
            </a:r>
          </a:p>
          <a:p>
            <a:pPr>
              <a:lnSpc>
                <a:spcPct val="107000"/>
              </a:lnSpc>
              <a:spcAft>
                <a:spcPts val="800"/>
              </a:spcAft>
            </a:pPr>
            <a:r>
              <a:rPr lang="fr-FR" sz="2400" dirty="0">
                <a:latin typeface="Calibri" panose="020F0502020204030204" pitchFamily="34" charset="0"/>
                <a:ea typeface="Calibri" panose="020F0502020204030204" pitchFamily="34" charset="0"/>
                <a:cs typeface="Times New Roman" panose="02020603050405020304" pitchFamily="18" charset="0"/>
              </a:rPr>
              <a:t>En se connectant a studio 3T, </a:t>
            </a:r>
            <a:r>
              <a:rPr lang="fr-FR" sz="2400" dirty="0" err="1">
                <a:latin typeface="Calibri" panose="020F0502020204030204" pitchFamily="34" charset="0"/>
                <a:ea typeface="Calibri" panose="020F0502020204030204" pitchFamily="34" charset="0"/>
                <a:cs typeface="Times New Roman" panose="02020603050405020304" pitchFamily="18" charset="0"/>
              </a:rPr>
              <a:t>MongoDB</a:t>
            </a:r>
            <a:r>
              <a:rPr lang="fr-FR" sz="2400" dirty="0">
                <a:latin typeface="Calibri" panose="020F0502020204030204" pitchFamily="34" charset="0"/>
                <a:ea typeface="Calibri" panose="020F0502020204030204" pitchFamily="34" charset="0"/>
                <a:cs typeface="Times New Roman" panose="02020603050405020304" pitchFamily="18" charset="0"/>
              </a:rPr>
              <a:t> </a:t>
            </a:r>
            <a:r>
              <a:rPr lang="fr-FR" sz="2400" dirty="0" err="1">
                <a:latin typeface="Calibri" panose="020F0502020204030204" pitchFamily="34" charset="0"/>
                <a:ea typeface="Calibri" panose="020F0502020204030204" pitchFamily="34" charset="0"/>
                <a:cs typeface="Times New Roman" panose="02020603050405020304" pitchFamily="18" charset="0"/>
              </a:rPr>
              <a:t>Compass</a:t>
            </a:r>
            <a:r>
              <a:rPr lang="fr-FR" sz="2400" dirty="0">
                <a:latin typeface="Calibri" panose="020F0502020204030204" pitchFamily="34" charset="0"/>
                <a:ea typeface="Calibri" panose="020F0502020204030204" pitchFamily="34" charset="0"/>
                <a:cs typeface="Times New Roman" panose="02020603050405020304" pitchFamily="18" charset="0"/>
              </a:rPr>
              <a:t> s’est également connecté à la base de donnée </a:t>
            </a:r>
            <a:r>
              <a:rPr lang="fr-FR" sz="2400" dirty="0" err="1">
                <a:latin typeface="Calibri" panose="020F0502020204030204" pitchFamily="34" charset="0"/>
                <a:ea typeface="Calibri" panose="020F0502020204030204" pitchFamily="34" charset="0"/>
                <a:cs typeface="Times New Roman" panose="02020603050405020304" pitchFamily="18" charset="0"/>
              </a:rPr>
              <a:t>healthcare_db</a:t>
            </a:r>
            <a:r>
              <a:rPr lang="fr-FR" sz="2400" dirty="0">
                <a:latin typeface="Calibri" panose="020F0502020204030204" pitchFamily="34" charset="0"/>
                <a:ea typeface="Calibri" panose="020F0502020204030204" pitchFamily="34" charset="0"/>
                <a:cs typeface="Times New Roman" panose="02020603050405020304" pitchFamily="18" charset="0"/>
              </a:rPr>
              <a:t>, ce qui m’a permis d’importer les données sur </a:t>
            </a:r>
            <a:r>
              <a:rPr lang="fr-FR" sz="2400" u="sng" dirty="0" err="1">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MongoDB</a:t>
            </a:r>
            <a:r>
              <a:rPr lang="fr-FR" sz="24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 </a:t>
            </a:r>
            <a:r>
              <a:rPr lang="fr-FR" sz="2400" u="sng" dirty="0" err="1">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Compass</a:t>
            </a:r>
            <a:r>
              <a:rPr lang="fr-FR" sz="2400"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fr-FR" sz="2400" dirty="0">
                <a:latin typeface="Calibri" panose="020F0502020204030204" pitchFamily="34" charset="0"/>
                <a:ea typeface="Calibri" panose="020F0502020204030204" pitchFamily="34" charset="0"/>
                <a:cs typeface="Times New Roman" panose="02020603050405020304" pitchFamily="18" charset="0"/>
              </a:rPr>
              <a:t>De même ses données ont étés importer automatiquement sur studio 3T </a:t>
            </a:r>
          </a:p>
        </p:txBody>
      </p:sp>
    </p:spTree>
    <p:extLst>
      <p:ext uri="{BB962C8B-B14F-4D97-AF65-F5344CB8AC3E}">
        <p14:creationId xmlns:p14="http://schemas.microsoft.com/office/powerpoint/2010/main" val="17108952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343" y="1310185"/>
            <a:ext cx="8188657" cy="3416320"/>
          </a:xfrm>
          <a:prstGeom prst="rect">
            <a:avLst/>
          </a:prstGeom>
        </p:spPr>
        <p:txBody>
          <a:bodyPr wrap="square">
            <a:spAutoFit/>
          </a:bodyPr>
          <a:lstStyle/>
          <a:p>
            <a:r>
              <a:rPr lang="fr-FR" dirty="0"/>
              <a:t>1. Téléchargez et installez </a:t>
            </a:r>
            <a:r>
              <a:rPr lang="fr-FR" dirty="0" err="1"/>
              <a:t>MongoDB</a:t>
            </a:r>
            <a:r>
              <a:rPr lang="fr-FR" dirty="0"/>
              <a:t> </a:t>
            </a:r>
            <a:r>
              <a:rPr lang="fr-FR" dirty="0" err="1"/>
              <a:t>Compass</a:t>
            </a:r>
            <a:endParaRPr lang="fr-FR" dirty="0"/>
          </a:p>
          <a:p>
            <a:endParaRPr lang="fr-FR" dirty="0"/>
          </a:p>
          <a:p>
            <a:r>
              <a:rPr lang="fr-FR" dirty="0"/>
              <a:t>    Rendez-vous sur le site officiel de </a:t>
            </a:r>
            <a:r>
              <a:rPr lang="fr-FR" dirty="0" err="1"/>
              <a:t>MongoDB</a:t>
            </a:r>
            <a:r>
              <a:rPr lang="fr-FR" dirty="0"/>
              <a:t> pour télécharger </a:t>
            </a:r>
            <a:r>
              <a:rPr lang="fr-FR" dirty="0" err="1"/>
              <a:t>MongoDB</a:t>
            </a:r>
            <a:r>
              <a:rPr lang="fr-FR" dirty="0"/>
              <a:t> </a:t>
            </a:r>
            <a:r>
              <a:rPr lang="fr-FR" dirty="0" err="1"/>
              <a:t>Compass</a:t>
            </a:r>
            <a:r>
              <a:rPr lang="fr-FR" dirty="0"/>
              <a:t>. C'est un outil gratuit, et il est compatible avec Windows, </a:t>
            </a:r>
            <a:r>
              <a:rPr lang="fr-FR" dirty="0" err="1"/>
              <a:t>macOS</a:t>
            </a:r>
            <a:r>
              <a:rPr lang="fr-FR" dirty="0"/>
              <a:t> et Linux.</a:t>
            </a:r>
          </a:p>
          <a:p>
            <a:endParaRPr lang="fr-FR" dirty="0"/>
          </a:p>
          <a:p>
            <a:r>
              <a:rPr lang="fr-FR" dirty="0"/>
              <a:t>2. Connectez-vous à votre base de données</a:t>
            </a:r>
          </a:p>
          <a:p>
            <a:endParaRPr lang="fr-FR" dirty="0"/>
          </a:p>
          <a:p>
            <a:r>
              <a:rPr lang="fr-FR" dirty="0"/>
              <a:t>    Une fois installé, ouvrez </a:t>
            </a:r>
            <a:r>
              <a:rPr lang="fr-FR" dirty="0" err="1"/>
              <a:t>Compass</a:t>
            </a:r>
            <a:r>
              <a:rPr lang="fr-FR" dirty="0"/>
              <a:t>.</a:t>
            </a:r>
          </a:p>
          <a:p>
            <a:endParaRPr lang="fr-FR" dirty="0"/>
          </a:p>
          <a:p>
            <a:r>
              <a:rPr lang="fr-FR" dirty="0"/>
              <a:t>    Il détectera automatiquement votre serveur local et vous proposera de vous y connecter</a:t>
            </a:r>
          </a:p>
        </p:txBody>
      </p:sp>
    </p:spTree>
    <p:extLst>
      <p:ext uri="{BB962C8B-B14F-4D97-AF65-F5344CB8AC3E}">
        <p14:creationId xmlns:p14="http://schemas.microsoft.com/office/powerpoint/2010/main" val="2838318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4025" y="232011"/>
            <a:ext cx="8679976" cy="6463308"/>
          </a:xfrm>
          <a:prstGeom prst="rect">
            <a:avLst/>
          </a:prstGeom>
        </p:spPr>
        <p:txBody>
          <a:bodyPr wrap="square">
            <a:spAutoFit/>
          </a:bodyPr>
          <a:lstStyle/>
          <a:p>
            <a:r>
              <a:rPr lang="fr-FR" dirty="0" smtClean="0"/>
              <a:t>3.Importer </a:t>
            </a:r>
            <a:r>
              <a:rPr lang="fr-FR" dirty="0"/>
              <a:t>les données</a:t>
            </a:r>
          </a:p>
          <a:p>
            <a:endParaRPr lang="fr-FR" dirty="0"/>
          </a:p>
          <a:p>
            <a:r>
              <a:rPr lang="fr-FR" dirty="0"/>
              <a:t>    Dans la liste des bases de données à gauche, cliquez sur </a:t>
            </a:r>
            <a:r>
              <a:rPr lang="fr-FR" dirty="0" err="1"/>
              <a:t>healthcare_db</a:t>
            </a:r>
            <a:r>
              <a:rPr lang="fr-FR" dirty="0"/>
              <a:t> pour l'ouvrir.</a:t>
            </a:r>
          </a:p>
          <a:p>
            <a:endParaRPr lang="fr-FR" dirty="0"/>
          </a:p>
          <a:p>
            <a:r>
              <a:rPr lang="fr-FR" dirty="0"/>
              <a:t>    Dans la vue des collections, cliquez sur votre collection patients.</a:t>
            </a:r>
          </a:p>
          <a:p>
            <a:endParaRPr lang="fr-FR" dirty="0"/>
          </a:p>
          <a:p>
            <a:r>
              <a:rPr lang="fr-FR" dirty="0"/>
              <a:t>    En haut à droite de la vue de la collection, il y a un bouton </a:t>
            </a:r>
            <a:r>
              <a:rPr lang="fr-FR" dirty="0" err="1"/>
              <a:t>Add</a:t>
            </a:r>
            <a:r>
              <a:rPr lang="fr-FR" dirty="0"/>
              <a:t> Data. Cliquez dessus et choisissez Import File.</a:t>
            </a:r>
          </a:p>
          <a:p>
            <a:endParaRPr lang="fr-FR" dirty="0"/>
          </a:p>
          <a:p>
            <a:r>
              <a:rPr lang="fr-FR" dirty="0"/>
              <a:t> </a:t>
            </a:r>
            <a:r>
              <a:rPr lang="fr-FR" dirty="0" smtClean="0"/>
              <a:t>4.Dans </a:t>
            </a:r>
            <a:r>
              <a:rPr lang="fr-FR" dirty="0"/>
              <a:t>la fenêtre qui s'ouvre :</a:t>
            </a:r>
          </a:p>
          <a:p>
            <a:endParaRPr lang="fr-FR" dirty="0"/>
          </a:p>
          <a:p>
            <a:r>
              <a:rPr lang="fr-FR" dirty="0"/>
              <a:t>        Sélectionnez votre fichier healthcare_dataset.csv.</a:t>
            </a:r>
          </a:p>
          <a:p>
            <a:endParaRPr lang="fr-FR" dirty="0"/>
          </a:p>
          <a:p>
            <a:r>
              <a:rPr lang="fr-FR" dirty="0"/>
              <a:t>        Choisissez le format CSV.</a:t>
            </a:r>
          </a:p>
          <a:p>
            <a:endParaRPr lang="fr-FR" dirty="0"/>
          </a:p>
          <a:p>
            <a:r>
              <a:rPr lang="fr-FR" dirty="0"/>
              <a:t>        </a:t>
            </a:r>
            <a:r>
              <a:rPr lang="fr-FR" dirty="0" err="1"/>
              <a:t>Compass</a:t>
            </a:r>
            <a:r>
              <a:rPr lang="fr-FR" dirty="0"/>
              <a:t> vous montrera un aperçu de l'importation. Vous pouvez y vérifier les types de données.</a:t>
            </a:r>
          </a:p>
          <a:p>
            <a:endParaRPr lang="fr-FR" dirty="0"/>
          </a:p>
          <a:p>
            <a:r>
              <a:rPr lang="fr-FR" dirty="0"/>
              <a:t> </a:t>
            </a:r>
            <a:r>
              <a:rPr lang="fr-FR" dirty="0" smtClean="0"/>
              <a:t>5.Cliquez </a:t>
            </a:r>
            <a:r>
              <a:rPr lang="fr-FR" dirty="0"/>
              <a:t>sur Import pour lancer le processus.</a:t>
            </a:r>
          </a:p>
          <a:p>
            <a:endParaRPr lang="fr-FR" dirty="0"/>
          </a:p>
          <a:p>
            <a:r>
              <a:rPr lang="fr-FR" dirty="0"/>
              <a:t>Cette méthode est très similaire à celle de Studio 3T, mais elle est disponible gratuitement et vous permettra de réaliser votre tâche sans aucun problème.</a:t>
            </a:r>
          </a:p>
        </p:txBody>
      </p:sp>
    </p:spTree>
    <p:extLst>
      <p:ext uri="{BB962C8B-B14F-4D97-AF65-F5344CB8AC3E}">
        <p14:creationId xmlns:p14="http://schemas.microsoft.com/office/powerpoint/2010/main" val="15678518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696" y="18574"/>
            <a:ext cx="9369705" cy="6820852"/>
          </a:xfrm>
          <a:prstGeom prst="rect">
            <a:avLst/>
          </a:prstGeom>
        </p:spPr>
      </p:pic>
    </p:spTree>
    <p:extLst>
      <p:ext uri="{BB962C8B-B14F-4D97-AF65-F5344CB8AC3E}">
        <p14:creationId xmlns:p14="http://schemas.microsoft.com/office/powerpoint/2010/main" val="34846382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1472"/>
            <a:ext cx="12192000" cy="6235055"/>
          </a:xfrm>
          <a:prstGeom prst="rect">
            <a:avLst/>
          </a:prstGeom>
        </p:spPr>
      </p:pic>
    </p:spTree>
    <p:extLst>
      <p:ext uri="{BB962C8B-B14F-4D97-AF65-F5344CB8AC3E}">
        <p14:creationId xmlns:p14="http://schemas.microsoft.com/office/powerpoint/2010/main" val="22195438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0752" y="1282890"/>
            <a:ext cx="8243248" cy="1077218"/>
          </a:xfrm>
          <a:prstGeom prst="rect">
            <a:avLst/>
          </a:prstGeom>
        </p:spPr>
        <p:txBody>
          <a:bodyPr wrap="square">
            <a:spAutoFit/>
          </a:bodyPr>
          <a:lstStyle/>
          <a:p>
            <a:r>
              <a:rPr lang="fr-FR" sz="3200" dirty="0"/>
              <a:t>ETAPE 2 DU PROJET</a:t>
            </a:r>
          </a:p>
          <a:p>
            <a:r>
              <a:rPr lang="fr-FR" sz="3200" dirty="0"/>
              <a:t>Conteneurisez l’application avec docker</a:t>
            </a:r>
            <a:r>
              <a:rPr lang="fr-FR" dirty="0"/>
              <a:t>  </a:t>
            </a:r>
          </a:p>
        </p:txBody>
      </p:sp>
    </p:spTree>
    <p:extLst>
      <p:ext uri="{BB962C8B-B14F-4D97-AF65-F5344CB8AC3E}">
        <p14:creationId xmlns:p14="http://schemas.microsoft.com/office/powerpoint/2010/main" val="10106553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773" y="1651379"/>
            <a:ext cx="11954869" cy="523220"/>
          </a:xfrm>
          <a:prstGeom prst="rect">
            <a:avLst/>
          </a:prstGeom>
        </p:spPr>
        <p:txBody>
          <a:bodyPr wrap="square">
            <a:spAutoFit/>
          </a:bodyPr>
          <a:lstStyle/>
          <a:p>
            <a:r>
              <a:rPr lang="fr-FR" sz="2800" dirty="0"/>
              <a:t>Installer Docker et Docker Compose sur votre machine</a:t>
            </a:r>
          </a:p>
        </p:txBody>
      </p:sp>
    </p:spTree>
    <p:extLst>
      <p:ext uri="{BB962C8B-B14F-4D97-AF65-F5344CB8AC3E}">
        <p14:creationId xmlns:p14="http://schemas.microsoft.com/office/powerpoint/2010/main" val="17277869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700" y="887105"/>
            <a:ext cx="9724126" cy="3042028"/>
          </a:xfrm>
          <a:prstGeom prst="rect">
            <a:avLst/>
          </a:prstGeom>
        </p:spPr>
      </p:pic>
    </p:spTree>
    <p:extLst>
      <p:ext uri="{BB962C8B-B14F-4D97-AF65-F5344CB8AC3E}">
        <p14:creationId xmlns:p14="http://schemas.microsoft.com/office/powerpoint/2010/main" val="11778975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43" y="1064525"/>
            <a:ext cx="8173192" cy="2750291"/>
          </a:xfrm>
          <a:prstGeom prst="rect">
            <a:avLst/>
          </a:prstGeom>
        </p:spPr>
      </p:pic>
    </p:spTree>
    <p:extLst>
      <p:ext uri="{BB962C8B-B14F-4D97-AF65-F5344CB8AC3E}">
        <p14:creationId xmlns:p14="http://schemas.microsoft.com/office/powerpoint/2010/main" val="160130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5910" y="1064525"/>
            <a:ext cx="8598090" cy="2862322"/>
          </a:xfrm>
          <a:prstGeom prst="rect">
            <a:avLst/>
          </a:prstGeom>
        </p:spPr>
        <p:txBody>
          <a:bodyPr wrap="square">
            <a:spAutoFit/>
          </a:bodyPr>
          <a:lstStyle/>
          <a:p>
            <a:r>
              <a:rPr lang="fr-FR" sz="3600" dirty="0"/>
              <a:t>Créer des volumes pour pouvoir y mettre vos données (à minima : 1 pour le CSV et 1 pour la base de données</a:t>
            </a:r>
            <a:r>
              <a:rPr lang="fr-FR" sz="3600" dirty="0" smtClean="0"/>
              <a:t>)</a:t>
            </a:r>
          </a:p>
          <a:p>
            <a:endParaRPr lang="fr-FR" sz="3600" dirty="0"/>
          </a:p>
          <a:p>
            <a:r>
              <a:rPr lang="fr-FR" sz="3600" dirty="0" smtClean="0"/>
              <a:t>Script et résultat ,slide suivant</a:t>
            </a:r>
            <a:endParaRPr lang="fr-FR" sz="3600" dirty="0"/>
          </a:p>
        </p:txBody>
      </p:sp>
    </p:spTree>
    <p:extLst>
      <p:ext uri="{BB962C8B-B14F-4D97-AF65-F5344CB8AC3E}">
        <p14:creationId xmlns:p14="http://schemas.microsoft.com/office/powerpoint/2010/main" val="8989060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79" y="175758"/>
            <a:ext cx="10517870" cy="6506483"/>
          </a:xfrm>
          <a:prstGeom prst="rect">
            <a:avLst/>
          </a:prstGeom>
        </p:spPr>
      </p:pic>
    </p:spTree>
    <p:extLst>
      <p:ext uri="{BB962C8B-B14F-4D97-AF65-F5344CB8AC3E}">
        <p14:creationId xmlns:p14="http://schemas.microsoft.com/office/powerpoint/2010/main" val="420407803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27797"/>
            <a:ext cx="12118643" cy="2062103"/>
          </a:xfrm>
          <a:prstGeom prst="rect">
            <a:avLst/>
          </a:prstGeom>
        </p:spPr>
        <p:txBody>
          <a:bodyPr wrap="square">
            <a:spAutoFit/>
          </a:bodyPr>
          <a:lstStyle/>
          <a:p>
            <a:r>
              <a:rPr lang="fr-FR" sz="3200" dirty="0" smtClean="0"/>
              <a:t>Dans le slide suivant ,les volumes</a:t>
            </a:r>
          </a:p>
          <a:p>
            <a:r>
              <a:rPr lang="fr-FR" sz="3200" dirty="0" smtClean="0"/>
              <a:t> </a:t>
            </a:r>
            <a:r>
              <a:rPr lang="fr-FR" sz="3200" dirty="0"/>
              <a:t>créés </a:t>
            </a:r>
            <a:endParaRPr lang="fr-FR" sz="3200" dirty="0" smtClean="0"/>
          </a:p>
          <a:p>
            <a:r>
              <a:rPr lang="fr-FR" sz="3200" dirty="0" smtClean="0"/>
              <a:t>par </a:t>
            </a:r>
            <a:r>
              <a:rPr lang="fr-FR" sz="3200" dirty="0"/>
              <a:t>Docker </a:t>
            </a:r>
            <a:r>
              <a:rPr lang="fr-FR" sz="3200" dirty="0" smtClean="0"/>
              <a:t>Compose</a:t>
            </a:r>
          </a:p>
          <a:p>
            <a:r>
              <a:rPr lang="fr-FR" sz="3200" dirty="0" smtClean="0"/>
              <a:t>Via </a:t>
            </a:r>
            <a:r>
              <a:rPr lang="fr-FR" sz="3200" dirty="0"/>
              <a:t>la commande </a:t>
            </a:r>
            <a:r>
              <a:rPr lang="fr-FR" sz="3200" dirty="0" smtClean="0"/>
              <a:t>: docker </a:t>
            </a:r>
            <a:r>
              <a:rPr lang="fr-FR" sz="3200" dirty="0"/>
              <a:t>volume </a:t>
            </a:r>
            <a:r>
              <a:rPr lang="fr-FR" sz="3200" dirty="0" err="1"/>
              <a:t>ls</a:t>
            </a:r>
            <a:endParaRPr lang="fr-FR" sz="3200" dirty="0"/>
          </a:p>
        </p:txBody>
      </p:sp>
    </p:spTree>
    <p:extLst>
      <p:ext uri="{BB962C8B-B14F-4D97-AF65-F5344CB8AC3E}">
        <p14:creationId xmlns:p14="http://schemas.microsoft.com/office/powerpoint/2010/main" val="11952687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55" y="723331"/>
            <a:ext cx="10110293" cy="3329644"/>
          </a:xfrm>
          <a:prstGeom prst="rect">
            <a:avLst/>
          </a:prstGeom>
        </p:spPr>
      </p:pic>
    </p:spTree>
    <p:extLst>
      <p:ext uri="{BB962C8B-B14F-4D97-AF65-F5344CB8AC3E}">
        <p14:creationId xmlns:p14="http://schemas.microsoft.com/office/powerpoint/2010/main" val="88773517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5218" y="914400"/>
            <a:ext cx="8338782" cy="1754326"/>
          </a:xfrm>
          <a:prstGeom prst="rect">
            <a:avLst/>
          </a:prstGeom>
        </p:spPr>
        <p:txBody>
          <a:bodyPr wrap="square">
            <a:spAutoFit/>
          </a:bodyPr>
          <a:lstStyle/>
          <a:p>
            <a:r>
              <a:rPr lang="fr-FR" sz="3600" dirty="0"/>
              <a:t>Définir un fichier docker-</a:t>
            </a:r>
            <a:r>
              <a:rPr lang="fr-FR" sz="3600" dirty="0" err="1"/>
              <a:t>compose.yml</a:t>
            </a:r>
            <a:r>
              <a:rPr lang="fr-FR" sz="3600" dirty="0"/>
              <a:t> qui permet de gérer vos conteneurs et vos volumes dans un seul fichier</a:t>
            </a:r>
          </a:p>
        </p:txBody>
      </p:sp>
    </p:spTree>
    <p:extLst>
      <p:ext uri="{BB962C8B-B14F-4D97-AF65-F5344CB8AC3E}">
        <p14:creationId xmlns:p14="http://schemas.microsoft.com/office/powerpoint/2010/main" val="191866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12" y="223390"/>
            <a:ext cx="10436626" cy="6411220"/>
          </a:xfrm>
          <a:prstGeom prst="rect">
            <a:avLst/>
          </a:prstGeom>
        </p:spPr>
      </p:pic>
    </p:spTree>
    <p:extLst>
      <p:ext uri="{BB962C8B-B14F-4D97-AF65-F5344CB8AC3E}">
        <p14:creationId xmlns:p14="http://schemas.microsoft.com/office/powerpoint/2010/main" val="21922934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660" y="118600"/>
            <a:ext cx="10356294" cy="6620799"/>
          </a:xfrm>
          <a:prstGeom prst="rect">
            <a:avLst/>
          </a:prstGeom>
        </p:spPr>
      </p:pic>
    </p:spTree>
    <p:extLst>
      <p:ext uri="{BB962C8B-B14F-4D97-AF65-F5344CB8AC3E}">
        <p14:creationId xmlns:p14="http://schemas.microsoft.com/office/powerpoint/2010/main" val="418312266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5910" y="1187356"/>
            <a:ext cx="10606923" cy="1754326"/>
          </a:xfrm>
          <a:prstGeom prst="rect">
            <a:avLst/>
          </a:prstGeom>
        </p:spPr>
        <p:txBody>
          <a:bodyPr wrap="square">
            <a:spAutoFit/>
          </a:bodyPr>
          <a:lstStyle/>
          <a:p>
            <a:r>
              <a:rPr lang="fr-FR" sz="3600" dirty="0" smtClean="0"/>
              <a:t>Le slide suivant montre le contenu du fichier docker-compose</a:t>
            </a:r>
          </a:p>
          <a:p>
            <a:r>
              <a:rPr lang="fr-FR" sz="3600" dirty="0" smtClean="0"/>
              <a:t>Via </a:t>
            </a:r>
            <a:r>
              <a:rPr lang="fr-FR" sz="3600" dirty="0"/>
              <a:t>la </a:t>
            </a:r>
            <a:r>
              <a:rPr lang="fr-FR" sz="3600" dirty="0" smtClean="0"/>
              <a:t>commande: </a:t>
            </a:r>
            <a:r>
              <a:rPr lang="fr-FR" sz="3600" dirty="0"/>
              <a:t>cat docker-</a:t>
            </a:r>
            <a:r>
              <a:rPr lang="fr-FR" sz="3600" dirty="0" err="1"/>
              <a:t>compose.yml</a:t>
            </a:r>
            <a:endParaRPr lang="fr-FR" sz="3600" dirty="0"/>
          </a:p>
        </p:txBody>
      </p:sp>
    </p:spTree>
    <p:extLst>
      <p:ext uri="{BB962C8B-B14F-4D97-AF65-F5344CB8AC3E}">
        <p14:creationId xmlns:p14="http://schemas.microsoft.com/office/powerpoint/2010/main" val="37082226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17" y="80495"/>
            <a:ext cx="9787552" cy="6697010"/>
          </a:xfrm>
          <a:prstGeom prst="rect">
            <a:avLst/>
          </a:prstGeom>
        </p:spPr>
      </p:pic>
    </p:spTree>
    <p:extLst>
      <p:ext uri="{BB962C8B-B14F-4D97-AF65-F5344CB8AC3E}">
        <p14:creationId xmlns:p14="http://schemas.microsoft.com/office/powerpoint/2010/main" val="186752820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3223" y="1058092"/>
            <a:ext cx="7850777" cy="2585323"/>
          </a:xfrm>
          <a:prstGeom prst="rect">
            <a:avLst/>
          </a:prstGeom>
        </p:spPr>
        <p:txBody>
          <a:bodyPr wrap="square">
            <a:spAutoFit/>
          </a:bodyPr>
          <a:lstStyle/>
          <a:p>
            <a:r>
              <a:rPr lang="fr-FR" dirty="0"/>
              <a:t>Décris bien le système d’authentification ainsi que les rôles utilisateurs que tu créeras</a:t>
            </a:r>
            <a:r>
              <a:rPr lang="fr-FR" dirty="0" smtClean="0"/>
              <a:t>.</a:t>
            </a:r>
          </a:p>
          <a:p>
            <a:endParaRPr lang="fr-FR" dirty="0"/>
          </a:p>
          <a:p>
            <a:endParaRPr lang="fr-FR" dirty="0" smtClean="0"/>
          </a:p>
          <a:p>
            <a:endParaRPr lang="fr-FR" dirty="0"/>
          </a:p>
          <a:p>
            <a:endParaRPr lang="fr-FR" dirty="0" smtClean="0"/>
          </a:p>
          <a:p>
            <a:endParaRPr lang="fr-FR" dirty="0"/>
          </a:p>
          <a:p>
            <a:r>
              <a:rPr lang="fr-FR" dirty="0" smtClean="0"/>
              <a:t>Voici le script d’authentification présent dans le </a:t>
            </a:r>
            <a:r>
              <a:rPr lang="fr-FR" dirty="0" err="1" smtClean="0"/>
              <a:t>github</a:t>
            </a:r>
            <a:r>
              <a:rPr lang="fr-FR" dirty="0" smtClean="0"/>
              <a:t> : </a:t>
            </a:r>
            <a:r>
              <a:rPr lang="fr-FR" dirty="0">
                <a:hlinkClick r:id="rId2" tooltip="auth_script.py"/>
              </a:rPr>
              <a:t>auth_script.py</a:t>
            </a:r>
            <a:endParaRPr lang="fr-FR" dirty="0"/>
          </a:p>
          <a:p>
            <a:r>
              <a:rPr lang="fr-FR" dirty="0"/>
              <a:t> </a:t>
            </a:r>
          </a:p>
        </p:txBody>
      </p:sp>
    </p:spTree>
    <p:extLst>
      <p:ext uri="{BB962C8B-B14F-4D97-AF65-F5344CB8AC3E}">
        <p14:creationId xmlns:p14="http://schemas.microsoft.com/office/powerpoint/2010/main" val="5334040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5078313"/>
          </a:xfrm>
          <a:prstGeom prst="rect">
            <a:avLst/>
          </a:prstGeom>
        </p:spPr>
        <p:txBody>
          <a:bodyPr wrap="square">
            <a:spAutoFit/>
          </a:bodyPr>
          <a:lstStyle/>
          <a:p>
            <a:r>
              <a:rPr lang="fr-FR" dirty="0"/>
              <a:t>1. Rôles utilisateurs</a:t>
            </a:r>
          </a:p>
          <a:p>
            <a:endParaRPr lang="fr-FR" dirty="0"/>
          </a:p>
          <a:p>
            <a:r>
              <a:rPr lang="fr-FR" dirty="0"/>
              <a:t>Les rôles permettent de définir ce que chaque utilisateur peut faire. Pour votre projet, on pourrait imaginer trois rôles principaux :</a:t>
            </a:r>
          </a:p>
          <a:p>
            <a:endParaRPr lang="fr-FR" dirty="0"/>
          </a:p>
          <a:p>
            <a:r>
              <a:rPr lang="fr-FR" dirty="0"/>
              <a:t>    Rôle d'administrateur : L'administrateur a un accès complet au système. Il peut démarrer et arrêter les migrations, modifier la configuration de la base de données (adresses, ports, etc.), et gérer les comptes des autres utilisateurs (ajouter de nouveaux utilisateurs, leur attribuer des rôles).</a:t>
            </a:r>
          </a:p>
          <a:p>
            <a:endParaRPr lang="fr-FR" dirty="0"/>
          </a:p>
          <a:p>
            <a:r>
              <a:rPr lang="fr-FR" dirty="0"/>
              <a:t>    Rôle d'opérateur : L'opérateur peut exécuter des migrations, consulter l'historique des migrations, et vérifier l'intégrité des données après l'exécution. Il n'a pas les droits pour modifier la configuration ou gérer les utilisateurs.</a:t>
            </a:r>
          </a:p>
          <a:p>
            <a:endParaRPr lang="fr-FR" dirty="0"/>
          </a:p>
          <a:p>
            <a:r>
              <a:rPr lang="fr-FR" dirty="0"/>
              <a:t>    Rôle de spectateur : Le spectateur a un accès en lecture seule. Il peut uniquement consulter l'historique des migrations et les rapports de vérification des données. Ce rôle serait utile pour des membres de l'équipe qui n'ont pas besoin d'exécuter des opérations, mais doivent suivre la progression.</a:t>
            </a:r>
          </a:p>
        </p:txBody>
      </p:sp>
    </p:spTree>
    <p:extLst>
      <p:ext uri="{BB962C8B-B14F-4D97-AF65-F5344CB8AC3E}">
        <p14:creationId xmlns:p14="http://schemas.microsoft.com/office/powerpoint/2010/main" val="225089469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503" y="130630"/>
            <a:ext cx="9039497" cy="3416320"/>
          </a:xfrm>
          <a:prstGeom prst="rect">
            <a:avLst/>
          </a:prstGeom>
        </p:spPr>
        <p:txBody>
          <a:bodyPr wrap="square">
            <a:spAutoFit/>
          </a:bodyPr>
          <a:lstStyle/>
          <a:p>
            <a:r>
              <a:rPr lang="fr-FR" dirty="0"/>
              <a:t>2. Flux d'authentification</a:t>
            </a:r>
          </a:p>
          <a:p>
            <a:endParaRPr lang="fr-FR" dirty="0"/>
          </a:p>
          <a:p>
            <a:r>
              <a:rPr lang="fr-FR" dirty="0"/>
              <a:t>Un système d'authentification serait mis en place pour vérifier l'identité de chaque utilisateur et lui attribuer son rôle.</a:t>
            </a:r>
          </a:p>
          <a:p>
            <a:endParaRPr lang="fr-FR" dirty="0"/>
          </a:p>
          <a:p>
            <a:r>
              <a:rPr lang="fr-FR" dirty="0"/>
              <a:t>    Connexion : L'utilisateur se connecte avec un nom d'utilisateur et un mot de passe.</a:t>
            </a:r>
          </a:p>
          <a:p>
            <a:endParaRPr lang="fr-FR" dirty="0"/>
          </a:p>
          <a:p>
            <a:r>
              <a:rPr lang="fr-FR" dirty="0"/>
              <a:t>    Vérification : Le système vérifie les identifiants dans une base de données d'utilisateurs.</a:t>
            </a:r>
          </a:p>
          <a:p>
            <a:endParaRPr lang="fr-FR" dirty="0"/>
          </a:p>
          <a:p>
            <a:r>
              <a:rPr lang="fr-FR" dirty="0"/>
              <a:t>    Attribution des permissions : Une fois authentifié, le système récupère le rôle de l'utilisateur et lui attribue les permissions correspondantes.</a:t>
            </a:r>
          </a:p>
        </p:txBody>
      </p:sp>
    </p:spTree>
    <p:extLst>
      <p:ext uri="{BB962C8B-B14F-4D97-AF65-F5344CB8AC3E}">
        <p14:creationId xmlns:p14="http://schemas.microsoft.com/office/powerpoint/2010/main" val="3300826433"/>
      </p:ext>
    </p:extLst>
  </p:cSld>
  <p:clrMapOvr>
    <a:masterClrMapping/>
  </p:clrMapOvr>
</p:sld>
</file>

<file path=ppt/theme/theme1.xml><?xml version="1.0" encoding="utf-8"?>
<a:theme xmlns:a="http://schemas.openxmlformats.org/drawingml/2006/main" name="Facette">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20178</TotalTime>
  <Words>3975</Words>
  <Application>Microsoft Office PowerPoint</Application>
  <PresentationFormat>Grand écran</PresentationFormat>
  <Paragraphs>508</Paragraphs>
  <Slides>114</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114</vt:i4>
      </vt:variant>
    </vt:vector>
  </HeadingPairs>
  <TitlesOfParts>
    <vt:vector size="123" baseType="lpstr">
      <vt:lpstr>Arial</vt:lpstr>
      <vt:lpstr>Calibri</vt:lpstr>
      <vt:lpstr>Calibri Light</vt:lpstr>
      <vt:lpstr>Courier New</vt:lpstr>
      <vt:lpstr>Symbol</vt:lpstr>
      <vt:lpstr>Times New Roman</vt:lpstr>
      <vt:lpstr>Trebuchet MS</vt:lpstr>
      <vt:lpstr>Wingdings 3</vt:lpstr>
      <vt:lpstr>Facette</vt:lpstr>
      <vt:lpstr>Migrez des données médicales à l'aide du NoSQL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User</cp:lastModifiedBy>
  <cp:revision>94</cp:revision>
  <dcterms:created xsi:type="dcterms:W3CDTF">2025-08-18T08:17:15Z</dcterms:created>
  <dcterms:modified xsi:type="dcterms:W3CDTF">2025-11-05T21:52:13Z</dcterms:modified>
</cp:coreProperties>
</file>